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theme" Target="../theme/theme1.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8/11/2026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2.xml" /><Relationship Id="rId4" Type="http://schemas.openxmlformats.org/officeDocument/2006/relationships/image" Target="../media/image4.png" /></Relationships>
</file>

<file path=ppt/slides/_rels/slide9.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2.xml" /><Relationship Id="rId6" Type="http://schemas.openxmlformats.org/officeDocument/2006/relationships/image" Target="../media/image9.png" /><Relationship Id="rId5" Type="http://schemas.openxmlformats.org/officeDocument/2006/relationships/image" Target="../media/image8.png" /><Relationship Id="rId4" Type="http://schemas.openxmlformats.org/officeDocument/2006/relationships/image" Target="../media/image7.pn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Times New Roman" panose="02020603050405020304" pitchFamily="18" charset="0"/>
                <a:cs typeface="Times New Roman" panose="02020603050405020304" pitchFamily="18" charset="0"/>
              </a:rPr>
              <a:t>HYDRAULIC SOFT ACTUATOR</a:t>
            </a:r>
            <a:endParaRPr lang="en-IN"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 Under guidance of Sc. </a:t>
            </a:r>
            <a:r>
              <a:rPr lang="en-US" dirty="0" err="1">
                <a:latin typeface="Times New Roman" panose="02020603050405020304" pitchFamily="18" charset="0"/>
                <a:cs typeface="Times New Roman" panose="02020603050405020304" pitchFamily="18" charset="0"/>
              </a:rPr>
              <a:t>Shivdas</a:t>
            </a:r>
            <a:r>
              <a:rPr lang="en-US" dirty="0">
                <a:latin typeface="Times New Roman" panose="02020603050405020304" pitchFamily="18" charset="0"/>
                <a:cs typeface="Times New Roman" panose="02020603050405020304" pitchFamily="18" charset="0"/>
              </a:rPr>
              <a:t> Prasad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70578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6962" y="632422"/>
            <a:ext cx="8911687" cy="1280890"/>
          </a:xfrm>
        </p:spPr>
        <p:txBody>
          <a:bodyPr/>
          <a:lstStyle/>
          <a:p>
            <a:r>
              <a:rPr lang="en-US"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76547" y="1543395"/>
            <a:ext cx="9028098" cy="5016025"/>
          </a:xfrm>
        </p:spPr>
        <p:txBody>
          <a:bodyPr>
            <a:normAutofit/>
          </a:bodyPr>
          <a:lstStyle/>
          <a:p>
            <a:pPr algn="just"/>
            <a:r>
              <a:rPr lang="en-US" sz="1600" dirty="0">
                <a:latin typeface="Times New Roman" panose="02020603050405020304" pitchFamily="18" charset="0"/>
                <a:cs typeface="Times New Roman" panose="02020603050405020304" pitchFamily="18" charset="0"/>
              </a:rPr>
              <a:t>Soft robotics has become an important area of robotics because compliant structures can deform continuously, adapt to irregular surfaces, and distribute contact forces during interaction. These properties are especially useful for handling delicate objects, operating in uncertain environments, and interacting safely with the human body, where compliance is a basic design requirement rather than an added feature.</a:t>
            </a:r>
          </a:p>
          <a:p>
            <a:pPr algn="just"/>
            <a:r>
              <a:rPr lang="en-US" sz="1600" dirty="0">
                <a:latin typeface="Times New Roman" panose="02020603050405020304" pitchFamily="18" charset="0"/>
                <a:cs typeface="Times New Roman" panose="02020603050405020304" pitchFamily="18" charset="0"/>
              </a:rPr>
              <a:t>In these systems, the actuator is central to performance because it not only produces motion but also influences the load path, deformation mode, stiffness distribution, and contact behavior of the robot.</a:t>
            </a:r>
          </a:p>
          <a:p>
            <a:pPr algn="just"/>
            <a:r>
              <a:rPr lang="en-US" sz="1600" dirty="0">
                <a:latin typeface="Times New Roman" panose="02020603050405020304" pitchFamily="18" charset="0"/>
                <a:cs typeface="Times New Roman" panose="02020603050405020304" pitchFamily="18" charset="0"/>
              </a:rPr>
              <a:t>First we discuss about Pneumatic Soft Actuator (PAM), like PAM is a soft actuator which has great potential in the field of bio-inspired robotics.</a:t>
            </a:r>
          </a:p>
          <a:p>
            <a:pPr algn="just"/>
            <a:r>
              <a:rPr lang="en-US" sz="1600" dirty="0">
                <a:latin typeface="Times New Roman" panose="02020603050405020304" pitchFamily="18" charset="0"/>
                <a:cs typeface="Times New Roman" panose="02020603050405020304" pitchFamily="18" charset="0"/>
              </a:rPr>
              <a:t>But PAM have lots of limitations such less loading capacity, losses, leakages, etc.</a:t>
            </a:r>
          </a:p>
          <a:p>
            <a:pPr algn="just"/>
            <a:r>
              <a:rPr lang="en-US" sz="1600" dirty="0">
                <a:latin typeface="Times New Roman" panose="02020603050405020304" pitchFamily="18" charset="0"/>
                <a:cs typeface="Times New Roman" panose="02020603050405020304" pitchFamily="18" charset="0"/>
              </a:rPr>
              <a:t>So for that we are going to discussed about Designing and Modeling of Hydraulic Soft Actuator.</a:t>
            </a:r>
          </a:p>
          <a:p>
            <a:pPr algn="just"/>
            <a:r>
              <a:rPr lang="en-US" sz="1600" dirty="0">
                <a:latin typeface="Times New Roman" panose="02020603050405020304" pitchFamily="18" charset="0"/>
                <a:cs typeface="Times New Roman" panose="02020603050405020304" pitchFamily="18" charset="0"/>
              </a:rPr>
              <a:t>And we have to design for 5kg of lift.</a:t>
            </a:r>
          </a:p>
        </p:txBody>
      </p:sp>
    </p:spTree>
    <p:extLst>
      <p:ext uri="{BB962C8B-B14F-4D97-AF65-F5344CB8AC3E}">
        <p14:creationId xmlns:p14="http://schemas.microsoft.com/office/powerpoint/2010/main" val="1601548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124" y="689428"/>
            <a:ext cx="8911687" cy="623082"/>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438384" y="1386366"/>
            <a:ext cx="8814334" cy="1300850"/>
          </a:xfrm>
        </p:spPr>
        <p:txBody>
          <a:bodyPr/>
          <a:lstStyle/>
          <a:p>
            <a:pPr algn="just"/>
            <a:r>
              <a:rPr lang="en-US" sz="1600" dirty="0">
                <a:latin typeface="Times New Roman" panose="02020603050405020304" pitchFamily="18" charset="0"/>
                <a:cs typeface="Times New Roman" panose="02020603050405020304" pitchFamily="18" charset="0"/>
              </a:rPr>
              <a:t>To design and develop a single-degree-of-freedom robotic elbow joint using a hydraulic McKibben muscle actuator in an antagonistic biceps-triceps configuration, capable of lifting a minimum 5 kg load while providing the required joint torque, motion, and structural safety.</a:t>
            </a:r>
          </a:p>
        </p:txBody>
      </p:sp>
      <p:sp>
        <p:nvSpPr>
          <p:cNvPr id="4" name="Title 1">
            <a:extLst>
              <a:ext uri="{FF2B5EF4-FFF2-40B4-BE49-F238E27FC236}">
                <a16:creationId xmlns:a16="http://schemas.microsoft.com/office/drawing/2014/main" id="{41CFEC92-EEB1-CB3B-B8D5-3567E0A526AF}"/>
              </a:ext>
            </a:extLst>
          </p:cNvPr>
          <p:cNvSpPr txBox="1">
            <a:spLocks/>
          </p:cNvSpPr>
          <p:nvPr/>
        </p:nvSpPr>
        <p:spPr>
          <a:xfrm>
            <a:off x="1752124" y="2375675"/>
            <a:ext cx="2126295" cy="62308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dirty="0">
                <a:latin typeface="Times New Roman" panose="02020603050405020304" pitchFamily="18" charset="0"/>
                <a:cs typeface="Times New Roman" panose="02020603050405020304" pitchFamily="18" charset="0"/>
              </a:rPr>
              <a:t>Objective:</a:t>
            </a:r>
            <a:endParaRPr lang="en-IN" sz="32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3D7FDE61-FB3C-0298-EDF8-A52535F19A7C}"/>
              </a:ext>
            </a:extLst>
          </p:cNvPr>
          <p:cNvSpPr txBox="1">
            <a:spLocks/>
          </p:cNvSpPr>
          <p:nvPr/>
        </p:nvSpPr>
        <p:spPr>
          <a:xfrm>
            <a:off x="2387044" y="2927197"/>
            <a:ext cx="4047963" cy="259003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study the working principle and characteristics of hydraulic McKibben muscle actuators for robotic applications.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 single-DOF robotic elbow joint using a biceps-triceps type McKibben actuator arrangement for a minimum 5 kg load. </a:t>
            </a:r>
          </a:p>
          <a:p>
            <a:pPr marR="0" lvl="0" algn="just"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analyze the required joint torque, actuator force, pressure, and braided sheath parameters. </a:t>
            </a:r>
          </a:p>
        </p:txBody>
      </p:sp>
    </p:spTree>
    <p:extLst>
      <p:ext uri="{BB962C8B-B14F-4D97-AF65-F5344CB8AC3E}">
        <p14:creationId xmlns:p14="http://schemas.microsoft.com/office/powerpoint/2010/main" val="1083796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3CA829-8474-3BAA-B992-41D05D3FB742}"/>
              </a:ext>
            </a:extLst>
          </p:cNvPr>
          <p:cNvSpPr>
            <a:spLocks noGrp="1"/>
          </p:cNvSpPr>
          <p:nvPr>
            <p:ph idx="1"/>
          </p:nvPr>
        </p:nvSpPr>
        <p:spPr>
          <a:xfrm>
            <a:off x="2626534" y="1433804"/>
            <a:ext cx="8990077" cy="4267200"/>
          </a:xfrm>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Previous studies on McKibben artificial muscles have mainly focused on understanding their working principle, mathematical modeling, and the influence of braid geometry on actuator performance. Analytical and experimental studies have established relationships between internal pressure, braid angle, contraction, actuator dimensions, and generated force. The literature also shows that the braided sheath plays a major role in converting radial expansion of the bladder into axial contraction. Finite Element Analysis has therefore been widely used to study deformation, stress distribution, and the effect of braid angle before fabrication. </a:t>
            </a:r>
          </a:p>
          <a:p>
            <a:pPr algn="just"/>
            <a:r>
              <a:rPr lang="en-US" dirty="0">
                <a:latin typeface="Times New Roman" panose="02020603050405020304" pitchFamily="18" charset="0"/>
                <a:cs typeface="Times New Roman" panose="02020603050405020304" pitchFamily="18" charset="0"/>
              </a:rPr>
              <a:t>Further studies have focused on improving the design and functionality of McKibben actuators. FEM-based investigations have been used for design optimization, while analytical models have been developed for predicting force and pressure-contraction behavior. Researchers have also investigated multifunctional braided muscles capable of bidirectional motion and variable stiffness. These studies demonstrate that actuator geometry, braid configuration, and material properties strongly influence the final performance of the muscle.</a:t>
            </a:r>
          </a:p>
        </p:txBody>
      </p:sp>
    </p:spTree>
    <p:extLst>
      <p:ext uri="{BB962C8B-B14F-4D97-AF65-F5344CB8AC3E}">
        <p14:creationId xmlns:p14="http://schemas.microsoft.com/office/powerpoint/2010/main" val="30280653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B534A-ED3F-CB0D-6BDD-C0DE08BD8DCC}"/>
              </a:ext>
            </a:extLst>
          </p:cNvPr>
          <p:cNvSpPr>
            <a:spLocks noGrp="1"/>
          </p:cNvSpPr>
          <p:nvPr>
            <p:ph type="title"/>
          </p:nvPr>
        </p:nvSpPr>
        <p:spPr>
          <a:xfrm>
            <a:off x="1725170" y="624110"/>
            <a:ext cx="8911687" cy="719498"/>
          </a:xfrm>
        </p:spPr>
        <p:txBody>
          <a:bodyPr/>
          <a:lstStyle/>
          <a:p>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3CA829-8474-3BAA-B992-41D05D3FB742}"/>
              </a:ext>
            </a:extLst>
          </p:cNvPr>
          <p:cNvSpPr>
            <a:spLocks noGrp="1"/>
          </p:cNvSpPr>
          <p:nvPr>
            <p:ph idx="1"/>
          </p:nvPr>
        </p:nvSpPr>
        <p:spPr>
          <a:xfrm>
            <a:off x="2626534" y="1433804"/>
            <a:ext cx="8990077" cy="4267200"/>
          </a:xfrm>
        </p:spPr>
        <p:txBody>
          <a:bodyPr>
            <a:normAutofit/>
          </a:bodyPr>
          <a:lstStyle/>
          <a:p>
            <a:pPr algn="just"/>
            <a:r>
              <a:rPr lang="en-US" dirty="0">
                <a:latin typeface="Times New Roman" panose="02020603050405020304" pitchFamily="18" charset="0"/>
                <a:cs typeface="Times New Roman" panose="02020603050405020304" pitchFamily="18" charset="0"/>
              </a:rPr>
              <a:t>For high-force applications, hydraulic actuation has also been investigated as an alternative to conventional pneumatic McKibben muscles. The hydraulic McKibben study by Iwata et al. demonstrated operation at pressures up to 7 MPa and investigated the design and fabrication of the braided muscle using FEM-based sleeve optimization. The reviewed hydraulic soft-actuator literature further identifies high force capability as an important advantage, while also highlighting challenges such as nonlinear deformation, hysteresis, leakage, and the need for systematic design methods.</a:t>
            </a:r>
          </a:p>
          <a:p>
            <a:pPr algn="just"/>
            <a:r>
              <a:rPr lang="en-US" dirty="0">
                <a:latin typeface="Times New Roman" panose="02020603050405020304" pitchFamily="18" charset="0"/>
                <a:cs typeface="Times New Roman" panose="02020603050405020304" pitchFamily="18" charset="0"/>
              </a:rPr>
              <a:t>Research Gap: Based on the reviewed literature, the present work focuses on applying a hydraulic McKibben muscle in a single-DOF robotic elbow joint using a biceps-triceps type arrangement, designed to lift a minimum 5 kg load. There is practical validation can also be done.</a:t>
            </a:r>
          </a:p>
        </p:txBody>
      </p:sp>
    </p:spTree>
    <p:extLst>
      <p:ext uri="{BB962C8B-B14F-4D97-AF65-F5344CB8AC3E}">
        <p14:creationId xmlns:p14="http://schemas.microsoft.com/office/powerpoint/2010/main" val="3882492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1280890"/>
          </a:xfrm>
        </p:spPr>
        <p:txBody>
          <a:bodyPr/>
          <a:lstStyle/>
          <a:p>
            <a:r>
              <a:rPr lang="en-US" dirty="0"/>
              <a:t>Derivation For Pressure and Force Relation:</a:t>
            </a:r>
            <a:endParaRPr lang="en-IN" dirty="0"/>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454147" y="1461795"/>
            <a:ext cx="4867954" cy="4435151"/>
          </a:xfrm>
        </p:spPr>
        <p:txBody>
          <a:bodyPr/>
          <a:lstStyle/>
          <a:p>
            <a:pPr algn="just"/>
            <a:r>
              <a:rPr lang="en-US" sz="1600" dirty="0">
                <a:latin typeface="Times New Roman" panose="02020603050405020304" pitchFamily="18" charset="0"/>
                <a:cs typeface="Times New Roman" panose="02020603050405020304" pitchFamily="18" charset="0"/>
              </a:rPr>
              <a:t>In a first approach toward the model of a McKibben type PAM, losses are not considered and thus, the gas enters the PAM and expands, generating a traction force and a work. To generate the volume increase, the gas performs a work input (Win) that can be described.</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dW</a:t>
            </a:r>
            <a:r>
              <a:rPr lang="it-IT" sz="1000" dirty="0">
                <a:latin typeface="Times New Roman" panose="02020603050405020304" pitchFamily="18" charset="0"/>
                <a:cs typeface="Times New Roman" panose="02020603050405020304" pitchFamily="18" charset="0"/>
              </a:rPr>
              <a:t>in</a:t>
            </a:r>
            <a:r>
              <a:rPr lang="it-IT" sz="1800" dirty="0">
                <a:latin typeface="Times New Roman" panose="02020603050405020304" pitchFamily="18" charset="0"/>
                <a:cs typeface="Times New Roman" panose="02020603050405020304" pitchFamily="18" charset="0"/>
              </a:rPr>
              <a:t> = ∫(P − P</a:t>
            </a:r>
            <a:r>
              <a:rPr lang="it-IT" sz="1000" dirty="0">
                <a:latin typeface="Times New Roman" panose="02020603050405020304" pitchFamily="18" charset="0"/>
                <a:cs typeface="Times New Roman" panose="02020603050405020304" pitchFamily="18" charset="0"/>
              </a:rPr>
              <a:t>ex</a:t>
            </a:r>
            <a:r>
              <a:rPr lang="it-IT" sz="1800" dirty="0">
                <a:latin typeface="Times New Roman" panose="02020603050405020304" pitchFamily="18" charset="0"/>
                <a:cs typeface="Times New Roman" panose="02020603050405020304" pitchFamily="18" charset="0"/>
              </a:rPr>
              <a:t> )dl</a:t>
            </a:r>
            <a:r>
              <a:rPr lang="it-IT" sz="1000" dirty="0">
                <a:latin typeface="Times New Roman" panose="02020603050405020304" pitchFamily="18" charset="0"/>
                <a:cs typeface="Times New Roman" panose="02020603050405020304" pitchFamily="18" charset="0"/>
              </a:rPr>
              <a:t>i</a:t>
            </a:r>
            <a:r>
              <a:rPr lang="it-IT" sz="1800" dirty="0">
                <a:latin typeface="Times New Roman" panose="02020603050405020304" pitchFamily="18" charset="0"/>
                <a:cs typeface="Times New Roman" panose="02020603050405020304" pitchFamily="18" charset="0"/>
              </a:rPr>
              <a:t>.dS</a:t>
            </a:r>
            <a:r>
              <a:rPr lang="it-IT" sz="1000" dirty="0">
                <a:latin typeface="Times New Roman" panose="02020603050405020304" pitchFamily="18" charset="0"/>
                <a:cs typeface="Times New Roman" panose="02020603050405020304" pitchFamily="18" charset="0"/>
              </a:rPr>
              <a:t>i</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	  = (P − P</a:t>
            </a:r>
            <a:r>
              <a:rPr lang="it-IT" sz="1000" dirty="0">
                <a:latin typeface="Times New Roman" panose="02020603050405020304" pitchFamily="18" charset="0"/>
                <a:cs typeface="Times New Roman" panose="02020603050405020304" pitchFamily="18" charset="0"/>
              </a:rPr>
              <a:t>ex</a:t>
            </a:r>
            <a:r>
              <a:rPr lang="it-IT" sz="1800" dirty="0">
                <a:latin typeface="Times New Roman" panose="02020603050405020304" pitchFamily="18" charset="0"/>
                <a:cs typeface="Times New Roman" panose="02020603050405020304" pitchFamily="18" charset="0"/>
              </a:rPr>
              <a:t>) ∫dl</a:t>
            </a:r>
            <a:r>
              <a:rPr lang="it-IT" sz="1000" dirty="0">
                <a:latin typeface="Times New Roman" panose="02020603050405020304" pitchFamily="18" charset="0"/>
                <a:cs typeface="Times New Roman" panose="02020603050405020304" pitchFamily="18" charset="0"/>
              </a:rPr>
              <a:t>i</a:t>
            </a:r>
            <a:r>
              <a:rPr lang="it-IT" sz="1800" dirty="0">
                <a:latin typeface="Times New Roman" panose="02020603050405020304" pitchFamily="18" charset="0"/>
                <a:cs typeface="Times New Roman" panose="02020603050405020304" pitchFamily="18" charset="0"/>
              </a:rPr>
              <a:t>.dS</a:t>
            </a:r>
            <a:r>
              <a:rPr lang="it-IT" sz="1000" dirty="0">
                <a:latin typeface="Times New Roman" panose="02020603050405020304" pitchFamily="18" charset="0"/>
                <a:cs typeface="Times New Roman" panose="02020603050405020304" pitchFamily="18" charset="0"/>
              </a:rPr>
              <a:t>i</a:t>
            </a:r>
          </a:p>
          <a:p>
            <a:pPr marL="800100" lvl="2" indent="0">
              <a:spcBef>
                <a:spcPts val="600"/>
              </a:spcBef>
              <a:buNone/>
            </a:pPr>
            <a:r>
              <a:rPr lang="it-IT" sz="1800" dirty="0">
                <a:latin typeface="Times New Roman" panose="02020603050405020304" pitchFamily="18" charset="0"/>
                <a:cs typeface="Times New Roman" panose="02020603050405020304" pitchFamily="18" charset="0"/>
              </a:rPr>
              <a:t>dW</a:t>
            </a:r>
            <a:r>
              <a:rPr lang="it-IT" sz="1000" dirty="0">
                <a:latin typeface="Times New Roman" panose="02020603050405020304" pitchFamily="18" charset="0"/>
                <a:cs typeface="Times New Roman" panose="02020603050405020304" pitchFamily="18" charset="0"/>
              </a:rPr>
              <a:t>in</a:t>
            </a:r>
            <a:r>
              <a:rPr lang="it-IT" sz="1800" dirty="0">
                <a:latin typeface="Times New Roman" panose="02020603050405020304" pitchFamily="18" charset="0"/>
                <a:cs typeface="Times New Roman" panose="02020603050405020304" pitchFamily="18" charset="0"/>
              </a:rPr>
              <a:t> = P’dV</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Where, Pex = External Force,</a:t>
            </a:r>
          </a:p>
          <a:p>
            <a:pPr marL="1257300" lvl="3" indent="0">
              <a:spcBef>
                <a:spcPts val="600"/>
              </a:spcBef>
              <a:buNone/>
            </a:pPr>
            <a:r>
              <a:rPr lang="it-IT" sz="1600" dirty="0">
                <a:latin typeface="Times New Roman" panose="02020603050405020304" pitchFamily="18" charset="0"/>
                <a:cs typeface="Times New Roman" panose="02020603050405020304" pitchFamily="18" charset="0"/>
              </a:rPr>
              <a:t>P  = Absolute Pressure</a:t>
            </a:r>
          </a:p>
          <a:p>
            <a:pPr marL="1257300" lvl="3" indent="0">
              <a:spcBef>
                <a:spcPts val="600"/>
              </a:spcBef>
              <a:buNone/>
            </a:pPr>
            <a:r>
              <a:rPr lang="it-IT" sz="1600" dirty="0">
                <a:latin typeface="Times New Roman" panose="02020603050405020304" pitchFamily="18" charset="0"/>
                <a:cs typeface="Times New Roman" panose="02020603050405020304" pitchFamily="18" charset="0"/>
              </a:rPr>
              <a:t>P’ = Relative Pressure</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B96A2CF-ABC7-FE87-AD0E-A0AC0718E268}"/>
              </a:ext>
            </a:extLst>
          </p:cNvPr>
          <p:cNvPicPr>
            <a:picLocks noChangeAspect="1"/>
          </p:cNvPicPr>
          <p:nvPr/>
        </p:nvPicPr>
        <p:blipFill>
          <a:blip r:embed="rId2"/>
          <a:stretch>
            <a:fillRect/>
          </a:stretch>
        </p:blipFill>
        <p:spPr>
          <a:xfrm>
            <a:off x="1340531" y="1886338"/>
            <a:ext cx="4867954" cy="3810532"/>
          </a:xfrm>
          <a:prstGeom prst="rect">
            <a:avLst/>
          </a:prstGeom>
        </p:spPr>
      </p:pic>
    </p:spTree>
    <p:extLst>
      <p:ext uri="{BB962C8B-B14F-4D97-AF65-F5344CB8AC3E}">
        <p14:creationId xmlns:p14="http://schemas.microsoft.com/office/powerpoint/2010/main" val="903409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2846"/>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2056837" y="1480457"/>
            <a:ext cx="7656329" cy="4435151"/>
          </a:xfrm>
        </p:spPr>
        <p:txBody>
          <a:bodyPr>
            <a:normAutofit/>
          </a:bodyPr>
          <a:lstStyle/>
          <a:p>
            <a:pPr algn="just"/>
            <a:r>
              <a:rPr lang="en-US" sz="1600" dirty="0">
                <a:latin typeface="Times New Roman" panose="02020603050405020304" pitchFamily="18" charset="0"/>
                <a:cs typeface="Times New Roman" panose="02020603050405020304" pitchFamily="18" charset="0"/>
              </a:rPr>
              <a:t>As the pressure performs work by volume expansion and it is assumed that the system has no loss, all the work is converted into traction and can be expressed by </a:t>
            </a:r>
            <a:r>
              <a:rPr lang="en-US" sz="1600" dirty="0" err="1">
                <a:latin typeface="Times New Roman" panose="02020603050405020304" pitchFamily="18" charset="0"/>
                <a:cs typeface="Times New Roman" panose="02020603050405020304" pitchFamily="18" charset="0"/>
              </a:rPr>
              <a:t>W</a:t>
            </a:r>
            <a:r>
              <a:rPr lang="en-US" sz="1200" dirty="0" err="1">
                <a:latin typeface="Times New Roman" panose="02020603050405020304" pitchFamily="18" charset="0"/>
                <a:cs typeface="Times New Roman" panose="02020603050405020304" pitchFamily="18" charset="0"/>
              </a:rPr>
              <a:t>out</a:t>
            </a:r>
            <a:r>
              <a:rPr lang="en-US" sz="1600" dirty="0">
                <a:latin typeface="Times New Roman" panose="02020603050405020304" pitchFamily="18" charset="0"/>
                <a:cs typeface="Times New Roman" panose="02020603050405020304" pitchFamily="18" charset="0"/>
              </a:rPr>
              <a:t>, </a:t>
            </a:r>
          </a:p>
          <a:p>
            <a:pPr marL="0" indent="0">
              <a:buNone/>
            </a:pPr>
            <a:r>
              <a:rPr lang="it-IT" sz="1600" dirty="0">
                <a:latin typeface="Times New Roman" panose="02020603050405020304" pitchFamily="18" charset="0"/>
                <a:cs typeface="Times New Roman" panose="02020603050405020304" pitchFamily="18" charset="0"/>
              </a:rPr>
              <a:t>		dW</a:t>
            </a:r>
            <a:r>
              <a:rPr lang="it-IT" sz="1200" dirty="0">
                <a:latin typeface="Times New Roman" panose="02020603050405020304" pitchFamily="18" charset="0"/>
                <a:cs typeface="Times New Roman" panose="02020603050405020304" pitchFamily="18" charset="0"/>
              </a:rPr>
              <a:t>out</a:t>
            </a:r>
            <a:r>
              <a:rPr lang="it-IT" sz="1600" dirty="0">
                <a:latin typeface="Times New Roman" panose="02020603050405020304" pitchFamily="18" charset="0"/>
                <a:cs typeface="Times New Roman" panose="02020603050405020304" pitchFamily="18" charset="0"/>
              </a:rPr>
              <a:t> = -FdL</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 Where, F is the axial tension and dL is the displacement.</a:t>
            </a:r>
          </a:p>
          <a:p>
            <a:pPr marL="800100" lvl="2" indent="0">
              <a:spcBef>
                <a:spcPts val="600"/>
              </a:spcBef>
              <a:buNone/>
            </a:pPr>
            <a:r>
              <a:rPr lang="en-US" sz="1600" dirty="0">
                <a:latin typeface="Times New Roman" panose="02020603050405020304" pitchFamily="18" charset="0"/>
                <a:cs typeface="Times New Roman" panose="02020603050405020304" pitchFamily="18" charset="0"/>
              </a:rPr>
              <a:t>The Conservation of Energy gives:</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		dW</a:t>
            </a:r>
            <a:r>
              <a:rPr lang="it-IT" sz="900" dirty="0">
                <a:latin typeface="Times New Roman" panose="02020603050405020304" pitchFamily="18" charset="0"/>
                <a:cs typeface="Times New Roman" panose="02020603050405020304" pitchFamily="18" charset="0"/>
              </a:rPr>
              <a:t>in</a:t>
            </a:r>
            <a:r>
              <a:rPr lang="en-US" sz="16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it-IT" sz="1800" dirty="0">
                <a:latin typeface="Times New Roman" panose="02020603050405020304" pitchFamily="18" charset="0"/>
                <a:cs typeface="Times New Roman" panose="02020603050405020304" pitchFamily="18" charset="0"/>
              </a:rPr>
              <a:t>d</a:t>
            </a:r>
            <a:r>
              <a:rPr lang="it-IT" sz="1600" dirty="0">
                <a:latin typeface="Times New Roman" panose="02020603050405020304" pitchFamily="18" charset="0"/>
                <a:cs typeface="Times New Roman" panose="02020603050405020304" pitchFamily="18" charset="0"/>
              </a:rPr>
              <a:t>W</a:t>
            </a:r>
            <a:r>
              <a:rPr lang="it-IT" sz="1200" dirty="0">
                <a:latin typeface="Times New Roman" panose="02020603050405020304" pitchFamily="18" charset="0"/>
                <a:cs typeface="Times New Roman" panose="02020603050405020304" pitchFamily="18" charset="0"/>
              </a:rPr>
              <a:t>out</a:t>
            </a:r>
            <a:endParaRPr lang="en-US" dirty="0">
              <a:latin typeface="Times New Roman" panose="02020603050405020304" pitchFamily="18" charset="0"/>
              <a:cs typeface="Times New Roman" panose="02020603050405020304" pitchFamily="18" charset="0"/>
            </a:endParaRPr>
          </a:p>
          <a:p>
            <a:pPr marL="800100" lvl="2" indent="0">
              <a:spcBef>
                <a:spcPts val="600"/>
              </a:spcBef>
              <a:buNone/>
            </a:pPr>
            <a:r>
              <a:rPr lang="it-IT" sz="1600" dirty="0">
                <a:latin typeface="Times New Roman" panose="02020603050405020304" pitchFamily="18" charset="0"/>
                <a:cs typeface="Times New Roman" panose="02020603050405020304" pitchFamily="18" charset="0"/>
              </a:rPr>
              <a:t>P’dV = -FdL</a:t>
            </a:r>
          </a:p>
          <a:p>
            <a:pPr marL="800100" lvl="2" indent="0">
              <a:spcBef>
                <a:spcPts val="600"/>
              </a:spcBef>
              <a:buNone/>
            </a:pPr>
            <a:r>
              <a:rPr lang="it-IT" sz="1600" dirty="0">
                <a:latin typeface="Times New Roman" panose="02020603050405020304" pitchFamily="18" charset="0"/>
                <a:cs typeface="Times New Roman" panose="02020603050405020304" pitchFamily="18" charset="0"/>
              </a:rPr>
              <a:t>F = - (P’ dV)/dL ........................ (1)</a:t>
            </a:r>
            <a:endParaRPr lang="en-IN" sz="1600" dirty="0">
              <a:latin typeface="Times New Roman" panose="02020603050405020304" pitchFamily="18" charset="0"/>
              <a:cs typeface="Times New Roman" panose="02020603050405020304" pitchFamily="18" charset="0"/>
            </a:endParaRPr>
          </a:p>
          <a:p>
            <a:pPr marL="285750" algn="just">
              <a:spcBef>
                <a:spcPts val="600"/>
              </a:spcBef>
            </a:pPr>
            <a:r>
              <a:rPr lang="en-US" sz="1600" dirty="0">
                <a:latin typeface="Times New Roman" panose="02020603050405020304" pitchFamily="18" charset="0"/>
                <a:cs typeface="Times New Roman" panose="02020603050405020304" pitchFamily="18" charset="0"/>
              </a:rPr>
              <a:t>With the strength defined in terms of the volume change, just missing define the volume variation permitted by the mesh. The variation stops when volume reaches its maximum. At this moment, the muscle reaches the largest contraction.</a:t>
            </a:r>
            <a:endParaRPr lang="en-IN" sz="1600" dirty="0">
              <a:latin typeface="Times New Roman" panose="02020603050405020304" pitchFamily="18" charset="0"/>
              <a:cs typeface="Times New Roman" panose="02020603050405020304" pitchFamily="18" charset="0"/>
            </a:endParaRPr>
          </a:p>
          <a:p>
            <a:pPr marL="285750">
              <a:spcBef>
                <a:spcPts val="600"/>
              </a:spcBef>
            </a:pPr>
            <a:endParaRPr lang="it-IT"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3059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9A91B09-EFF6-EA2D-1C66-0B72D0D35D07}"/>
              </a:ext>
            </a:extLst>
          </p:cNvPr>
          <p:cNvPicPr>
            <a:picLocks noChangeAspect="1"/>
          </p:cNvPicPr>
          <p:nvPr/>
        </p:nvPicPr>
        <p:blipFill>
          <a:blip r:embed="rId2"/>
          <a:stretch>
            <a:fillRect/>
          </a:stretch>
        </p:blipFill>
        <p:spPr>
          <a:xfrm>
            <a:off x="7395620" y="4599991"/>
            <a:ext cx="1352739" cy="533474"/>
          </a:xfrm>
          <a:prstGeom prst="rect">
            <a:avLst/>
          </a:prstGeom>
        </p:spPr>
      </p:pic>
      <p:pic>
        <p:nvPicPr>
          <p:cNvPr id="5" name="Picture 4">
            <a:extLst>
              <a:ext uri="{FF2B5EF4-FFF2-40B4-BE49-F238E27FC236}">
                <a16:creationId xmlns:a16="http://schemas.microsoft.com/office/drawing/2014/main" id="{15CCDFBC-5F3A-4C6D-01C1-6C0571A316EC}"/>
              </a:ext>
            </a:extLst>
          </p:cNvPr>
          <p:cNvPicPr>
            <a:picLocks noChangeAspect="1"/>
          </p:cNvPicPr>
          <p:nvPr/>
        </p:nvPicPr>
        <p:blipFill>
          <a:blip r:embed="rId3"/>
          <a:stretch>
            <a:fillRect/>
          </a:stretch>
        </p:blipFill>
        <p:spPr>
          <a:xfrm>
            <a:off x="7396091" y="5887158"/>
            <a:ext cx="2419688" cy="600159"/>
          </a:xfrm>
          <a:prstGeom prst="rect">
            <a:avLst/>
          </a:prstGeom>
        </p:spPr>
      </p:pic>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332848" y="1284507"/>
            <a:ext cx="4901208" cy="5321566"/>
          </a:xfrm>
        </p:spPr>
        <p:txBody>
          <a:bodyPr>
            <a:normAutofit lnSpcReduction="10000"/>
          </a:bodyPr>
          <a:lstStyle/>
          <a:p>
            <a:pPr algn="just"/>
            <a:r>
              <a:rPr lang="en-US" sz="1600" dirty="0">
                <a:latin typeface="Times New Roman" panose="02020603050405020304" pitchFamily="18" charset="0"/>
                <a:cs typeface="Times New Roman" panose="02020603050405020304" pitchFamily="18" charset="0"/>
              </a:rPr>
              <a:t>Observing Fig.3, it is possible to make the length (L) and diameter (D) as a function of the angle (θ). This angle is one formed between the mesh and the axial length of the muscle. The length of fiber can be named b and n is the number of turns of the fiber around the muscle. Using b and n, it is possible to set the length and the diameter of the muscle.</a:t>
            </a:r>
          </a:p>
          <a:p>
            <a:pPr marL="800100" lvl="2" indent="0" algn="just">
              <a:spcBef>
                <a:spcPts val="600"/>
              </a:spcBef>
              <a:buNone/>
            </a:pPr>
            <a:r>
              <a:rPr lang="en-IN" sz="1600" dirty="0">
                <a:latin typeface="Times New Roman" panose="02020603050405020304" pitchFamily="18" charset="0"/>
                <a:cs typeface="Times New Roman" panose="02020603050405020304" pitchFamily="18" charset="0"/>
              </a:rPr>
              <a:t>cos</a:t>
            </a:r>
            <a:r>
              <a:rPr lang="en-IN" sz="1600" dirty="0">
                <a:latin typeface="Times New Roman" panose="02020603050405020304" pitchFamily="18" charset="0"/>
                <a:cs typeface="Times New Roman" panose="02020603050405020304" pitchFamily="18" charset="0"/>
                <a:sym typeface="Symbol" panose="05050102010706020507" pitchFamily="18" charset="2"/>
              </a:rPr>
              <a:t> = (L/b)</a:t>
            </a:r>
          </a:p>
          <a:p>
            <a:pPr marL="800100" lvl="2" indent="0" algn="just">
              <a:spcBef>
                <a:spcPts val="600"/>
              </a:spcBef>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L = b</a:t>
            </a:r>
            <a:r>
              <a:rPr lang="en-IN" sz="1600" dirty="0">
                <a:latin typeface="Times New Roman" panose="02020603050405020304" pitchFamily="18" charset="0"/>
                <a:cs typeface="Times New Roman" panose="02020603050405020304" pitchFamily="18" charset="0"/>
              </a:rPr>
              <a:t> cos</a:t>
            </a:r>
            <a:r>
              <a:rPr lang="en-IN" sz="1600" dirty="0">
                <a:latin typeface="Times New Roman" panose="02020603050405020304" pitchFamily="18" charset="0"/>
                <a:cs typeface="Times New Roman" panose="02020603050405020304" pitchFamily="18" charset="0"/>
                <a:sym typeface="Symbol" panose="05050102010706020507" pitchFamily="18" charset="2"/>
              </a:rPr>
              <a:t> …………………………… (2)</a:t>
            </a:r>
          </a:p>
          <a:p>
            <a:pPr marL="800100" lvl="2" indent="0" algn="just">
              <a:spcBef>
                <a:spcPts val="600"/>
              </a:spcBef>
              <a:buNone/>
            </a:pPr>
            <a:r>
              <a:rPr lang="en-IN" sz="1600" dirty="0">
                <a:latin typeface="Times New Roman" panose="02020603050405020304" pitchFamily="18" charset="0"/>
                <a:cs typeface="Times New Roman" panose="02020603050405020304" pitchFamily="18" charset="0"/>
              </a:rPr>
              <a:t>sin</a:t>
            </a:r>
            <a:r>
              <a:rPr lang="en-IN" sz="1600" dirty="0">
                <a:latin typeface="Times New Roman" panose="02020603050405020304" pitchFamily="18" charset="0"/>
                <a:cs typeface="Times New Roman" panose="02020603050405020304" pitchFamily="18" charset="0"/>
                <a:sym typeface="Symbol" panose="05050102010706020507" pitchFamily="18" charset="2"/>
              </a:rPr>
              <a:t> = (</a:t>
            </a:r>
            <a:r>
              <a:rPr lang="en-IN" sz="1600" dirty="0" err="1">
                <a:latin typeface="Times New Roman" panose="02020603050405020304" pitchFamily="18" charset="0"/>
                <a:cs typeface="Times New Roman" panose="02020603050405020304" pitchFamily="18" charset="0"/>
                <a:sym typeface="Symbol" panose="05050102010706020507" pitchFamily="18" charset="2"/>
              </a:rPr>
              <a:t>nD</a:t>
            </a:r>
            <a:r>
              <a:rPr lang="en-IN" sz="1600" dirty="0">
                <a:latin typeface="Times New Roman" panose="02020603050405020304" pitchFamily="18" charset="0"/>
                <a:cs typeface="Times New Roman" panose="02020603050405020304" pitchFamily="18" charset="0"/>
                <a:sym typeface="Symbol" panose="05050102010706020507" pitchFamily="18" charset="2"/>
              </a:rPr>
              <a:t>)/b</a:t>
            </a:r>
          </a:p>
          <a:p>
            <a:pPr marL="800100" lvl="2" indent="0" algn="just">
              <a:spcBef>
                <a:spcPts val="600"/>
              </a:spcBef>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D = (b</a:t>
            </a:r>
            <a:r>
              <a:rPr lang="en-IN" sz="1600" dirty="0">
                <a:latin typeface="Times New Roman" panose="02020603050405020304" pitchFamily="18" charset="0"/>
                <a:cs typeface="Times New Roman" panose="02020603050405020304" pitchFamily="18" charset="0"/>
              </a:rPr>
              <a:t> sin</a:t>
            </a:r>
            <a:r>
              <a:rPr lang="en-IN" sz="1600" dirty="0">
                <a:latin typeface="Times New Roman" panose="02020603050405020304" pitchFamily="18" charset="0"/>
                <a:cs typeface="Times New Roman" panose="02020603050405020304" pitchFamily="18" charset="0"/>
                <a:sym typeface="Symbol" panose="05050102010706020507" pitchFamily="18" charset="2"/>
              </a:rPr>
              <a:t>)/n ………………………. (3)</a:t>
            </a:r>
          </a:p>
          <a:p>
            <a:pPr marL="0" indent="0" algn="just">
              <a:spcBef>
                <a:spcPts val="600"/>
              </a:spcBef>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Making the Volume equation as function of the diameter and D &amp; length L.</a:t>
            </a: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		</a:t>
            </a:r>
          </a:p>
          <a:p>
            <a:pPr marL="400050" lvl="1" indent="0" algn="just">
              <a:spcBef>
                <a:spcPts val="600"/>
              </a:spcBef>
              <a:buNone/>
            </a:pPr>
            <a:endParaRPr lang="en-IN" dirty="0">
              <a:latin typeface="Times New Roman" panose="02020603050405020304" pitchFamily="18" charset="0"/>
              <a:cs typeface="Times New Roman" panose="02020603050405020304" pitchFamily="18" charset="0"/>
              <a:sym typeface="Symbol" panose="05050102010706020507" pitchFamily="18" charset="2"/>
            </a:endParaRP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By substituting D &amp; L in </a:t>
            </a:r>
            <a:r>
              <a:rPr lang="en-IN" dirty="0" err="1">
                <a:latin typeface="Times New Roman" panose="02020603050405020304" pitchFamily="18" charset="0"/>
                <a:cs typeface="Times New Roman" panose="02020603050405020304" pitchFamily="18" charset="0"/>
                <a:sym typeface="Symbol" panose="05050102010706020507" pitchFamily="18" charset="2"/>
              </a:rPr>
              <a:t>eq</a:t>
            </a:r>
            <a:r>
              <a:rPr lang="en-IN" dirty="0">
                <a:latin typeface="Times New Roman" panose="02020603050405020304" pitchFamily="18" charset="0"/>
                <a:cs typeface="Times New Roman" panose="02020603050405020304" pitchFamily="18" charset="0"/>
                <a:sym typeface="Symbol" panose="05050102010706020507" pitchFamily="18" charset="2"/>
              </a:rPr>
              <a:t> 4</a:t>
            </a: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We get, </a:t>
            </a: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										</a:t>
            </a:r>
          </a:p>
          <a:p>
            <a:pPr marL="400050" lvl="1" indent="0" algn="just">
              <a:spcBef>
                <a:spcPts val="600"/>
              </a:spcBef>
              <a:buNone/>
            </a:pPr>
            <a:r>
              <a:rPr lang="en-IN" dirty="0">
                <a:latin typeface="Times New Roman" panose="02020603050405020304" pitchFamily="18" charset="0"/>
                <a:cs typeface="Times New Roman" panose="02020603050405020304" pitchFamily="18" charset="0"/>
                <a:sym typeface="Symbol" panose="05050102010706020507" pitchFamily="18" charset="2"/>
              </a:rPr>
              <a:t>							     ……... (5)</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F6AF55C-D360-B5B1-F395-00C5DEB2A5E5}"/>
              </a:ext>
            </a:extLst>
          </p:cNvPr>
          <p:cNvPicPr>
            <a:picLocks noChangeAspect="1"/>
          </p:cNvPicPr>
          <p:nvPr/>
        </p:nvPicPr>
        <p:blipFill>
          <a:blip r:embed="rId4"/>
          <a:stretch>
            <a:fillRect/>
          </a:stretch>
        </p:blipFill>
        <p:spPr>
          <a:xfrm>
            <a:off x="1052059" y="1461794"/>
            <a:ext cx="4572129" cy="3138197"/>
          </a:xfrm>
          <a:prstGeom prst="rect">
            <a:avLst/>
          </a:prstGeom>
        </p:spPr>
      </p:pic>
    </p:spTree>
    <p:extLst>
      <p:ext uri="{BB962C8B-B14F-4D97-AF65-F5344CB8AC3E}">
        <p14:creationId xmlns:p14="http://schemas.microsoft.com/office/powerpoint/2010/main" val="332727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921E10B3-3C90-DFDD-12AD-52D6B79FB2A2}"/>
              </a:ext>
            </a:extLst>
          </p:cNvPr>
          <p:cNvPicPr>
            <a:picLocks noChangeAspect="1"/>
          </p:cNvPicPr>
          <p:nvPr/>
        </p:nvPicPr>
        <p:blipFill>
          <a:blip r:embed="rId2"/>
          <a:stretch>
            <a:fillRect/>
          </a:stretch>
        </p:blipFill>
        <p:spPr>
          <a:xfrm>
            <a:off x="2212638" y="3129874"/>
            <a:ext cx="2648320" cy="990738"/>
          </a:xfrm>
          <a:prstGeom prst="rect">
            <a:avLst/>
          </a:prstGeom>
        </p:spPr>
      </p:pic>
      <p:pic>
        <p:nvPicPr>
          <p:cNvPr id="11" name="Picture 10">
            <a:extLst>
              <a:ext uri="{FF2B5EF4-FFF2-40B4-BE49-F238E27FC236}">
                <a16:creationId xmlns:a16="http://schemas.microsoft.com/office/drawing/2014/main" id="{CAB6A662-361A-DE5B-ECC0-26E1B805C8D1}"/>
              </a:ext>
            </a:extLst>
          </p:cNvPr>
          <p:cNvPicPr>
            <a:picLocks noChangeAspect="1"/>
          </p:cNvPicPr>
          <p:nvPr/>
        </p:nvPicPr>
        <p:blipFill>
          <a:blip r:embed="rId3"/>
          <a:stretch>
            <a:fillRect/>
          </a:stretch>
        </p:blipFill>
        <p:spPr>
          <a:xfrm>
            <a:off x="2114835" y="1611121"/>
            <a:ext cx="1571844" cy="647790"/>
          </a:xfrm>
          <a:prstGeom prst="rect">
            <a:avLst/>
          </a:prstGeom>
        </p:spPr>
      </p:pic>
      <p:pic>
        <p:nvPicPr>
          <p:cNvPr id="9" name="Picture 8">
            <a:extLst>
              <a:ext uri="{FF2B5EF4-FFF2-40B4-BE49-F238E27FC236}">
                <a16:creationId xmlns:a16="http://schemas.microsoft.com/office/drawing/2014/main" id="{102B6077-C433-1DCD-763C-093F785CB34B}"/>
              </a:ext>
            </a:extLst>
          </p:cNvPr>
          <p:cNvPicPr>
            <a:picLocks noChangeAspect="1"/>
          </p:cNvPicPr>
          <p:nvPr/>
        </p:nvPicPr>
        <p:blipFill>
          <a:blip r:embed="rId4"/>
          <a:stretch>
            <a:fillRect/>
          </a:stretch>
        </p:blipFill>
        <p:spPr>
          <a:xfrm>
            <a:off x="2114835" y="2167109"/>
            <a:ext cx="2886478" cy="771633"/>
          </a:xfrm>
          <a:prstGeom prst="rect">
            <a:avLst/>
          </a:prstGeom>
        </p:spPr>
      </p:pic>
      <p:pic>
        <p:nvPicPr>
          <p:cNvPr id="6" name="Picture 5">
            <a:extLst>
              <a:ext uri="{FF2B5EF4-FFF2-40B4-BE49-F238E27FC236}">
                <a16:creationId xmlns:a16="http://schemas.microsoft.com/office/drawing/2014/main" id="{0C1A0F8C-5E0D-32C6-36DF-E5C03690A3C9}"/>
              </a:ext>
            </a:extLst>
          </p:cNvPr>
          <p:cNvPicPr>
            <a:picLocks noChangeAspect="1"/>
          </p:cNvPicPr>
          <p:nvPr/>
        </p:nvPicPr>
        <p:blipFill>
          <a:blip r:embed="rId5"/>
          <a:stretch>
            <a:fillRect/>
          </a:stretch>
        </p:blipFill>
        <p:spPr>
          <a:xfrm>
            <a:off x="7332017" y="1460237"/>
            <a:ext cx="2530440" cy="788027"/>
          </a:xfrm>
          <a:prstGeom prst="rect">
            <a:avLst/>
          </a:prstGeom>
        </p:spPr>
      </p:pic>
      <p:pic>
        <p:nvPicPr>
          <p:cNvPr id="7" name="Picture 6">
            <a:extLst>
              <a:ext uri="{FF2B5EF4-FFF2-40B4-BE49-F238E27FC236}">
                <a16:creationId xmlns:a16="http://schemas.microsoft.com/office/drawing/2014/main" id="{04BF2F43-D1D5-185F-2B6F-6543179A16F5}"/>
              </a:ext>
            </a:extLst>
          </p:cNvPr>
          <p:cNvPicPr>
            <a:picLocks noChangeAspect="1"/>
          </p:cNvPicPr>
          <p:nvPr/>
        </p:nvPicPr>
        <p:blipFill>
          <a:blip r:embed="rId6"/>
          <a:stretch>
            <a:fillRect/>
          </a:stretch>
        </p:blipFill>
        <p:spPr>
          <a:xfrm>
            <a:off x="2212638" y="4305074"/>
            <a:ext cx="2147728" cy="752123"/>
          </a:xfrm>
          <a:prstGeom prst="rect">
            <a:avLst/>
          </a:prstGeom>
        </p:spPr>
      </p:pic>
      <p:sp>
        <p:nvSpPr>
          <p:cNvPr id="2" name="Title 1">
            <a:extLst>
              <a:ext uri="{FF2B5EF4-FFF2-40B4-BE49-F238E27FC236}">
                <a16:creationId xmlns:a16="http://schemas.microsoft.com/office/drawing/2014/main" id="{9D77E9AE-9871-6B83-F520-829F3936D0E9}"/>
              </a:ext>
            </a:extLst>
          </p:cNvPr>
          <p:cNvSpPr>
            <a:spLocks noGrp="1"/>
          </p:cNvSpPr>
          <p:nvPr>
            <p:ph type="title"/>
          </p:nvPr>
        </p:nvSpPr>
        <p:spPr>
          <a:xfrm>
            <a:off x="1586194" y="605448"/>
            <a:ext cx="10002384" cy="679059"/>
          </a:xfrm>
        </p:spPr>
        <p:txBody>
          <a:bodyPr/>
          <a:lstStyle/>
          <a:p>
            <a:r>
              <a:rPr lang="en-US" dirty="0">
                <a:latin typeface="Times New Roman" panose="02020603050405020304" pitchFamily="18" charset="0"/>
                <a:cs typeface="Times New Roman" panose="02020603050405020304" pitchFamily="18" charset="0"/>
              </a:rPr>
              <a:t>Derivation For Pressure and Force Relation: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78D876-251E-85C5-6A7D-BE0697549C31}"/>
              </a:ext>
            </a:extLst>
          </p:cNvPr>
          <p:cNvSpPr>
            <a:spLocks noGrp="1"/>
          </p:cNvSpPr>
          <p:nvPr>
            <p:ph idx="1"/>
          </p:nvPr>
        </p:nvSpPr>
        <p:spPr>
          <a:xfrm>
            <a:off x="6332848" y="1284507"/>
            <a:ext cx="5433054" cy="5106956"/>
          </a:xfrm>
        </p:spPr>
        <p:txBody>
          <a:bodyPr>
            <a:normAutofit/>
          </a:bodyPr>
          <a:lstStyle/>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By substituting the value of D &amp; trigonometric relation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8</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							     ……………….. (9)</a:t>
            </a:r>
          </a:p>
          <a:p>
            <a:pPr marL="0" indent="0" algn="just">
              <a:buNone/>
            </a:pPr>
            <a:r>
              <a:rPr lang="en-US" sz="1600" dirty="0">
                <a:latin typeface="Times New Roman" panose="02020603050405020304" pitchFamily="18" charset="0"/>
                <a:cs typeface="Times New Roman" panose="02020603050405020304" pitchFamily="18" charset="0"/>
              </a:rPr>
              <a:t>Adopting contraction (ε) and applying Eq.9, it is possible to reach to required formulation (</a:t>
            </a:r>
            <a:r>
              <a:rPr lang="en-US" sz="1600" dirty="0" err="1">
                <a:latin typeface="Times New Roman" panose="02020603050405020304" pitchFamily="18" charset="0"/>
                <a:cs typeface="Times New Roman" panose="02020603050405020304" pitchFamily="18" charset="0"/>
              </a:rPr>
              <a:t>Daerden</a:t>
            </a:r>
            <a:r>
              <a:rPr lang="en-US" sz="1600" dirty="0">
                <a:latin typeface="Times New Roman" panose="02020603050405020304" pitchFamily="18" charset="0"/>
                <a:cs typeface="Times New Roman" panose="02020603050405020304" pitchFamily="18" charset="0"/>
              </a:rPr>
              <a:t> and </a:t>
            </a:r>
            <a:r>
              <a:rPr lang="en-US" sz="1600" dirty="0" err="1">
                <a:latin typeface="Times New Roman" panose="02020603050405020304" pitchFamily="18" charset="0"/>
                <a:cs typeface="Times New Roman" panose="02020603050405020304" pitchFamily="18" charset="0"/>
              </a:rPr>
              <a:t>Lefeber</a:t>
            </a:r>
            <a:r>
              <a:rPr lang="en-US" sz="1600" dirty="0">
                <a:latin typeface="Times New Roman" panose="02020603050405020304" pitchFamily="18" charset="0"/>
                <a:cs typeface="Times New Roman" panose="02020603050405020304" pitchFamily="18" charset="0"/>
              </a:rPr>
              <a:t>, 2000).</a:t>
            </a:r>
          </a:p>
          <a:p>
            <a:pPr marL="0" indent="0" algn="just">
              <a:buNone/>
            </a:pPr>
            <a:r>
              <a:rPr lang="en-IN" sz="1600" dirty="0">
                <a:latin typeface="Times New Roman" panose="02020603050405020304" pitchFamily="18" charset="0"/>
                <a:cs typeface="Times New Roman" panose="02020603050405020304" pitchFamily="18" charset="0"/>
              </a:rPr>
              <a:t>	D = b*sin</a:t>
            </a:r>
            <a:r>
              <a:rPr lang="en-IN" sz="1600" dirty="0">
                <a:latin typeface="Times New Roman" panose="02020603050405020304" pitchFamily="18" charset="0"/>
                <a:cs typeface="Times New Roman" panose="02020603050405020304" pitchFamily="18" charset="0"/>
                <a:sym typeface="Symbol" panose="05050102010706020507" pitchFamily="18" charset="2"/>
              </a:rPr>
              <a:t></a:t>
            </a:r>
            <a:r>
              <a:rPr lang="en-IN" sz="160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sym typeface="Symbol" panose="05050102010706020507" pitchFamily="18" charset="2"/>
              </a:rPr>
              <a:t>*n) …………… (After applying pressure)</a:t>
            </a:r>
          </a:p>
          <a:p>
            <a:pPr marL="0" indent="0" algn="just">
              <a:buNone/>
            </a:pPr>
            <a:r>
              <a:rPr lang="en-IN" sz="1600" dirty="0">
                <a:latin typeface="Times New Roman" panose="02020603050405020304" pitchFamily="18" charset="0"/>
                <a:cs typeface="Times New Roman" panose="02020603050405020304" pitchFamily="18" charset="0"/>
              </a:rPr>
              <a:t>	D</a:t>
            </a:r>
            <a:r>
              <a:rPr lang="en-IN" sz="1000" dirty="0">
                <a:latin typeface="Times New Roman" panose="02020603050405020304" pitchFamily="18" charset="0"/>
                <a:cs typeface="Times New Roman" panose="02020603050405020304" pitchFamily="18" charset="0"/>
              </a:rPr>
              <a:t>0</a:t>
            </a:r>
            <a:r>
              <a:rPr lang="en-IN" sz="1600" dirty="0">
                <a:latin typeface="Times New Roman" panose="02020603050405020304" pitchFamily="18" charset="0"/>
                <a:cs typeface="Times New Roman" panose="02020603050405020304" pitchFamily="18" charset="0"/>
              </a:rPr>
              <a:t> = b*sin</a:t>
            </a:r>
            <a:r>
              <a:rPr lang="en-IN" sz="1600" dirty="0">
                <a:latin typeface="Times New Roman" panose="02020603050405020304" pitchFamily="18" charset="0"/>
                <a:cs typeface="Times New Roman" panose="02020603050405020304" pitchFamily="18" charset="0"/>
                <a:sym typeface="Symbol" panose="05050102010706020507" pitchFamily="18" charset="2"/>
              </a:rPr>
              <a:t></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sym typeface="Symbol" panose="05050102010706020507" pitchFamily="18" charset="2"/>
              </a:rPr>
              <a:t>*n) ………...... (Before applying pressure)</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	D = D</a:t>
            </a:r>
            <a:r>
              <a:rPr lang="en-IN" sz="1050" dirty="0">
                <a:latin typeface="Times New Roman" panose="02020603050405020304" pitchFamily="18" charset="0"/>
                <a:cs typeface="Times New Roman" panose="02020603050405020304" pitchFamily="18" charset="0"/>
                <a:sym typeface="Symbol" panose="05050102010706020507" pitchFamily="18" charset="2"/>
              </a:rPr>
              <a:t>0 </a:t>
            </a:r>
            <a:r>
              <a:rPr lang="en-IN" sz="1600" dirty="0">
                <a:latin typeface="Times New Roman" panose="02020603050405020304" pitchFamily="18" charset="0"/>
                <a:cs typeface="Times New Roman" panose="02020603050405020304" pitchFamily="18" charset="0"/>
                <a:sym typeface="Symbol" panose="05050102010706020507" pitchFamily="18" charset="2"/>
              </a:rPr>
              <a:t>………. Basic Interpretation</a:t>
            </a:r>
          </a:p>
          <a:p>
            <a:pPr marL="0" indent="0" algn="just">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So, we can replace D &amp; sin with D</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&amp; sin</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pPr marL="800100" lvl="2" indent="0" algn="just">
              <a:spcBef>
                <a:spcPts val="600"/>
              </a:spcBef>
              <a:buNone/>
            </a:pPr>
            <a:r>
              <a:rPr lang="en-IN" sz="1600" dirty="0">
                <a:latin typeface="Times New Roman" panose="02020603050405020304" pitchFamily="18" charset="0"/>
                <a:cs typeface="Times New Roman" panose="02020603050405020304" pitchFamily="18" charset="0"/>
              </a:rPr>
              <a:t>cos</a:t>
            </a:r>
            <a:r>
              <a:rPr lang="en-IN" sz="1600" dirty="0">
                <a:latin typeface="Times New Roman" panose="02020603050405020304" pitchFamily="18" charset="0"/>
                <a:cs typeface="Times New Roman" panose="02020603050405020304" pitchFamily="18" charset="0"/>
                <a:sym typeface="Symbol" panose="05050102010706020507" pitchFamily="18" charset="2"/>
              </a:rPr>
              <a:t> = (L/b)</a:t>
            </a:r>
          </a:p>
          <a:p>
            <a:pPr marL="800100" lvl="2" indent="0" algn="just">
              <a:spcBef>
                <a:spcPts val="600"/>
              </a:spcBef>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L = b</a:t>
            </a:r>
            <a:r>
              <a:rPr lang="en-IN" sz="1600" dirty="0">
                <a:latin typeface="Times New Roman" panose="02020603050405020304" pitchFamily="18" charset="0"/>
                <a:cs typeface="Times New Roman" panose="02020603050405020304" pitchFamily="18" charset="0"/>
              </a:rPr>
              <a:t> cos</a:t>
            </a:r>
            <a:r>
              <a:rPr lang="en-IN" sz="1600" dirty="0">
                <a:latin typeface="Times New Roman" panose="02020603050405020304" pitchFamily="18" charset="0"/>
                <a:cs typeface="Times New Roman" panose="02020603050405020304" pitchFamily="18" charset="0"/>
                <a:sym typeface="Symbol" panose="05050102010706020507" pitchFamily="18" charset="2"/>
              </a:rPr>
              <a:t></a:t>
            </a:r>
          </a:p>
          <a:p>
            <a:pPr marL="800100" lvl="2" indent="0" algn="just">
              <a:spcBef>
                <a:spcPts val="600"/>
              </a:spcBef>
              <a:buNone/>
            </a:pPr>
            <a:r>
              <a:rPr lang="en-IN" sz="1600" dirty="0">
                <a:latin typeface="Times New Roman" panose="02020603050405020304" pitchFamily="18" charset="0"/>
                <a:cs typeface="Times New Roman" panose="02020603050405020304" pitchFamily="18" charset="0"/>
                <a:sym typeface="Symbol" panose="05050102010706020507" pitchFamily="18" charset="2"/>
              </a:rPr>
              <a:t>L</a:t>
            </a:r>
            <a:r>
              <a:rPr lang="en-IN" sz="1000" dirty="0">
                <a:latin typeface="Times New Roman" panose="02020603050405020304" pitchFamily="18" charset="0"/>
                <a:cs typeface="Times New Roman" panose="02020603050405020304" pitchFamily="18" charset="0"/>
                <a:sym typeface="Symbol" panose="05050102010706020507" pitchFamily="18" charset="2"/>
              </a:rPr>
              <a:t>0</a:t>
            </a:r>
            <a:r>
              <a:rPr lang="en-IN" sz="1600" dirty="0">
                <a:latin typeface="Times New Roman" panose="02020603050405020304" pitchFamily="18" charset="0"/>
                <a:cs typeface="Times New Roman" panose="02020603050405020304" pitchFamily="18" charset="0"/>
                <a:sym typeface="Symbol" panose="05050102010706020507" pitchFamily="18" charset="2"/>
              </a:rPr>
              <a:t> = b</a:t>
            </a:r>
            <a:r>
              <a:rPr lang="en-IN" sz="1600" dirty="0">
                <a:latin typeface="Times New Roman" panose="02020603050405020304" pitchFamily="18" charset="0"/>
                <a:cs typeface="Times New Roman" panose="02020603050405020304" pitchFamily="18" charset="0"/>
              </a:rPr>
              <a:t> cos</a:t>
            </a:r>
            <a:r>
              <a:rPr lang="en-IN" sz="1600" dirty="0">
                <a:latin typeface="Times New Roman" panose="02020603050405020304" pitchFamily="18" charset="0"/>
                <a:cs typeface="Times New Roman" panose="02020603050405020304" pitchFamily="18" charset="0"/>
                <a:sym typeface="Symbol" panose="05050102010706020507" pitchFamily="18" charset="2"/>
              </a:rPr>
              <a:t></a:t>
            </a:r>
            <a:r>
              <a:rPr lang="en-IN" sz="1000" dirty="0">
                <a:latin typeface="Times New Roman" panose="02020603050405020304" pitchFamily="18" charset="0"/>
                <a:cs typeface="Times New Roman" panose="02020603050405020304" pitchFamily="18" charset="0"/>
                <a:sym typeface="Symbol" panose="05050102010706020507" pitchFamily="18" charset="2"/>
              </a:rPr>
              <a:t>0 </a:t>
            </a:r>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pPr marL="0" indent="0" algn="just">
              <a:buNone/>
            </a:pPr>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4" name="TextBox 3">
            <a:extLst>
              <a:ext uri="{FF2B5EF4-FFF2-40B4-BE49-F238E27FC236}">
                <a16:creationId xmlns:a16="http://schemas.microsoft.com/office/drawing/2014/main" id="{C9178E7A-19B5-2D3B-5C12-C52417669B35}"/>
              </a:ext>
            </a:extLst>
          </p:cNvPr>
          <p:cNvSpPr txBox="1"/>
          <p:nvPr/>
        </p:nvSpPr>
        <p:spPr>
          <a:xfrm>
            <a:off x="1754146" y="1362267"/>
            <a:ext cx="4392133" cy="4770537"/>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Diff. eq (2) &amp; eq (5) w. r. t. </a:t>
            </a:r>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			         ……..……………….(6)</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							……(7)</a:t>
            </a: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Substitute the value of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(6) &amp;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(7) in </a:t>
            </a:r>
            <a:r>
              <a:rPr lang="en-IN" sz="1600" dirty="0" err="1">
                <a:latin typeface="Times New Roman" panose="02020603050405020304" pitchFamily="18" charset="0"/>
                <a:cs typeface="Times New Roman" panose="02020603050405020304" pitchFamily="18" charset="0"/>
                <a:sym typeface="Symbol" panose="05050102010706020507" pitchFamily="18" charset="2"/>
              </a:rPr>
              <a:t>eq</a:t>
            </a:r>
            <a:r>
              <a:rPr lang="en-IN" sz="1600" dirty="0">
                <a:latin typeface="Times New Roman" panose="02020603050405020304" pitchFamily="18" charset="0"/>
                <a:cs typeface="Times New Roman" panose="02020603050405020304" pitchFamily="18" charset="0"/>
                <a:sym typeface="Symbol" panose="05050102010706020507" pitchFamily="18" charset="2"/>
              </a:rPr>
              <a:t> (1)</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endParaRPr lang="en-IN" sz="1600" dirty="0">
              <a:latin typeface="Times New Roman" panose="02020603050405020304" pitchFamily="18" charset="0"/>
              <a:cs typeface="Times New Roman" panose="02020603050405020304" pitchFamily="18" charset="0"/>
              <a:sym typeface="Symbol" panose="05050102010706020507" pitchFamily="18" charset="2"/>
            </a:endParaRP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p>
          <a:p>
            <a:r>
              <a:rPr lang="en-IN" sz="1600" dirty="0">
                <a:latin typeface="Times New Roman" panose="02020603050405020304" pitchFamily="18" charset="0"/>
                <a:cs typeface="Times New Roman" panose="02020603050405020304" pitchFamily="18" charset="0"/>
              </a:rPr>
              <a:t>After substituting and rearranging, we get:</a:t>
            </a:r>
          </a:p>
          <a:p>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					     …………….. (8)</a:t>
            </a:r>
          </a:p>
          <a:p>
            <a:r>
              <a:rPr lang="en-IN" sz="1600" dirty="0">
                <a:latin typeface="Times New Roman" panose="02020603050405020304" pitchFamily="18" charset="0"/>
                <a:cs typeface="Times New Roman" panose="02020603050405020304" pitchFamily="18" charset="0"/>
              </a:rPr>
              <a:t>	D = b* sin</a:t>
            </a:r>
            <a:r>
              <a:rPr lang="en-IN" sz="1600" dirty="0">
                <a:latin typeface="Times New Roman" panose="02020603050405020304" pitchFamily="18" charset="0"/>
                <a:cs typeface="Times New Roman" panose="02020603050405020304" pitchFamily="18" charset="0"/>
                <a:sym typeface="Symbol" panose="05050102010706020507" pitchFamily="18" charset="2"/>
              </a:rPr>
              <a:t> </a:t>
            </a:r>
            <a:r>
              <a:rPr lang="en-IN" sz="160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sym typeface="Symbol" panose="05050102010706020507" pitchFamily="18" charset="2"/>
              </a:rPr>
              <a:t>*n)</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D /</a:t>
            </a:r>
            <a:r>
              <a:rPr lang="en-IN" sz="1600" dirty="0">
                <a:latin typeface="Times New Roman" panose="02020603050405020304" pitchFamily="18" charset="0"/>
                <a:cs typeface="Times New Roman" panose="02020603050405020304" pitchFamily="18" charset="0"/>
              </a:rPr>
              <a:t> sin</a:t>
            </a:r>
            <a:r>
              <a:rPr lang="en-IN" sz="1600" dirty="0">
                <a:latin typeface="Times New Roman" panose="02020603050405020304" pitchFamily="18" charset="0"/>
                <a:cs typeface="Times New Roman" panose="02020603050405020304" pitchFamily="18" charset="0"/>
                <a:sym typeface="Symbol" panose="05050102010706020507" pitchFamily="18" charset="2"/>
              </a:rPr>
              <a:t> = b </a:t>
            </a:r>
            <a:r>
              <a:rPr lang="en-IN" sz="1600" dirty="0">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sym typeface="Symbol" panose="05050102010706020507" pitchFamily="18" charset="2"/>
              </a:rPr>
              <a:t>*n)</a:t>
            </a:r>
          </a:p>
          <a:p>
            <a:r>
              <a:rPr lang="en-IN" sz="1600" dirty="0">
                <a:latin typeface="Times New Roman" panose="02020603050405020304" pitchFamily="18" charset="0"/>
                <a:cs typeface="Times New Roman" panose="02020603050405020304" pitchFamily="18" charset="0"/>
                <a:sym typeface="Symbol" panose="05050102010706020507" pitchFamily="18" charset="2"/>
              </a:rPr>
              <a:t>	</a:t>
            </a:r>
            <a:r>
              <a:rPr lang="en-IN" sz="1600" dirty="0">
                <a:latin typeface="Times New Roman" panose="02020603050405020304" pitchFamily="18" charset="0"/>
                <a:cs typeface="Times New Roman" panose="02020603050405020304" pitchFamily="18" charset="0"/>
              </a:rPr>
              <a:t> sin^2(</a:t>
            </a:r>
            <a:r>
              <a:rPr lang="en-IN" sz="1600" dirty="0">
                <a:latin typeface="Times New Roman" panose="02020603050405020304" pitchFamily="18" charset="0"/>
                <a:cs typeface="Times New Roman" panose="02020603050405020304" pitchFamily="18" charset="0"/>
                <a:sym typeface="Symbol" panose="05050102010706020507" pitchFamily="18" charset="2"/>
              </a:rPr>
              <a:t>) + </a:t>
            </a:r>
            <a:r>
              <a:rPr lang="en-IN" sz="1600" dirty="0">
                <a:latin typeface="Times New Roman" panose="02020603050405020304" pitchFamily="18" charset="0"/>
                <a:cs typeface="Times New Roman" panose="02020603050405020304" pitchFamily="18" charset="0"/>
              </a:rPr>
              <a:t>sin^2(</a:t>
            </a:r>
            <a:r>
              <a:rPr lang="en-IN" sz="1600" dirty="0">
                <a:latin typeface="Times New Roman" panose="02020603050405020304" pitchFamily="18" charset="0"/>
                <a:cs typeface="Times New Roman" panose="02020603050405020304" pitchFamily="18" charset="0"/>
                <a:sym typeface="Symbol" panose="05050102010706020507" pitchFamily="18" charset="2"/>
              </a:rPr>
              <a:t>) = 1 </a:t>
            </a:r>
          </a:p>
          <a:p>
            <a:r>
              <a:rPr lang="en-IN" sz="1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18631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B071E-84C7-AA49-FBD0-DA43C77E30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C23579E-AB3E-D4ED-2A4C-461A0646AA9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9239255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580</TotalTime>
  <Words>1274</Words>
  <Application>Microsoft Office PowerPoint</Application>
  <PresentationFormat>Widescreen</PresentationFormat>
  <Paragraphs>82</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Wisp</vt:lpstr>
      <vt:lpstr>HYDRAULIC SOFT ACTUATOR</vt:lpstr>
      <vt:lpstr>Introduction:</vt:lpstr>
      <vt:lpstr>Problem Statement:</vt:lpstr>
      <vt:lpstr>Literature Survey:</vt:lpstr>
      <vt:lpstr>Literature Survey:</vt:lpstr>
      <vt:lpstr>Derivation For Pressure and Force Relation:</vt:lpstr>
      <vt:lpstr>Derivation For Pressure and Force Relation:</vt:lpstr>
      <vt:lpstr>Derivation For Pressure and Force Relation:</vt:lpstr>
      <vt:lpstr>Derivation For Pressure and Force Relation: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HYDRAULIC SOFT ACTUATOR</dc:title>
  <dc:creator>SHIVDAS PRASAD SHANKAR</dc:creator>
  <cp:lastModifiedBy>Suraj Varma</cp:lastModifiedBy>
  <cp:revision>8</cp:revision>
  <dcterms:created xsi:type="dcterms:W3CDTF">2026-08-07T06:11:39Z</dcterms:created>
  <dcterms:modified xsi:type="dcterms:W3CDTF">2026-08-11T01:55:43Z</dcterms:modified>
</cp:coreProperties>
</file>