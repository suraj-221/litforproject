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IT KHARE" initials="HK" lastIdx="2" clrIdx="0">
    <p:extLst>
      <p:ext uri="{19B8F6BF-5375-455C-9EA6-DF929625EA0E}">
        <p15:presenceInfo xmlns:p15="http://schemas.microsoft.com/office/powerpoint/2012/main" userId="HARSHIT KHAR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shareserver\ATRC\Suraj\Excel\pressure_table_31-8-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shareserver\ATRC\Suraj\Excel\pressure_table_31-8-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shareserver\ATRC\Suraj\Excel\pressure_table_31-8-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shareserver\ATRC\Suraj\Excel\pressure_table_31-8-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shareserver\ATRC\Suraj\Excel\pressure_table_31-8-202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shareserver\ATRC\Suraj\Excel\pressure_table_31-8-202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shareserver\ATRC\Suraj\Excel\pressure_table_31-8-202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E8951A62FC158DD/Documents/Book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E8951A62FC158DD/Documents/Book1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FE8951A62FC158DD/Documents/Book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dirty="0"/>
              <a:t>Final</a:t>
            </a:r>
            <a:r>
              <a:rPr lang="en-IN" sz="1200" baseline="0" dirty="0"/>
              <a:t> vs Initial Braid Angle</a:t>
            </a:r>
            <a:endParaRPr lang="en-IN" sz="1200" dirty="0"/>
          </a:p>
        </c:rich>
      </c:tx>
      <c:layout>
        <c:manualLayout>
          <c:xMode val="edge"/>
          <c:yMode val="edge"/>
          <c:x val="0.27881719314533127"/>
          <c:y val="1.07095046854082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4742516744139283"/>
          <c:y val="0.11427157445311611"/>
          <c:w val="0.81671424476498311"/>
          <c:h val="0.72774269643158929"/>
        </c:manualLayout>
      </c:layout>
      <c:scatterChart>
        <c:scatterStyle val="lineMarker"/>
        <c:varyColors val="0"/>
        <c:ser>
          <c:idx val="0"/>
          <c:order val="0"/>
          <c:tx>
            <c:v>CF = 0.2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Sheet3!$B$7:$B$18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Sheet3!$D$7:$D$18</c:f>
              <c:numCache>
                <c:formatCode>0.00</c:formatCode>
                <c:ptCount val="12"/>
                <c:pt idx="0">
                  <c:v>37.15962582046766</c:v>
                </c:pt>
                <c:pt idx="1">
                  <c:v>38.015311136851025</c:v>
                </c:pt>
                <c:pt idx="2">
                  <c:v>39.399360218972305</c:v>
                </c:pt>
                <c:pt idx="3">
                  <c:v>41.257447542647988</c:v>
                </c:pt>
                <c:pt idx="4">
                  <c:v>43.527306271775643</c:v>
                </c:pt>
                <c:pt idx="5">
                  <c:v>46.146221387977931</c:v>
                </c:pt>
                <c:pt idx="6">
                  <c:v>49.055957443335402</c:v>
                </c:pt>
                <c:pt idx="7">
                  <c:v>52.205184370361643</c:v>
                </c:pt>
                <c:pt idx="8">
                  <c:v>55.550098012046497</c:v>
                </c:pt>
                <c:pt idx="9">
                  <c:v>59.053993144901305</c:v>
                </c:pt>
                <c:pt idx="10">
                  <c:v>61.950889372276265</c:v>
                </c:pt>
                <c:pt idx="11">
                  <c:v>62.465276009870536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64E-4C9B-8CCF-38C5E69774B2}"/>
            </c:ext>
          </c:extLst>
        </c:ser>
        <c:ser>
          <c:idx val="1"/>
          <c:order val="1"/>
          <c:tx>
            <c:v>CF = 0.25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Sheet3!$B$7:$B$18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Sheet3!$E$7:$E$18</c:f>
              <c:numCache>
                <c:formatCode>0.00</c:formatCode>
                <c:ptCount val="12"/>
                <c:pt idx="0">
                  <c:v>41.656241261140863</c:v>
                </c:pt>
                <c:pt idx="1">
                  <c:v>42.387212581859202</c:v>
                </c:pt>
                <c:pt idx="2">
                  <c:v>43.577354447599106</c:v>
                </c:pt>
                <c:pt idx="3">
                  <c:v>45.189077466471979</c:v>
                </c:pt>
                <c:pt idx="4">
                  <c:v>47.177386467398861</c:v>
                </c:pt>
                <c:pt idx="5">
                  <c:v>49.494649672581403</c:v>
                </c:pt>
                <c:pt idx="6">
                  <c:v>52.094275666322638</c:v>
                </c:pt>
                <c:pt idx="7">
                  <c:v>54.933042277917508</c:v>
                </c:pt>
                <c:pt idx="8">
                  <c:v>57.972239886184994</c:v>
                </c:pt>
                <c:pt idx="9">
                  <c:v>61.177961345427633</c:v>
                </c:pt>
                <c:pt idx="10">
                  <c:v>63.842578985804401</c:v>
                </c:pt>
                <c:pt idx="11">
                  <c:v>64.316904144008618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64E-4C9B-8CCF-38C5E69774B2}"/>
            </c:ext>
          </c:extLst>
        </c:ser>
        <c:ser>
          <c:idx val="2"/>
          <c:order val="2"/>
          <c:tx>
            <c:v>CF = 0.3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Sheet3!$B$7:$B$18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Sheet3!$F$7:$F$18</c:f>
              <c:numCache>
                <c:formatCode>0.00</c:formatCode>
                <c:ptCount val="12"/>
                <c:pt idx="0">
                  <c:v>45.786317173406104</c:v>
                </c:pt>
                <c:pt idx="1">
                  <c:v>46.420102104823698</c:v>
                </c:pt>
                <c:pt idx="2">
                  <c:v>47.456631335587296</c:v>
                </c:pt>
                <c:pt idx="3">
                  <c:v>48.868850298757593</c:v>
                </c:pt>
                <c:pt idx="4">
                  <c:v>50.623356973248896</c:v>
                </c:pt>
                <c:pt idx="5">
                  <c:v>52.68347639888885</c:v>
                </c:pt>
                <c:pt idx="6">
                  <c:v>55.011890199711345</c:v>
                </c:pt>
                <c:pt idx="7">
                  <c:v>57.572559149126739</c:v>
                </c:pt>
                <c:pt idx="8">
                  <c:v>60.331914871192986</c:v>
                </c:pt>
                <c:pt idx="9">
                  <c:v>63.259438829645866</c:v>
                </c:pt>
                <c:pt idx="10">
                  <c:v>65.704066198086423</c:v>
                </c:pt>
                <c:pt idx="11">
                  <c:v>66.140180517526659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64E-4C9B-8CCF-38C5E69774B2}"/>
            </c:ext>
          </c:extLst>
        </c:ser>
        <c:ser>
          <c:idx val="3"/>
          <c:order val="3"/>
          <c:tx>
            <c:v>CF = 0.35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Sheet3!$B$7:$B$18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Sheet3!$G$7:$G$18</c:f>
              <c:numCache>
                <c:formatCode>0.00</c:formatCode>
                <c:ptCount val="12"/>
                <c:pt idx="0">
                  <c:v>49.644626823527332</c:v>
                </c:pt>
                <c:pt idx="1">
                  <c:v>50.198855991319128</c:v>
                </c:pt>
                <c:pt idx="2">
                  <c:v>51.108191483442653</c:v>
                </c:pt>
                <c:pt idx="3">
                  <c:v>52.352614595948801</c:v>
                </c:pt>
                <c:pt idx="4">
                  <c:v>53.906828182068914</c:v>
                </c:pt>
                <c:pt idx="5">
                  <c:v>55.742265050523045</c:v>
                </c:pt>
                <c:pt idx="6">
                  <c:v>57.82893787517505</c:v>
                </c:pt>
                <c:pt idx="7">
                  <c:v>60.136929328623225</c:v>
                </c:pt>
                <c:pt idx="8">
                  <c:v>62.637448690589252</c:v>
                </c:pt>
                <c:pt idx="9">
                  <c:v>65.303476610740717</c:v>
                </c:pt>
                <c:pt idx="10">
                  <c:v>67.538632030310751</c:v>
                </c:pt>
                <c:pt idx="11">
                  <c:v>67.938137711665362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64E-4C9B-8CCF-38C5E69774B2}"/>
            </c:ext>
          </c:extLst>
        </c:ser>
        <c:ser>
          <c:idx val="4"/>
          <c:order val="4"/>
          <c:tx>
            <c:v>Line of 54.7deg</c:v>
          </c:tx>
          <c:spPr>
            <a:ln w="2222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Sheet3!$B$7:$B$18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Sheet3!$B$282:$B$293</c:f>
              <c:numCache>
                <c:formatCode>General</c:formatCode>
                <c:ptCount val="12"/>
                <c:pt idx="0">
                  <c:v>54.7</c:v>
                </c:pt>
                <c:pt idx="1">
                  <c:v>54.7</c:v>
                </c:pt>
                <c:pt idx="2">
                  <c:v>54.7</c:v>
                </c:pt>
                <c:pt idx="3">
                  <c:v>54.7</c:v>
                </c:pt>
                <c:pt idx="4">
                  <c:v>54.7</c:v>
                </c:pt>
                <c:pt idx="5">
                  <c:v>54.7</c:v>
                </c:pt>
                <c:pt idx="6">
                  <c:v>54.7</c:v>
                </c:pt>
                <c:pt idx="7">
                  <c:v>54.7</c:v>
                </c:pt>
                <c:pt idx="8">
                  <c:v>54.7</c:v>
                </c:pt>
                <c:pt idx="9">
                  <c:v>54.7</c:v>
                </c:pt>
                <c:pt idx="10">
                  <c:v>54.7</c:v>
                </c:pt>
                <c:pt idx="11">
                  <c:v>54.7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64E-4C9B-8CCF-38C5E6977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28191"/>
        <c:axId val="4831519"/>
      </c:scatterChart>
      <c:valAx>
        <c:axId val="48281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Initial Braid Angle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31519"/>
        <c:crosses val="autoZero"/>
        <c:crossBetween val="midCat"/>
        <c:majorUnit val="5"/>
      </c:valAx>
      <c:valAx>
        <c:axId val="4831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Final</a:t>
                </a:r>
                <a:r>
                  <a:rPr lang="en-IN" baseline="0"/>
                  <a:t> Braid Angle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2819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1438662949212077"/>
          <c:y val="0.62672974207662258"/>
          <c:w val="0.40422990994383912"/>
          <c:h val="0.173319643708336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1" i="0" baseline="0" dirty="0">
                <a:effectLst/>
              </a:rPr>
              <a:t>Pressure vs Braid Angle D = 30mm</a:t>
            </a:r>
            <a:endParaRPr lang="en-IN" sz="1100" b="1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3027627857197463"/>
          <c:y val="0.14519020946449437"/>
          <c:w val="0.82943893178401251"/>
          <c:h val="0.6981096522740976"/>
        </c:manualLayout>
      </c:layout>
      <c:scatterChart>
        <c:scatterStyle val="lineMarker"/>
        <c:varyColors val="0"/>
        <c:ser>
          <c:idx val="0"/>
          <c:order val="0"/>
          <c:tx>
            <c:v>CF = 0.2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Sheet3!$B$72:$B$83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Sheet3!$J$72:$J$83</c:f>
              <c:numCache>
                <c:formatCode>0.000</c:formatCode>
                <c:ptCount val="12"/>
                <c:pt idx="0">
                  <c:v>-1.2266182674187274</c:v>
                </c:pt>
                <c:pt idx="1">
                  <c:v>-0.60658204801048121</c:v>
                </c:pt>
                <c:pt idx="2">
                  <c:v>-0.22275740361904484</c:v>
                </c:pt>
                <c:pt idx="3">
                  <c:v>7.5504631872961012E-2</c:v>
                </c:pt>
                <c:pt idx="4">
                  <c:v>0.34030104026968966</c:v>
                </c:pt>
                <c:pt idx="5">
                  <c:v>0.6041249457163721</c:v>
                </c:pt>
                <c:pt idx="6">
                  <c:v>0.90691631983043608</c:v>
                </c:pt>
                <c:pt idx="7">
                  <c:v>1.3629882778881899</c:v>
                </c:pt>
                <c:pt idx="8">
                  <c:v>1.9465476265385833</c:v>
                </c:pt>
                <c:pt idx="9">
                  <c:v>1.302800341415314</c:v>
                </c:pt>
                <c:pt idx="10">
                  <c:v>1.1383661378412417</c:v>
                </c:pt>
                <c:pt idx="11">
                  <c:v>1.1182215498240873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D97-4EBB-84DA-8D2063159F2A}"/>
            </c:ext>
          </c:extLst>
        </c:ser>
        <c:ser>
          <c:idx val="1"/>
          <c:order val="1"/>
          <c:tx>
            <c:v>CF = 0.25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Sheet3!$B$72:$B$83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Sheet3!$K$72:$K$83</c:f>
              <c:numCache>
                <c:formatCode>0.000</c:formatCode>
                <c:ptCount val="12"/>
                <c:pt idx="0">
                  <c:v>-1.0988691984035959</c:v>
                </c:pt>
                <c:pt idx="1">
                  <c:v>-0.47489923634985148</c:v>
                </c:pt>
                <c:pt idx="2">
                  <c:v>-8.3628913651551201E-2</c:v>
                </c:pt>
                <c:pt idx="3">
                  <c:v>0.22745628129994661</c:v>
                </c:pt>
                <c:pt idx="4">
                  <c:v>0.51483202969708408</c:v>
                </c:pt>
                <c:pt idx="5">
                  <c:v>0.82330867480817294</c:v>
                </c:pt>
                <c:pt idx="6">
                  <c:v>1.245163558050236</c:v>
                </c:pt>
                <c:pt idx="7">
                  <c:v>2.4774656455518809</c:v>
                </c:pt>
                <c:pt idx="8">
                  <c:v>1.3547875918504291</c:v>
                </c:pt>
                <c:pt idx="9">
                  <c:v>1.1370389456321792</c:v>
                </c:pt>
                <c:pt idx="10">
                  <c:v>1.0454344604415453</c:v>
                </c:pt>
                <c:pt idx="11">
                  <c:v>1.0331692284970662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D97-4EBB-84DA-8D2063159F2A}"/>
            </c:ext>
          </c:extLst>
        </c:ser>
        <c:ser>
          <c:idx val="2"/>
          <c:order val="2"/>
          <c:tx>
            <c:v>CF = 0.3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Sheet3!$B$72:$B$83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Sheet3!$L$72:$L$83</c:f>
              <c:numCache>
                <c:formatCode>0.000</c:formatCode>
                <c:ptCount val="12"/>
                <c:pt idx="0">
                  <c:v>-0.93142567642188501</c:v>
                </c:pt>
                <c:pt idx="1">
                  <c:v>-0.30009912872022321</c:v>
                </c:pt>
                <c:pt idx="2">
                  <c:v>0.10563773970576702</c:v>
                </c:pt>
                <c:pt idx="3">
                  <c:v>0.4434625437504725</c:v>
                </c:pt>
                <c:pt idx="4">
                  <c:v>0.78462301042092863</c:v>
                </c:pt>
                <c:pt idx="5">
                  <c:v>1.2368537568107867</c:v>
                </c:pt>
                <c:pt idx="6">
                  <c:v>2.2327963614357969</c:v>
                </c:pt>
                <c:pt idx="7">
                  <c:v>1.3278851683680801</c:v>
                </c:pt>
                <c:pt idx="8">
                  <c:v>1.1253617439297332</c:v>
                </c:pt>
                <c:pt idx="9">
                  <c:v>1.0241605063451749</c:v>
                </c:pt>
                <c:pt idx="10">
                  <c:v>0.97347527675042578</c:v>
                </c:pt>
                <c:pt idx="11">
                  <c:v>0.96632849540643129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D97-4EBB-84DA-8D2063159F2A}"/>
            </c:ext>
          </c:extLst>
        </c:ser>
        <c:ser>
          <c:idx val="3"/>
          <c:order val="3"/>
          <c:tx>
            <c:v>CF = 0.35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Sheet3!$B$72:$B$83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Sheet3!$M$72:$M$83</c:f>
              <c:numCache>
                <c:formatCode>0.000</c:formatCode>
                <c:ptCount val="12"/>
                <c:pt idx="0">
                  <c:v>-0.68117441265055745</c:v>
                </c:pt>
                <c:pt idx="1">
                  <c:v>-3.1388475345702771E-2</c:v>
                </c:pt>
                <c:pt idx="2">
                  <c:v>0.41414452428638193</c:v>
                </c:pt>
                <c:pt idx="3">
                  <c:v>0.84135301360464321</c:v>
                </c:pt>
                <c:pt idx="4">
                  <c:v>1.4875164342119869</c:v>
                </c:pt>
                <c:pt idx="5">
                  <c:v>1.5540705135680448</c:v>
                </c:pt>
                <c:pt idx="6">
                  <c:v>1.1921943209852004</c:v>
                </c:pt>
                <c:pt idx="7">
                  <c:v>1.0571926893136421</c:v>
                </c:pt>
                <c:pt idx="8">
                  <c:v>0.98482998450437553</c:v>
                </c:pt>
                <c:pt idx="9">
                  <c:v>0.94026539130883147</c:v>
                </c:pt>
                <c:pt idx="10">
                  <c:v>0.91574741448874819</c:v>
                </c:pt>
                <c:pt idx="11">
                  <c:v>0.91217141354402331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D97-4EBB-84DA-8D2063159F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9480256"/>
        <c:axId val="1499491072"/>
      </c:scatterChart>
      <c:valAx>
        <c:axId val="14994802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/>
                  <a:t>Initial Braid</a:t>
                </a:r>
                <a:r>
                  <a:rPr lang="en-IN" b="1" baseline="0" dirty="0"/>
                  <a:t> Angle</a:t>
                </a:r>
                <a:endParaRPr lang="en-IN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491072"/>
        <c:crosses val="autoZero"/>
        <c:crossBetween val="midCat"/>
        <c:majorUnit val="5"/>
      </c:valAx>
      <c:valAx>
        <c:axId val="149949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 dirty="0"/>
                  <a:t>Log Pressure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4802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b="1" i="0" baseline="0" dirty="0">
                <a:effectLst/>
              </a:rPr>
              <a:t>Pressure vs Braid Angle D = 30mm</a:t>
            </a:r>
            <a:endParaRPr lang="en-IN" sz="105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7159149332761986"/>
          <c:y val="0.1081462011511992"/>
          <c:w val="0.7863215461503632"/>
          <c:h val="0.73732380369925155"/>
        </c:manualLayout>
      </c:layout>
      <c:scatterChart>
        <c:scatterStyle val="lineMarker"/>
        <c:varyColors val="0"/>
        <c:ser>
          <c:idx val="0"/>
          <c:order val="0"/>
          <c:tx>
            <c:v>CF = 0.2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Sheet3!$B$72:$B$83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Sheet3!$F$72:$F$83</c:f>
              <c:numCache>
                <c:formatCode>0.000</c:formatCode>
                <c:ptCount val="12"/>
                <c:pt idx="0">
                  <c:v>5.9344671830245402E-2</c:v>
                </c:pt>
                <c:pt idx="1">
                  <c:v>0.24741040032010272</c:v>
                </c:pt>
                <c:pt idx="2">
                  <c:v>0.59874596044480954</c:v>
                </c:pt>
                <c:pt idx="3">
                  <c:v>1.1898840195405458</c:v>
                </c:pt>
                <c:pt idx="4">
                  <c:v>2.1892786422220807</c:v>
                </c:pt>
                <c:pt idx="5">
                  <c:v>4.0190642194923019</c:v>
                </c:pt>
                <c:pt idx="6">
                  <c:v>8.0707950661293548</c:v>
                </c:pt>
                <c:pt idx="7">
                  <c:v>23.066849277780722</c:v>
                </c:pt>
                <c:pt idx="8">
                  <c:v>-88.419412828831625</c:v>
                </c:pt>
                <c:pt idx="9">
                  <c:v>-20.081693828812508</c:v>
                </c:pt>
                <c:pt idx="10">
                  <c:v>-13.752008681391429</c:v>
                </c:pt>
                <c:pt idx="11">
                  <c:v>-13.128694719345559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BA1-4B45-9526-240E09D4DAA0}"/>
            </c:ext>
          </c:extLst>
        </c:ser>
        <c:ser>
          <c:idx val="1"/>
          <c:order val="1"/>
          <c:tx>
            <c:v>CF = 0.25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Sheet3!$B$72:$B$83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Sheet3!$G$72:$G$83</c:f>
              <c:numCache>
                <c:formatCode>0.000</c:formatCode>
                <c:ptCount val="12"/>
                <c:pt idx="0">
                  <c:v>7.963991752419812E-2</c:v>
                </c:pt>
                <c:pt idx="1">
                  <c:v>0.33504316581010835</c:v>
                </c:pt>
                <c:pt idx="2">
                  <c:v>0.8248426072678684</c:v>
                </c:pt>
                <c:pt idx="3">
                  <c:v>1.6883258938719505</c:v>
                </c:pt>
                <c:pt idx="4">
                  <c:v>3.2721411513522645</c:v>
                </c:pt>
                <c:pt idx="5">
                  <c:v>6.6574616718178383</c:v>
                </c:pt>
                <c:pt idx="6">
                  <c:v>17.585857837972494</c:v>
                </c:pt>
                <c:pt idx="7">
                  <c:v>-300.23799110864672</c:v>
                </c:pt>
                <c:pt idx="8">
                  <c:v>-22.635369684180699</c:v>
                </c:pt>
                <c:pt idx="9">
                  <c:v>-13.710047063660474</c:v>
                </c:pt>
                <c:pt idx="10">
                  <c:v>-11.102849691299756</c:v>
                </c:pt>
                <c:pt idx="11">
                  <c:v>-10.793672297850641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BA1-4B45-9526-240E09D4DAA0}"/>
            </c:ext>
          </c:extLst>
        </c:ser>
        <c:ser>
          <c:idx val="2"/>
          <c:order val="2"/>
          <c:tx>
            <c:v>CF = 0.3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Sheet3!$B$72:$B$83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Sheet3!$H$72:$H$83</c:f>
              <c:numCache>
                <c:formatCode>0.000</c:formatCode>
                <c:ptCount val="12"/>
                <c:pt idx="0">
                  <c:v>0.11710469938960771</c:v>
                </c:pt>
                <c:pt idx="1">
                  <c:v>0.50107284953642672</c:v>
                </c:pt>
                <c:pt idx="2">
                  <c:v>1.2753745302676796</c:v>
                </c:pt>
                <c:pt idx="3">
                  <c:v>2.7762753925719146</c:v>
                </c:pt>
                <c:pt idx="4">
                  <c:v>6.0900801796014461</c:v>
                </c:pt>
                <c:pt idx="5">
                  <c:v>17.252568356845014</c:v>
                </c:pt>
                <c:pt idx="6">
                  <c:v>-170.92136852048537</c:v>
                </c:pt>
                <c:pt idx="7">
                  <c:v>-21.275764199657381</c:v>
                </c:pt>
                <c:pt idx="8">
                  <c:v>-13.346326464729165</c:v>
                </c:pt>
                <c:pt idx="9">
                  <c:v>-10.572081595027688</c:v>
                </c:pt>
                <c:pt idx="10">
                  <c:v>-9.4075227394444543</c:v>
                </c:pt>
                <c:pt idx="11">
                  <c:v>-9.2539786970704192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BA1-4B45-9526-240E09D4DAA0}"/>
            </c:ext>
          </c:extLst>
        </c:ser>
        <c:ser>
          <c:idx val="3"/>
          <c:order val="3"/>
          <c:tx>
            <c:v>CF = 0.35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Sheet3!$B$72:$B$83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Sheet3!$I$72:$I$83</c:f>
              <c:numCache>
                <c:formatCode>0.000</c:formatCode>
                <c:ptCount val="12"/>
                <c:pt idx="0">
                  <c:v>0.208365391969632</c:v>
                </c:pt>
                <c:pt idx="1">
                  <c:v>0.93027537415443684</c:v>
                </c:pt>
                <c:pt idx="2">
                  <c:v>2.5950427954037427</c:v>
                </c:pt>
                <c:pt idx="3">
                  <c:v>6.9398968206845151</c:v>
                </c:pt>
                <c:pt idx="4">
                  <c:v>30.726736366376688</c:v>
                </c:pt>
                <c:pt idx="5">
                  <c:v>-35.815458361045479</c:v>
                </c:pt>
                <c:pt idx="6">
                  <c:v>-15.566619895845381</c:v>
                </c:pt>
                <c:pt idx="7">
                  <c:v>-11.407558098733187</c:v>
                </c:pt>
                <c:pt idx="8">
                  <c:v>-9.6567276809644529</c:v>
                </c:pt>
                <c:pt idx="9">
                  <c:v>-8.7149598632814484</c:v>
                </c:pt>
                <c:pt idx="10">
                  <c:v>-8.2365893594653148</c:v>
                </c:pt>
                <c:pt idx="11">
                  <c:v>-8.1690473535596144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BA1-4B45-9526-240E09D4DA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32494111"/>
        <c:axId val="2032494527"/>
      </c:scatterChart>
      <c:valAx>
        <c:axId val="20324941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Initial Braid Angle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2494527"/>
        <c:crosses val="autoZero"/>
        <c:crossBetween val="midCat"/>
        <c:majorUnit val="5"/>
      </c:valAx>
      <c:valAx>
        <c:axId val="2032494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Relative Pressure</a:t>
                </a:r>
              </a:p>
            </c:rich>
          </c:tx>
          <c:layout>
            <c:manualLayout>
              <c:xMode val="edge"/>
              <c:yMode val="edge"/>
              <c:x val="1.3524087571342224E-2"/>
              <c:y val="0.403013031033299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24941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/>
              <a:t>Pressure vs Braid Angle CF = 0.2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D16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Sheet3!$J$26:$J$37</c:f>
              <c:numCache>
                <c:formatCode>0.000</c:formatCode>
                <c:ptCount val="12"/>
                <c:pt idx="0">
                  <c:v>-0.68061572329125219</c:v>
                </c:pt>
                <c:pt idx="1">
                  <c:v>-6.0579503883005884E-2</c:v>
                </c:pt>
                <c:pt idx="2">
                  <c:v>0.32324514050843051</c:v>
                </c:pt>
                <c:pt idx="3">
                  <c:v>0.62150717600043637</c:v>
                </c:pt>
                <c:pt idx="4">
                  <c:v>0.88630358439716495</c:v>
                </c:pt>
                <c:pt idx="5">
                  <c:v>1.1501274898438474</c:v>
                </c:pt>
                <c:pt idx="6">
                  <c:v>1.4529188639579114</c:v>
                </c:pt>
                <c:pt idx="7">
                  <c:v>1.9089908220156651</c:v>
                </c:pt>
                <c:pt idx="8">
                  <c:v>2.4925501706660587</c:v>
                </c:pt>
                <c:pt idx="9">
                  <c:v>1.8488028855427894</c:v>
                </c:pt>
                <c:pt idx="10">
                  <c:v>1.6843686819687169</c:v>
                </c:pt>
                <c:pt idx="11">
                  <c:v>1.6642240939515627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19D-48AC-B6BE-AAC614905917}"/>
            </c:ext>
          </c:extLst>
        </c:ser>
        <c:ser>
          <c:idx val="1"/>
          <c:order val="1"/>
          <c:tx>
            <c:v>D20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Sheet3!$J$56:$J$67</c:f>
              <c:numCache>
                <c:formatCode>0.000</c:formatCode>
                <c:ptCount val="12"/>
                <c:pt idx="0">
                  <c:v>-0.87443574930736512</c:v>
                </c:pt>
                <c:pt idx="1">
                  <c:v>-0.25439952989911863</c:v>
                </c:pt>
                <c:pt idx="2">
                  <c:v>0.12942511449231761</c:v>
                </c:pt>
                <c:pt idx="3">
                  <c:v>0.42768714998432344</c:v>
                </c:pt>
                <c:pt idx="4">
                  <c:v>0.69248355838105213</c:v>
                </c:pt>
                <c:pt idx="5">
                  <c:v>0.95630746382773468</c:v>
                </c:pt>
                <c:pt idx="6">
                  <c:v>1.2590988379417984</c:v>
                </c:pt>
                <c:pt idx="7">
                  <c:v>1.7151707959995524</c:v>
                </c:pt>
                <c:pt idx="8">
                  <c:v>2.2987301446499457</c:v>
                </c:pt>
                <c:pt idx="9">
                  <c:v>1.6549828595266765</c:v>
                </c:pt>
                <c:pt idx="10">
                  <c:v>1.4905486559526042</c:v>
                </c:pt>
                <c:pt idx="11">
                  <c:v>1.4704040679354498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19D-48AC-B6BE-AAC614905917}"/>
            </c:ext>
          </c:extLst>
        </c:ser>
        <c:ser>
          <c:idx val="2"/>
          <c:order val="2"/>
          <c:tx>
            <c:v>D30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Sheet3!$J$72:$J$83</c:f>
              <c:numCache>
                <c:formatCode>0.000</c:formatCode>
                <c:ptCount val="12"/>
                <c:pt idx="0">
                  <c:v>-1.2266182674187274</c:v>
                </c:pt>
                <c:pt idx="1">
                  <c:v>-0.60658204801048121</c:v>
                </c:pt>
                <c:pt idx="2">
                  <c:v>-0.22275740361904484</c:v>
                </c:pt>
                <c:pt idx="3">
                  <c:v>7.5504631872961012E-2</c:v>
                </c:pt>
                <c:pt idx="4">
                  <c:v>0.34030104026968966</c:v>
                </c:pt>
                <c:pt idx="5">
                  <c:v>0.6041249457163721</c:v>
                </c:pt>
                <c:pt idx="6">
                  <c:v>0.90691631983043608</c:v>
                </c:pt>
                <c:pt idx="7">
                  <c:v>1.3629882778881899</c:v>
                </c:pt>
                <c:pt idx="8">
                  <c:v>1.9465476265385833</c:v>
                </c:pt>
                <c:pt idx="9">
                  <c:v>1.302800341415314</c:v>
                </c:pt>
                <c:pt idx="10">
                  <c:v>1.1383661378412417</c:v>
                </c:pt>
                <c:pt idx="11">
                  <c:v>1.1182215498240873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19D-48AC-B6BE-AAC614905917}"/>
            </c:ext>
          </c:extLst>
        </c:ser>
        <c:ser>
          <c:idx val="3"/>
          <c:order val="3"/>
          <c:tx>
            <c:v>D40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Sheet3!$J$88:$J$99</c:f>
              <c:numCache>
                <c:formatCode>0.000</c:formatCode>
                <c:ptCount val="12"/>
                <c:pt idx="0">
                  <c:v>-1.4764957406353274</c:v>
                </c:pt>
                <c:pt idx="1">
                  <c:v>-0.85645952122708102</c:v>
                </c:pt>
                <c:pt idx="2">
                  <c:v>-0.47263487683564476</c:v>
                </c:pt>
                <c:pt idx="3">
                  <c:v>-0.17437284134363895</c:v>
                </c:pt>
                <c:pt idx="4">
                  <c:v>9.0423567053089751E-2</c:v>
                </c:pt>
                <c:pt idx="5">
                  <c:v>0.35424747249977229</c:v>
                </c:pt>
                <c:pt idx="6">
                  <c:v>0.65703884661383605</c:v>
                </c:pt>
                <c:pt idx="7">
                  <c:v>1.1131108046715898</c:v>
                </c:pt>
                <c:pt idx="8">
                  <c:v>1.6966701533219835</c:v>
                </c:pt>
                <c:pt idx="9">
                  <c:v>1.0529228681987139</c:v>
                </c:pt>
                <c:pt idx="10">
                  <c:v>0.88848866462464182</c:v>
                </c:pt>
                <c:pt idx="11">
                  <c:v>0.86834407660748736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19D-48AC-B6BE-AAC614905917}"/>
            </c:ext>
          </c:extLst>
        </c:ser>
        <c:ser>
          <c:idx val="4"/>
          <c:order val="4"/>
          <c:tx>
            <c:v>D50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Sheet3!$J$107:$J$118</c:f>
              <c:numCache>
                <c:formatCode>0.000</c:formatCode>
                <c:ptCount val="12"/>
                <c:pt idx="0">
                  <c:v>-1.6703157666514403</c:v>
                </c:pt>
                <c:pt idx="1">
                  <c:v>-1.0502795472431941</c:v>
                </c:pt>
                <c:pt idx="2">
                  <c:v>-0.66645490285175757</c:v>
                </c:pt>
                <c:pt idx="3">
                  <c:v>-0.36819286735975187</c:v>
                </c:pt>
                <c:pt idx="4">
                  <c:v>-0.10339645896302313</c:v>
                </c:pt>
                <c:pt idx="5">
                  <c:v>0.16042744648365936</c:v>
                </c:pt>
                <c:pt idx="6">
                  <c:v>0.46321882059772329</c:v>
                </c:pt>
                <c:pt idx="7">
                  <c:v>0.91929077865547715</c:v>
                </c:pt>
                <c:pt idx="8">
                  <c:v>1.5028501273058705</c:v>
                </c:pt>
                <c:pt idx="9">
                  <c:v>0.85910284218260113</c:v>
                </c:pt>
                <c:pt idx="10">
                  <c:v>0.6946686386085289</c:v>
                </c:pt>
                <c:pt idx="11">
                  <c:v>0.67452405059137444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19D-48AC-B6BE-AAC614905917}"/>
            </c:ext>
          </c:extLst>
        </c:ser>
        <c:ser>
          <c:idx val="5"/>
          <c:order val="5"/>
          <c:tx>
            <c:v>D60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Sheet3!$B$123:$B$134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Sheet3!$J$123:$J$134</c:f>
              <c:numCache>
                <c:formatCode>0.000</c:formatCode>
                <c:ptCount val="12"/>
                <c:pt idx="0">
                  <c:v>-1.8286782587466899</c:v>
                </c:pt>
                <c:pt idx="1">
                  <c:v>-1.2086420393384436</c:v>
                </c:pt>
                <c:pt idx="2">
                  <c:v>-0.82481739494700723</c:v>
                </c:pt>
                <c:pt idx="3">
                  <c:v>-0.52655535945500143</c:v>
                </c:pt>
                <c:pt idx="4">
                  <c:v>-0.26175895105827274</c:v>
                </c:pt>
                <c:pt idx="5">
                  <c:v>2.0649543884097574E-3</c:v>
                </c:pt>
                <c:pt idx="6">
                  <c:v>0.30485632850247368</c:v>
                </c:pt>
                <c:pt idx="7">
                  <c:v>0.76092828656022748</c:v>
                </c:pt>
                <c:pt idx="8">
                  <c:v>1.3444876352106208</c:v>
                </c:pt>
                <c:pt idx="9">
                  <c:v>0.70074035008735158</c:v>
                </c:pt>
                <c:pt idx="10">
                  <c:v>0.53630614651327924</c:v>
                </c:pt>
                <c:pt idx="11">
                  <c:v>0.51616155849612488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19D-48AC-B6BE-AAC614905917}"/>
            </c:ext>
          </c:extLst>
        </c:ser>
        <c:ser>
          <c:idx val="6"/>
          <c:order val="6"/>
          <c:tx>
            <c:v>D25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Sheet3!$B$139:$B$150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Sheet3!$J$139:$J$150</c:f>
              <c:numCache>
                <c:formatCode>0.000</c:formatCode>
                <c:ptCount val="12"/>
                <c:pt idx="0">
                  <c:v>-1.0682557753234778</c:v>
                </c:pt>
                <c:pt idx="1">
                  <c:v>-0.4482195559152316</c:v>
                </c:pt>
                <c:pt idx="2">
                  <c:v>-6.4394911523795229E-2</c:v>
                </c:pt>
                <c:pt idx="3">
                  <c:v>0.23386712396821052</c:v>
                </c:pt>
                <c:pt idx="4">
                  <c:v>0.49866353236493927</c:v>
                </c:pt>
                <c:pt idx="5">
                  <c:v>0.76248743781162176</c:v>
                </c:pt>
                <c:pt idx="6">
                  <c:v>1.0652788119256857</c:v>
                </c:pt>
                <c:pt idx="7">
                  <c:v>1.5213507699834394</c:v>
                </c:pt>
                <c:pt idx="8">
                  <c:v>2.1049101186338328</c:v>
                </c:pt>
                <c:pt idx="9">
                  <c:v>1.4611628335105635</c:v>
                </c:pt>
                <c:pt idx="10">
                  <c:v>1.2967286299364913</c:v>
                </c:pt>
                <c:pt idx="11">
                  <c:v>1.2765840419193368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E19D-48AC-B6BE-AAC6149059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9492320"/>
        <c:axId val="1499477760"/>
      </c:scatterChart>
      <c:valAx>
        <c:axId val="14994923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Initial Braid Angle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477760"/>
        <c:crosses val="autoZero"/>
        <c:crossBetween val="midCat"/>
        <c:majorUnit val="5"/>
      </c:valAx>
      <c:valAx>
        <c:axId val="149947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Log Pressure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49232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baseline="0">
                <a:effectLst/>
              </a:rPr>
              <a:t>Pressure vs Braid Angle CF = 0.25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D16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Sheet3!$K$26:$K$37</c:f>
              <c:numCache>
                <c:formatCode>0.000</c:formatCode>
                <c:ptCount val="12"/>
                <c:pt idx="0">
                  <c:v>-0.55286665427612047</c:v>
                </c:pt>
                <c:pt idx="1">
                  <c:v>7.1103307777623873E-2</c:v>
                </c:pt>
                <c:pt idx="2">
                  <c:v>0.46237363047592411</c:v>
                </c:pt>
                <c:pt idx="3">
                  <c:v>0.77345882542742184</c:v>
                </c:pt>
                <c:pt idx="4">
                  <c:v>1.0608345738245593</c:v>
                </c:pt>
                <c:pt idx="5">
                  <c:v>1.3693112189356482</c:v>
                </c:pt>
                <c:pt idx="6">
                  <c:v>1.7911661021777114</c:v>
                </c:pt>
                <c:pt idx="7">
                  <c:v>3.0234681896793565</c:v>
                </c:pt>
                <c:pt idx="8">
                  <c:v>1.9007901359779042</c:v>
                </c:pt>
                <c:pt idx="9">
                  <c:v>1.6830414897596546</c:v>
                </c:pt>
                <c:pt idx="10">
                  <c:v>1.5914370045690207</c:v>
                </c:pt>
                <c:pt idx="11">
                  <c:v>1.5791717726245413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7C-4987-A750-B18A31AD0A18}"/>
            </c:ext>
          </c:extLst>
        </c:ser>
        <c:ser>
          <c:idx val="1"/>
          <c:order val="1"/>
          <c:tx>
            <c:v>D20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Sheet3!$K$56:$K$67</c:f>
              <c:numCache>
                <c:formatCode>0.000</c:formatCode>
                <c:ptCount val="12"/>
                <c:pt idx="0">
                  <c:v>-0.74668668029223328</c:v>
                </c:pt>
                <c:pt idx="1">
                  <c:v>-0.12271671823848897</c:v>
                </c:pt>
                <c:pt idx="2">
                  <c:v>0.2685536044598113</c:v>
                </c:pt>
                <c:pt idx="3">
                  <c:v>0.57963879941130902</c:v>
                </c:pt>
                <c:pt idx="4">
                  <c:v>0.86701454780844645</c:v>
                </c:pt>
                <c:pt idx="5">
                  <c:v>1.1754911929195353</c:v>
                </c:pt>
                <c:pt idx="6">
                  <c:v>1.5973460761615985</c:v>
                </c:pt>
                <c:pt idx="7">
                  <c:v>2.8296481636632436</c:v>
                </c:pt>
                <c:pt idx="8">
                  <c:v>1.7069701099617915</c:v>
                </c:pt>
                <c:pt idx="9">
                  <c:v>1.4892214637435417</c:v>
                </c:pt>
                <c:pt idx="10">
                  <c:v>1.397616978552908</c:v>
                </c:pt>
                <c:pt idx="11">
                  <c:v>1.3853517466084284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B7C-4987-A750-B18A31AD0A18}"/>
            </c:ext>
          </c:extLst>
        </c:ser>
        <c:ser>
          <c:idx val="2"/>
          <c:order val="2"/>
          <c:tx>
            <c:v>D30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Sheet3!$K$72:$K$83</c:f>
              <c:numCache>
                <c:formatCode>0.000</c:formatCode>
                <c:ptCount val="12"/>
                <c:pt idx="0">
                  <c:v>-1.0988691984035959</c:v>
                </c:pt>
                <c:pt idx="1">
                  <c:v>-0.47489923634985148</c:v>
                </c:pt>
                <c:pt idx="2">
                  <c:v>-8.3628913651551201E-2</c:v>
                </c:pt>
                <c:pt idx="3">
                  <c:v>0.22745628129994661</c:v>
                </c:pt>
                <c:pt idx="4">
                  <c:v>0.51483202969708408</c:v>
                </c:pt>
                <c:pt idx="5">
                  <c:v>0.82330867480817294</c:v>
                </c:pt>
                <c:pt idx="6">
                  <c:v>1.245163558050236</c:v>
                </c:pt>
                <c:pt idx="7">
                  <c:v>2.4774656455518809</c:v>
                </c:pt>
                <c:pt idx="8">
                  <c:v>1.3547875918504291</c:v>
                </c:pt>
                <c:pt idx="9">
                  <c:v>1.1370389456321792</c:v>
                </c:pt>
                <c:pt idx="10">
                  <c:v>1.0454344604415453</c:v>
                </c:pt>
                <c:pt idx="11">
                  <c:v>1.0331692284970662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B7C-4987-A750-B18A31AD0A18}"/>
            </c:ext>
          </c:extLst>
        </c:ser>
        <c:ser>
          <c:idx val="3"/>
          <c:order val="3"/>
          <c:tx>
            <c:v>D40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Sheet3!$K$88:$K$99</c:f>
              <c:numCache>
                <c:formatCode>0.000</c:formatCode>
                <c:ptCount val="12"/>
                <c:pt idx="0">
                  <c:v>-1.3487466716201957</c:v>
                </c:pt>
                <c:pt idx="1">
                  <c:v>-0.72477670956645135</c:v>
                </c:pt>
                <c:pt idx="2">
                  <c:v>-0.33350638686815109</c:v>
                </c:pt>
                <c:pt idx="3">
                  <c:v>-2.2421191916653312E-2</c:v>
                </c:pt>
                <c:pt idx="4">
                  <c:v>0.2649545564804841</c:v>
                </c:pt>
                <c:pt idx="5">
                  <c:v>0.5734312015915729</c:v>
                </c:pt>
                <c:pt idx="6">
                  <c:v>0.99528608483363623</c:v>
                </c:pt>
                <c:pt idx="7">
                  <c:v>2.2275881723352811</c:v>
                </c:pt>
                <c:pt idx="8">
                  <c:v>1.104910118633829</c:v>
                </c:pt>
                <c:pt idx="9">
                  <c:v>0.88716147241557941</c:v>
                </c:pt>
                <c:pt idx="10">
                  <c:v>0.7955569872249455</c:v>
                </c:pt>
                <c:pt idx="11">
                  <c:v>0.78329175528046602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B7C-4987-A750-B18A31AD0A18}"/>
            </c:ext>
          </c:extLst>
        </c:ser>
        <c:ser>
          <c:idx val="4"/>
          <c:order val="4"/>
          <c:tx>
            <c:v>D50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Sheet3!$K$107:$K$118</c:f>
              <c:numCache>
                <c:formatCode>0.000</c:formatCode>
                <c:ptCount val="12"/>
                <c:pt idx="0">
                  <c:v>-1.5425666976363086</c:v>
                </c:pt>
                <c:pt idx="1">
                  <c:v>-0.91859673558256416</c:v>
                </c:pt>
                <c:pt idx="2">
                  <c:v>-0.52732641288426396</c:v>
                </c:pt>
                <c:pt idx="3">
                  <c:v>-0.21624121793276618</c:v>
                </c:pt>
                <c:pt idx="4">
                  <c:v>7.1134530464371168E-2</c:v>
                </c:pt>
                <c:pt idx="5">
                  <c:v>0.37961117557546009</c:v>
                </c:pt>
                <c:pt idx="6">
                  <c:v>0.80146605881752342</c:v>
                </c:pt>
                <c:pt idx="7">
                  <c:v>2.0337681463191681</c:v>
                </c:pt>
                <c:pt idx="8">
                  <c:v>0.91109009261771623</c:v>
                </c:pt>
                <c:pt idx="9">
                  <c:v>0.69334144639946649</c:v>
                </c:pt>
                <c:pt idx="10">
                  <c:v>0.60173696120883269</c:v>
                </c:pt>
                <c:pt idx="11">
                  <c:v>0.58947172926435321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FB7C-4987-A750-B18A31AD0A18}"/>
            </c:ext>
          </c:extLst>
        </c:ser>
        <c:ser>
          <c:idx val="5"/>
          <c:order val="5"/>
          <c:tx>
            <c:v>D60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Sheet3!$B$123:$B$134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Sheet3!$K$123:$K$134</c:f>
              <c:numCache>
                <c:formatCode>0.000</c:formatCode>
                <c:ptCount val="12"/>
                <c:pt idx="0">
                  <c:v>-1.7009291897315582</c:v>
                </c:pt>
                <c:pt idx="1">
                  <c:v>-1.0769592276778139</c:v>
                </c:pt>
                <c:pt idx="2">
                  <c:v>-0.68568890497951362</c:v>
                </c:pt>
                <c:pt idx="3">
                  <c:v>-0.37460371002801579</c:v>
                </c:pt>
                <c:pt idx="4">
                  <c:v>-8.7227961630878356E-2</c:v>
                </c:pt>
                <c:pt idx="5">
                  <c:v>0.22124868348021054</c:v>
                </c:pt>
                <c:pt idx="6">
                  <c:v>0.64310356672227376</c:v>
                </c:pt>
                <c:pt idx="7">
                  <c:v>1.8754056542239186</c:v>
                </c:pt>
                <c:pt idx="8">
                  <c:v>0.75272760052246657</c:v>
                </c:pt>
                <c:pt idx="9">
                  <c:v>0.53497895430421694</c:v>
                </c:pt>
                <c:pt idx="10">
                  <c:v>0.44337446911358303</c:v>
                </c:pt>
                <c:pt idx="11">
                  <c:v>0.43110923716910365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B7C-4987-A750-B18A31AD0A18}"/>
            </c:ext>
          </c:extLst>
        </c:ser>
        <c:ser>
          <c:idx val="6"/>
          <c:order val="6"/>
          <c:tx>
            <c:v>D25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Sheet3!$B$139:$B$150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Sheet3!$K$139:$K$150</c:f>
              <c:numCache>
                <c:formatCode>0.000</c:formatCode>
                <c:ptCount val="12"/>
                <c:pt idx="0">
                  <c:v>-0.94050670630834621</c:v>
                </c:pt>
                <c:pt idx="1">
                  <c:v>-0.31653674425460177</c:v>
                </c:pt>
                <c:pt idx="2">
                  <c:v>7.4733578443698379E-2</c:v>
                </c:pt>
                <c:pt idx="3">
                  <c:v>0.38581877339519621</c:v>
                </c:pt>
                <c:pt idx="4">
                  <c:v>0.67319452179233352</c:v>
                </c:pt>
                <c:pt idx="5">
                  <c:v>0.98167116690342249</c:v>
                </c:pt>
                <c:pt idx="6">
                  <c:v>1.4035260501454858</c:v>
                </c:pt>
                <c:pt idx="7">
                  <c:v>2.6358281376471306</c:v>
                </c:pt>
                <c:pt idx="8">
                  <c:v>1.5131500839456786</c:v>
                </c:pt>
                <c:pt idx="9">
                  <c:v>1.295401437727429</c:v>
                </c:pt>
                <c:pt idx="10">
                  <c:v>1.2037969525367951</c:v>
                </c:pt>
                <c:pt idx="11">
                  <c:v>1.1915317205923157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FB7C-4987-A750-B18A31AD0A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9469440"/>
        <c:axId val="1499492736"/>
      </c:scatterChart>
      <c:valAx>
        <c:axId val="1499469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baseline="0" dirty="0">
                    <a:effectLst/>
                  </a:rPr>
                  <a:t>Initial Braid Angle</a:t>
                </a:r>
                <a:endParaRPr lang="en-IN" sz="10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492736"/>
        <c:crosses val="autoZero"/>
        <c:crossBetween val="midCat"/>
        <c:majorUnit val="5"/>
      </c:valAx>
      <c:valAx>
        <c:axId val="1499492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baseline="0">
                    <a:effectLst/>
                  </a:rPr>
                  <a:t>Log Pressure</a:t>
                </a:r>
                <a:endParaRPr lang="en-IN" sz="100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4694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baseline="0">
                <a:effectLst/>
              </a:rPr>
              <a:t>Pressure vs Braid Angle CF = 0.3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D16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Sheet3!$L$26:$L$37</c:f>
              <c:numCache>
                <c:formatCode>0.000</c:formatCode>
                <c:ptCount val="12"/>
                <c:pt idx="0">
                  <c:v>-0.38542313229440972</c:v>
                </c:pt>
                <c:pt idx="1">
                  <c:v>0.24590341540725197</c:v>
                </c:pt>
                <c:pt idx="2">
                  <c:v>0.65164028383324235</c:v>
                </c:pt>
                <c:pt idx="3">
                  <c:v>0.98946508787794796</c:v>
                </c:pt>
                <c:pt idx="4">
                  <c:v>1.330625554548404</c:v>
                </c:pt>
                <c:pt idx="5">
                  <c:v>1.7828563009382621</c:v>
                </c:pt>
                <c:pt idx="6">
                  <c:v>2.778798905563272</c:v>
                </c:pt>
                <c:pt idx="7">
                  <c:v>1.8738877124955555</c:v>
                </c:pt>
                <c:pt idx="8">
                  <c:v>1.6713642880572086</c:v>
                </c:pt>
                <c:pt idx="9">
                  <c:v>1.57016305047265</c:v>
                </c:pt>
                <c:pt idx="10">
                  <c:v>1.5194778208779012</c:v>
                </c:pt>
                <c:pt idx="11">
                  <c:v>1.5123310395339065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84E-48F3-895B-4969AD744BEA}"/>
            </c:ext>
          </c:extLst>
        </c:ser>
        <c:ser>
          <c:idx val="1"/>
          <c:order val="1"/>
          <c:tx>
            <c:v>D20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Sheet3!$L$56:$L$67</c:f>
              <c:numCache>
                <c:formatCode>0.000</c:formatCode>
                <c:ptCount val="12"/>
                <c:pt idx="0">
                  <c:v>-0.57924315831052253</c:v>
                </c:pt>
                <c:pt idx="1">
                  <c:v>5.208338939113917E-2</c:v>
                </c:pt>
                <c:pt idx="2">
                  <c:v>0.45782025781712959</c:v>
                </c:pt>
                <c:pt idx="3">
                  <c:v>0.79564506186183503</c:v>
                </c:pt>
                <c:pt idx="4">
                  <c:v>1.1368055285322911</c:v>
                </c:pt>
                <c:pt idx="5">
                  <c:v>1.5890362749221492</c:v>
                </c:pt>
                <c:pt idx="6">
                  <c:v>2.5849788795471591</c:v>
                </c:pt>
                <c:pt idx="7">
                  <c:v>1.6800676864794426</c:v>
                </c:pt>
                <c:pt idx="8">
                  <c:v>1.4775442620410957</c:v>
                </c:pt>
                <c:pt idx="9">
                  <c:v>1.3763430244565371</c:v>
                </c:pt>
                <c:pt idx="10">
                  <c:v>1.3256577948617883</c:v>
                </c:pt>
                <c:pt idx="11">
                  <c:v>1.3185110135177938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84E-48F3-895B-4969AD744BEA}"/>
            </c:ext>
          </c:extLst>
        </c:ser>
        <c:ser>
          <c:idx val="2"/>
          <c:order val="2"/>
          <c:tx>
            <c:v>D30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Sheet3!$L$72:$L$83</c:f>
              <c:numCache>
                <c:formatCode>0.000</c:formatCode>
                <c:ptCount val="12"/>
                <c:pt idx="0">
                  <c:v>-0.93142567642188501</c:v>
                </c:pt>
                <c:pt idx="1">
                  <c:v>-0.30009912872022321</c:v>
                </c:pt>
                <c:pt idx="2">
                  <c:v>0.10563773970576702</c:v>
                </c:pt>
                <c:pt idx="3">
                  <c:v>0.4434625437504725</c:v>
                </c:pt>
                <c:pt idx="4">
                  <c:v>0.78462301042092863</c:v>
                </c:pt>
                <c:pt idx="5">
                  <c:v>1.2368537568107867</c:v>
                </c:pt>
                <c:pt idx="6">
                  <c:v>2.2327963614357969</c:v>
                </c:pt>
                <c:pt idx="7">
                  <c:v>1.3278851683680801</c:v>
                </c:pt>
                <c:pt idx="8">
                  <c:v>1.1253617439297332</c:v>
                </c:pt>
                <c:pt idx="9">
                  <c:v>1.0241605063451749</c:v>
                </c:pt>
                <c:pt idx="10">
                  <c:v>0.97347527675042578</c:v>
                </c:pt>
                <c:pt idx="11">
                  <c:v>0.96632849540643129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84E-48F3-895B-4969AD744BEA}"/>
            </c:ext>
          </c:extLst>
        </c:ser>
        <c:ser>
          <c:idx val="3"/>
          <c:order val="3"/>
          <c:tx>
            <c:v>D40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Sheet3!$L$88:$L$99</c:f>
              <c:numCache>
                <c:formatCode>0.000</c:formatCode>
                <c:ptCount val="12"/>
                <c:pt idx="0">
                  <c:v>-1.1813031496384849</c:v>
                </c:pt>
                <c:pt idx="1">
                  <c:v>-0.54997660193682318</c:v>
                </c:pt>
                <c:pt idx="2">
                  <c:v>-0.1442397335108328</c:v>
                </c:pt>
                <c:pt idx="3">
                  <c:v>0.19358507053387264</c:v>
                </c:pt>
                <c:pt idx="4">
                  <c:v>0.53474553720432871</c:v>
                </c:pt>
                <c:pt idx="5">
                  <c:v>0.98697628359418688</c:v>
                </c:pt>
                <c:pt idx="6">
                  <c:v>1.9829188882191966</c:v>
                </c:pt>
                <c:pt idx="7">
                  <c:v>1.0780076951514803</c:v>
                </c:pt>
                <c:pt idx="8">
                  <c:v>0.87548427071313339</c:v>
                </c:pt>
                <c:pt idx="9">
                  <c:v>0.77428303312857483</c:v>
                </c:pt>
                <c:pt idx="10">
                  <c:v>0.72359780353382575</c:v>
                </c:pt>
                <c:pt idx="11">
                  <c:v>0.71645102218983137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84E-48F3-895B-4969AD744BEA}"/>
            </c:ext>
          </c:extLst>
        </c:ser>
        <c:ser>
          <c:idx val="4"/>
          <c:order val="4"/>
          <c:tx>
            <c:v>D50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Sheet3!$L$107:$L$118</c:f>
              <c:numCache>
                <c:formatCode>0.000</c:formatCode>
                <c:ptCount val="12"/>
                <c:pt idx="0">
                  <c:v>-1.3751231756545979</c:v>
                </c:pt>
                <c:pt idx="1">
                  <c:v>-0.743796627952936</c:v>
                </c:pt>
                <c:pt idx="2">
                  <c:v>-0.33805975952694572</c:v>
                </c:pt>
                <c:pt idx="3">
                  <c:v>-2.3495548224017256E-4</c:v>
                </c:pt>
                <c:pt idx="4">
                  <c:v>0.34092551118821585</c:v>
                </c:pt>
                <c:pt idx="5">
                  <c:v>0.79315625757807395</c:v>
                </c:pt>
                <c:pt idx="6">
                  <c:v>1.7890988622030839</c:v>
                </c:pt>
                <c:pt idx="7">
                  <c:v>0.8841876691353675</c:v>
                </c:pt>
                <c:pt idx="8">
                  <c:v>0.68166424469702058</c:v>
                </c:pt>
                <c:pt idx="9">
                  <c:v>0.5804630071124619</c:v>
                </c:pt>
                <c:pt idx="10">
                  <c:v>0.52977777751771293</c:v>
                </c:pt>
                <c:pt idx="11">
                  <c:v>0.52263099617371844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84E-48F3-895B-4969AD744BEA}"/>
            </c:ext>
          </c:extLst>
        </c:ser>
        <c:ser>
          <c:idx val="5"/>
          <c:order val="5"/>
          <c:tx>
            <c:v>D60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Sheet3!$B$123:$B$134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Sheet3!$L$123:$L$134</c:f>
              <c:numCache>
                <c:formatCode>0.000</c:formatCode>
                <c:ptCount val="12"/>
                <c:pt idx="0">
                  <c:v>-1.5334856677498474</c:v>
                </c:pt>
                <c:pt idx="1">
                  <c:v>-0.90215912004818566</c:v>
                </c:pt>
                <c:pt idx="2">
                  <c:v>-0.49642225162219539</c:v>
                </c:pt>
                <c:pt idx="3">
                  <c:v>-0.15859744757748989</c:v>
                </c:pt>
                <c:pt idx="4">
                  <c:v>0.18256301909296629</c:v>
                </c:pt>
                <c:pt idx="5">
                  <c:v>0.6347937654828244</c:v>
                </c:pt>
                <c:pt idx="6">
                  <c:v>1.6307363701078343</c:v>
                </c:pt>
                <c:pt idx="7">
                  <c:v>0.72582517704011784</c:v>
                </c:pt>
                <c:pt idx="8">
                  <c:v>0.52330175260177092</c:v>
                </c:pt>
                <c:pt idx="9">
                  <c:v>0.42210051501721235</c:v>
                </c:pt>
                <c:pt idx="10">
                  <c:v>0.37141528542246333</c:v>
                </c:pt>
                <c:pt idx="11">
                  <c:v>0.36426850407846889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484E-48F3-895B-4969AD744BEA}"/>
            </c:ext>
          </c:extLst>
        </c:ser>
        <c:ser>
          <c:idx val="6"/>
          <c:order val="6"/>
          <c:tx>
            <c:v>D25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Sheet3!$B$139:$B$150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Sheet3!$L$139:$L$150</c:f>
              <c:numCache>
                <c:formatCode>0.000</c:formatCode>
                <c:ptCount val="12"/>
                <c:pt idx="0">
                  <c:v>-0.77306318432663534</c:v>
                </c:pt>
                <c:pt idx="1">
                  <c:v>-0.14173663662497366</c:v>
                </c:pt>
                <c:pt idx="2">
                  <c:v>0.26400023180101667</c:v>
                </c:pt>
                <c:pt idx="3">
                  <c:v>0.60182503584572222</c:v>
                </c:pt>
                <c:pt idx="4">
                  <c:v>0.9429855025161783</c:v>
                </c:pt>
                <c:pt idx="5">
                  <c:v>1.3952162489060362</c:v>
                </c:pt>
                <c:pt idx="6">
                  <c:v>2.3911588535310462</c:v>
                </c:pt>
                <c:pt idx="7">
                  <c:v>1.4862476604633299</c:v>
                </c:pt>
                <c:pt idx="8">
                  <c:v>1.283724236024983</c:v>
                </c:pt>
                <c:pt idx="9">
                  <c:v>1.1825229984404244</c:v>
                </c:pt>
                <c:pt idx="10">
                  <c:v>1.1318377688456753</c:v>
                </c:pt>
                <c:pt idx="11">
                  <c:v>1.1246909875016808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484E-48F3-895B-4969AD744B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9040368"/>
        <c:axId val="1499040784"/>
      </c:scatterChart>
      <c:valAx>
        <c:axId val="14990403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baseline="0" dirty="0">
                    <a:effectLst/>
                  </a:rPr>
                  <a:t>Initial Braid Angle</a:t>
                </a:r>
                <a:endParaRPr lang="en-IN" sz="10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040784"/>
        <c:crosses val="autoZero"/>
        <c:crossBetween val="midCat"/>
        <c:majorUnit val="5"/>
      </c:valAx>
      <c:valAx>
        <c:axId val="1499040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baseline="0">
                    <a:effectLst/>
                  </a:rPr>
                  <a:t>Log Pressure</a:t>
                </a:r>
                <a:endParaRPr lang="en-IN" sz="100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0403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baseline="0">
                <a:effectLst/>
              </a:rPr>
              <a:t>Pressure vs Braid Angle CF = 0.35</a:t>
            </a:r>
            <a:endParaRPr lang="en-IN" sz="1400" b="1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D16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Sheet3!$M$26:$M$37</c:f>
              <c:numCache>
                <c:formatCode>0.000</c:formatCode>
                <c:ptCount val="12"/>
                <c:pt idx="0">
                  <c:v>-0.13517186852308205</c:v>
                </c:pt>
                <c:pt idx="1">
                  <c:v>0.51461406878177263</c:v>
                </c:pt>
                <c:pt idx="2">
                  <c:v>0.96014706841385733</c:v>
                </c:pt>
                <c:pt idx="3">
                  <c:v>1.3873555577321186</c:v>
                </c:pt>
                <c:pt idx="4">
                  <c:v>2.0335189783394623</c:v>
                </c:pt>
                <c:pt idx="5">
                  <c:v>2.10007305769552</c:v>
                </c:pt>
                <c:pt idx="6">
                  <c:v>1.7381968651126758</c:v>
                </c:pt>
                <c:pt idx="7">
                  <c:v>1.6031952334411175</c:v>
                </c:pt>
                <c:pt idx="8">
                  <c:v>1.5308325286318507</c:v>
                </c:pt>
                <c:pt idx="9">
                  <c:v>1.4862679354363066</c:v>
                </c:pt>
                <c:pt idx="10">
                  <c:v>1.4617499586162235</c:v>
                </c:pt>
                <c:pt idx="11">
                  <c:v>1.4581739576714987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322-43B0-B153-16BF1C1F7F10}"/>
            </c:ext>
          </c:extLst>
        </c:ser>
        <c:ser>
          <c:idx val="1"/>
          <c:order val="1"/>
          <c:tx>
            <c:v>D20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Sheet3!$M$56:$M$67</c:f>
              <c:numCache>
                <c:formatCode>0.000</c:formatCode>
                <c:ptCount val="12"/>
                <c:pt idx="0">
                  <c:v>-0.32899189453919497</c:v>
                </c:pt>
                <c:pt idx="1">
                  <c:v>0.3207940427656597</c:v>
                </c:pt>
                <c:pt idx="2">
                  <c:v>0.76632704239774441</c:v>
                </c:pt>
                <c:pt idx="3">
                  <c:v>1.1935355317160057</c:v>
                </c:pt>
                <c:pt idx="4">
                  <c:v>1.8396989523233493</c:v>
                </c:pt>
                <c:pt idx="5">
                  <c:v>1.9062530316794073</c:v>
                </c:pt>
                <c:pt idx="6">
                  <c:v>1.5443768390965629</c:v>
                </c:pt>
                <c:pt idx="7">
                  <c:v>1.4093752074250046</c:v>
                </c:pt>
                <c:pt idx="8">
                  <c:v>1.337012502615738</c:v>
                </c:pt>
                <c:pt idx="9">
                  <c:v>1.2924479094201939</c:v>
                </c:pt>
                <c:pt idx="10">
                  <c:v>1.2679299326001108</c:v>
                </c:pt>
                <c:pt idx="11">
                  <c:v>1.2643539316553858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322-43B0-B153-16BF1C1F7F10}"/>
            </c:ext>
          </c:extLst>
        </c:ser>
        <c:ser>
          <c:idx val="2"/>
          <c:order val="2"/>
          <c:tx>
            <c:v>D30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Sheet3!$M$72:$M$83</c:f>
              <c:numCache>
                <c:formatCode>0.000</c:formatCode>
                <c:ptCount val="12"/>
                <c:pt idx="0">
                  <c:v>-0.68117441265055745</c:v>
                </c:pt>
                <c:pt idx="1">
                  <c:v>-3.1388475345702771E-2</c:v>
                </c:pt>
                <c:pt idx="2">
                  <c:v>0.41414452428638193</c:v>
                </c:pt>
                <c:pt idx="3">
                  <c:v>0.84135301360464321</c:v>
                </c:pt>
                <c:pt idx="4">
                  <c:v>1.4875164342119869</c:v>
                </c:pt>
                <c:pt idx="5">
                  <c:v>1.5540705135680448</c:v>
                </c:pt>
                <c:pt idx="6">
                  <c:v>1.1921943209852004</c:v>
                </c:pt>
                <c:pt idx="7">
                  <c:v>1.0571926893136421</c:v>
                </c:pt>
                <c:pt idx="8">
                  <c:v>0.98482998450437553</c:v>
                </c:pt>
                <c:pt idx="9">
                  <c:v>0.94026539130883147</c:v>
                </c:pt>
                <c:pt idx="10">
                  <c:v>0.91574741448874819</c:v>
                </c:pt>
                <c:pt idx="11">
                  <c:v>0.91217141354402331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322-43B0-B153-16BF1C1F7F10}"/>
            </c:ext>
          </c:extLst>
        </c:ser>
        <c:ser>
          <c:idx val="3"/>
          <c:order val="3"/>
          <c:tx>
            <c:v>D40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Sheet3!$M$88:$M$99</c:f>
              <c:numCache>
                <c:formatCode>0.000</c:formatCode>
                <c:ptCount val="12"/>
                <c:pt idx="0">
                  <c:v>-0.93105188586715737</c:v>
                </c:pt>
                <c:pt idx="1">
                  <c:v>-0.28126594856230269</c:v>
                </c:pt>
                <c:pt idx="2">
                  <c:v>0.16426705106978201</c:v>
                </c:pt>
                <c:pt idx="3">
                  <c:v>0.59147554038804317</c:v>
                </c:pt>
                <c:pt idx="4">
                  <c:v>1.2376389609953868</c:v>
                </c:pt>
                <c:pt idx="5">
                  <c:v>1.3041930403514448</c:v>
                </c:pt>
                <c:pt idx="6">
                  <c:v>0.94231684776860047</c:v>
                </c:pt>
                <c:pt idx="7">
                  <c:v>0.80731521609704215</c:v>
                </c:pt>
                <c:pt idx="8">
                  <c:v>0.73495251128777561</c:v>
                </c:pt>
                <c:pt idx="9">
                  <c:v>0.69038791809223155</c:v>
                </c:pt>
                <c:pt idx="10">
                  <c:v>0.66586994127214838</c:v>
                </c:pt>
                <c:pt idx="11">
                  <c:v>0.66229394032742339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322-43B0-B153-16BF1C1F7F10}"/>
            </c:ext>
          </c:extLst>
        </c:ser>
        <c:ser>
          <c:idx val="4"/>
          <c:order val="4"/>
          <c:tx>
            <c:v>D50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Sheet3!$B$26:$B$37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Sheet3!$M$107:$M$118</c:f>
              <c:numCache>
                <c:formatCode>0.000</c:formatCode>
                <c:ptCount val="12"/>
                <c:pt idx="0">
                  <c:v>-1.1248719118832702</c:v>
                </c:pt>
                <c:pt idx="1">
                  <c:v>-0.47508597457841545</c:v>
                </c:pt>
                <c:pt idx="2">
                  <c:v>-2.9552974946330801E-2</c:v>
                </c:pt>
                <c:pt idx="3">
                  <c:v>0.39765551437193031</c:v>
                </c:pt>
                <c:pt idx="4">
                  <c:v>1.0438189349792741</c:v>
                </c:pt>
                <c:pt idx="5">
                  <c:v>1.1103730143353321</c:v>
                </c:pt>
                <c:pt idx="6">
                  <c:v>0.74849682175248755</c:v>
                </c:pt>
                <c:pt idx="7">
                  <c:v>0.61349519008092945</c:v>
                </c:pt>
                <c:pt idx="8">
                  <c:v>0.54113248527166269</c:v>
                </c:pt>
                <c:pt idx="9">
                  <c:v>0.49656789207611868</c:v>
                </c:pt>
                <c:pt idx="10">
                  <c:v>0.47204991525603546</c:v>
                </c:pt>
                <c:pt idx="11">
                  <c:v>0.46847391431131052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322-43B0-B153-16BF1C1F7F10}"/>
            </c:ext>
          </c:extLst>
        </c:ser>
        <c:ser>
          <c:idx val="5"/>
          <c:order val="5"/>
          <c:tx>
            <c:v>D60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Sheet3!$B$123:$B$134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Sheet3!$M$123:$M$134</c:f>
              <c:numCache>
                <c:formatCode>0.000</c:formatCode>
                <c:ptCount val="12"/>
                <c:pt idx="0">
                  <c:v>-1.2832344039785197</c:v>
                </c:pt>
                <c:pt idx="1">
                  <c:v>-0.63344846667366517</c:v>
                </c:pt>
                <c:pt idx="2">
                  <c:v>-0.18791546704158046</c:v>
                </c:pt>
                <c:pt idx="3">
                  <c:v>0.23929302227668084</c:v>
                </c:pt>
                <c:pt idx="4">
                  <c:v>0.88545644288402447</c:v>
                </c:pt>
                <c:pt idx="5">
                  <c:v>0.95201052224008242</c:v>
                </c:pt>
                <c:pt idx="6">
                  <c:v>0.59013432965723811</c:v>
                </c:pt>
                <c:pt idx="7">
                  <c:v>0.45513269798567979</c:v>
                </c:pt>
                <c:pt idx="8">
                  <c:v>0.38276999317641314</c:v>
                </c:pt>
                <c:pt idx="9">
                  <c:v>0.33820539998086907</c:v>
                </c:pt>
                <c:pt idx="10">
                  <c:v>0.31368742316078579</c:v>
                </c:pt>
                <c:pt idx="11">
                  <c:v>0.31011142221606086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6322-43B0-B153-16BF1C1F7F10}"/>
            </c:ext>
          </c:extLst>
        </c:ser>
        <c:ser>
          <c:idx val="6"/>
          <c:order val="6"/>
          <c:tx>
            <c:v>D25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Sheet3!$B$139:$B$150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40</c:v>
                </c:pt>
                <c:pt idx="8">
                  <c:v>45</c:v>
                </c:pt>
                <c:pt idx="9">
                  <c:v>50</c:v>
                </c:pt>
                <c:pt idx="10">
                  <c:v>54</c:v>
                </c:pt>
                <c:pt idx="11">
                  <c:v>54.7</c:v>
                </c:pt>
              </c:numCache>
            </c:numRef>
          </c:xVal>
          <c:yVal>
            <c:numRef>
              <c:f>Sheet3!$M$139:$M$150</c:f>
              <c:numCache>
                <c:formatCode>0.000</c:formatCode>
                <c:ptCount val="12"/>
                <c:pt idx="0">
                  <c:v>-0.52281192055530779</c:v>
                </c:pt>
                <c:pt idx="1">
                  <c:v>0.12697401674954692</c:v>
                </c:pt>
                <c:pt idx="2">
                  <c:v>0.57250701638163159</c:v>
                </c:pt>
                <c:pt idx="3">
                  <c:v>0.99971550569989276</c:v>
                </c:pt>
                <c:pt idx="4">
                  <c:v>1.6458789263072364</c:v>
                </c:pt>
                <c:pt idx="5">
                  <c:v>1.7124330056632944</c:v>
                </c:pt>
                <c:pt idx="6">
                  <c:v>1.3505568130804499</c:v>
                </c:pt>
                <c:pt idx="7">
                  <c:v>1.2155551814088918</c:v>
                </c:pt>
                <c:pt idx="8">
                  <c:v>1.1431924765996251</c:v>
                </c:pt>
                <c:pt idx="9">
                  <c:v>1.098627883404081</c:v>
                </c:pt>
                <c:pt idx="10">
                  <c:v>1.0741099065839979</c:v>
                </c:pt>
                <c:pt idx="11">
                  <c:v>1.0705339056392729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6322-43B0-B153-16BF1C1F7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9472768"/>
        <c:axId val="1499479840"/>
      </c:scatterChart>
      <c:valAx>
        <c:axId val="1499472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baseline="0" dirty="0">
                    <a:effectLst/>
                  </a:rPr>
                  <a:t>Initial Braid Angle</a:t>
                </a:r>
                <a:endParaRPr lang="en-IN" sz="1000" dirty="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479840"/>
        <c:crosses val="autoZero"/>
        <c:crossBetween val="midCat"/>
        <c:majorUnit val="5"/>
      </c:valAx>
      <c:valAx>
        <c:axId val="1499479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baseline="0">
                    <a:effectLst/>
                  </a:rPr>
                  <a:t>Log Pressure</a:t>
                </a:r>
                <a:endParaRPr lang="en-IN" sz="100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47276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Pressure vs Stroke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705134514435694"/>
          <c:y val="0.14685212298682288"/>
          <c:w val="0.80229761318897641"/>
          <c:h val="0.5980067096298175"/>
        </c:manualLayout>
      </c:layout>
      <c:scatterChart>
        <c:scatterStyle val="lineMarker"/>
        <c:varyColors val="0"/>
        <c:ser>
          <c:idx val="0"/>
          <c:order val="0"/>
          <c:tx>
            <c:v>NBR-Aramid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Sheet1!$B$3:$B$9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4.5</c:v>
                </c:pt>
                <c:pt idx="4">
                  <c:v>5</c:v>
                </c:pt>
                <c:pt idx="5">
                  <c:v>6</c:v>
                </c:pt>
                <c:pt idx="6">
                  <c:v>10</c:v>
                </c:pt>
              </c:numCache>
            </c:numRef>
          </c:xVal>
          <c:yVal>
            <c:numRef>
              <c:f>Sheet1!$C$3:$C$9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</c:v>
                </c:pt>
                <c:pt idx="5">
                  <c:v>25</c:v>
                </c:pt>
                <c:pt idx="6">
                  <c:v>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3A9-421A-AA05-4EAE66EB102C}"/>
            </c:ext>
          </c:extLst>
        </c:ser>
        <c:ser>
          <c:idx val="1"/>
          <c:order val="1"/>
          <c:tx>
            <c:v>Silicone-Nylon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Sheet1!$B$3:$B$9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4.5</c:v>
                </c:pt>
                <c:pt idx="4">
                  <c:v>5</c:v>
                </c:pt>
                <c:pt idx="5">
                  <c:v>6</c:v>
                </c:pt>
                <c:pt idx="6">
                  <c:v>10</c:v>
                </c:pt>
              </c:numCache>
            </c:numRef>
          </c:xVal>
          <c:yVal>
            <c:numRef>
              <c:f>Sheet1!$D$3:$D$9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5</c:v>
                </c:pt>
                <c:pt idx="3">
                  <c:v>15</c:v>
                </c:pt>
                <c:pt idx="4">
                  <c:v>20</c:v>
                </c:pt>
                <c:pt idx="5">
                  <c:v>0</c:v>
                </c:pt>
                <c:pt idx="6">
                  <c:v>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3A9-421A-AA05-4EAE66EB1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96866336"/>
        <c:axId val="1898840240"/>
      </c:scatterChart>
      <c:valAx>
        <c:axId val="1896866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Pressure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840240"/>
        <c:crosses val="autoZero"/>
        <c:crossBetween val="midCat"/>
      </c:valAx>
      <c:valAx>
        <c:axId val="1898840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Deflection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68663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Pressure vs Contracted Length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580881337201272"/>
          <c:y val="0.15280952380952384"/>
          <c:w val="0.79544431946006744"/>
          <c:h val="0.60776940382452194"/>
        </c:manualLayout>
      </c:layout>
      <c:scatterChart>
        <c:scatterStyle val="lineMarker"/>
        <c:varyColors val="0"/>
        <c:ser>
          <c:idx val="0"/>
          <c:order val="0"/>
          <c:tx>
            <c:v>NBR-Aramid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Sheet1!$B$14:$B$20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4.5</c:v>
                </c:pt>
                <c:pt idx="4">
                  <c:v>5</c:v>
                </c:pt>
                <c:pt idx="5">
                  <c:v>6</c:v>
                </c:pt>
                <c:pt idx="6">
                  <c:v>10</c:v>
                </c:pt>
              </c:numCache>
            </c:numRef>
          </c:xVal>
          <c:yVal>
            <c:numRef>
              <c:f>Sheet1!$C$14:$C$20</c:f>
              <c:numCache>
                <c:formatCode>General</c:formatCode>
                <c:ptCount val="7"/>
                <c:pt idx="0">
                  <c:v>120</c:v>
                </c:pt>
                <c:pt idx="1">
                  <c:v>120</c:v>
                </c:pt>
                <c:pt idx="2">
                  <c:v>120</c:v>
                </c:pt>
                <c:pt idx="3">
                  <c:v>0</c:v>
                </c:pt>
                <c:pt idx="4">
                  <c:v>110</c:v>
                </c:pt>
                <c:pt idx="5">
                  <c:v>95</c:v>
                </c:pt>
                <c:pt idx="6">
                  <c:v>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B2-4216-BC5B-529E2FC2BF4A}"/>
            </c:ext>
          </c:extLst>
        </c:ser>
        <c:ser>
          <c:idx val="1"/>
          <c:order val="1"/>
          <c:tx>
            <c:v>Silicone-Nylon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Sheet1!$B$14:$B$20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4.5</c:v>
                </c:pt>
                <c:pt idx="4">
                  <c:v>5</c:v>
                </c:pt>
                <c:pt idx="5">
                  <c:v>6</c:v>
                </c:pt>
                <c:pt idx="6">
                  <c:v>10</c:v>
                </c:pt>
              </c:numCache>
            </c:numRef>
          </c:xVal>
          <c:yVal>
            <c:numRef>
              <c:f>Sheet1!$D$14:$D$20</c:f>
              <c:numCache>
                <c:formatCode>General</c:formatCode>
                <c:ptCount val="7"/>
                <c:pt idx="0">
                  <c:v>120</c:v>
                </c:pt>
                <c:pt idx="1">
                  <c:v>118</c:v>
                </c:pt>
                <c:pt idx="2">
                  <c:v>115</c:v>
                </c:pt>
                <c:pt idx="3">
                  <c:v>105</c:v>
                </c:pt>
                <c:pt idx="4">
                  <c:v>100</c:v>
                </c:pt>
                <c:pt idx="5">
                  <c:v>0</c:v>
                </c:pt>
                <c:pt idx="6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1B2-4216-BC5B-529E2FC2BF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1207456"/>
        <c:axId val="1898840720"/>
      </c:scatterChart>
      <c:valAx>
        <c:axId val="19112074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Pressure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840720"/>
        <c:crosses val="autoZero"/>
        <c:crossBetween val="midCat"/>
      </c:valAx>
      <c:valAx>
        <c:axId val="1898840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Length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12074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Theoretical vs Practical Maximum Contraction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Sheet1!$B$25:$B$27</c:f>
              <c:strCache>
                <c:ptCount val="3"/>
                <c:pt idx="0">
                  <c:v>Theoretical</c:v>
                </c:pt>
                <c:pt idx="1">
                  <c:v>NBR-Aramid</c:v>
                </c:pt>
                <c:pt idx="2">
                  <c:v>Silicone-Nylon</c:v>
                </c:pt>
              </c:strCache>
            </c:strRef>
          </c:cat>
          <c:val>
            <c:numRef>
              <c:f>Sheet1!$C$25:$C$27</c:f>
              <c:numCache>
                <c:formatCode>General</c:formatCode>
                <c:ptCount val="3"/>
                <c:pt idx="0">
                  <c:v>70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BE-4FDA-B9E3-8203FCE0DF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87690544"/>
        <c:axId val="1898928560"/>
        <c:axId val="0"/>
      </c:bar3DChart>
      <c:catAx>
        <c:axId val="1987690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928560"/>
        <c:crosses val="autoZero"/>
        <c:auto val="1"/>
        <c:lblAlgn val="ctr"/>
        <c:lblOffset val="100"/>
        <c:noMultiLvlLbl val="0"/>
      </c:catAx>
      <c:valAx>
        <c:axId val="1898928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7690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75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83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07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74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15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88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5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21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30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62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48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E0BFA-EFC7-4EB7-9F55-B42A5536DB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7F36E-3462-4797-9333-FDC5B5E155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58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/>
          <p:nvPr/>
        </p:nvPicPr>
        <p:blipFill rotWithShape="1">
          <a:blip r:embed="rId2"/>
          <a:srcRect l="4791" r="3328" b="5486"/>
          <a:stretch/>
        </p:blipFill>
        <p:spPr bwMode="auto">
          <a:xfrm>
            <a:off x="505326" y="1927341"/>
            <a:ext cx="1692442" cy="96825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52926" y="128336"/>
            <a:ext cx="11413958" cy="417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Derivation of Force and Pressure Relationship</a:t>
            </a:r>
            <a:endParaRPr lang="en-IN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462468" y="553453"/>
            <a:ext cx="0" cy="6300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914148" y="553454"/>
            <a:ext cx="0" cy="6300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r="3879" b="6899"/>
          <a:stretch/>
        </p:blipFill>
        <p:spPr>
          <a:xfrm>
            <a:off x="588220" y="1026692"/>
            <a:ext cx="1417043" cy="940702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852727" y="545433"/>
            <a:ext cx="0" cy="6300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2116" y="601527"/>
            <a:ext cx="1657526" cy="41709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1. Basic Geometry of Braided Actuator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86132" y="601527"/>
            <a:ext cx="1657526" cy="54349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2. Volume of Actuator Contraction Factor &amp; Braiding Angle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32025" y="601529"/>
            <a:ext cx="1657526" cy="41709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3. Work Balance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82193" y="601530"/>
            <a:ext cx="1657526" cy="41709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4. Differentiating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916844" y="601531"/>
            <a:ext cx="1657526" cy="41709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5. Significance</a:t>
            </a:r>
            <a:endParaRPr lang="en-IN" sz="1200" b="1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9561114" y="553456"/>
            <a:ext cx="0" cy="6300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93032" y="2911644"/>
                <a:ext cx="2037336" cy="3790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50" dirty="0"/>
                  <a:t>For length of single braid fiber: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𝑏𝑐𝑜𝑠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1150" dirty="0"/>
              </a:p>
              <a:p>
                <a:r>
                  <a:rPr lang="en-US" sz="1150" dirty="0"/>
                  <a:t>And Diameter of single braid fiber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𝑏𝑠𝑖𝑛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IN" sz="1150" dirty="0"/>
              </a:p>
              <a:p>
                <a:r>
                  <a:rPr lang="en-US" sz="1150" dirty="0"/>
                  <a:t>Where, </a:t>
                </a:r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b = Fiber Length</a:t>
                </a:r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n = Number of turns of Actuator</a:t>
                </a:r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IN" sz="1100" dirty="0"/>
                  <a:t>L = Axial Length of the Actuator</a:t>
                </a:r>
                <a:endParaRPr lang="en-US" sz="1100" dirty="0"/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l-GR" sz="1100" dirty="0"/>
                  <a:t>θ</a:t>
                </a:r>
                <a:r>
                  <a:rPr lang="en-US" sz="1100" dirty="0"/>
                  <a:t> = Braid Angle of the braided sheath</a:t>
                </a:r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D = Diameter of Actuator</a:t>
                </a:r>
              </a:p>
              <a:p>
                <a:pPr algn="just"/>
                <a:r>
                  <a:rPr lang="en-US" sz="1150" dirty="0"/>
                  <a:t>Since b and n are constant, when pressure increases: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D increases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l-GR" sz="1150" dirty="0"/>
                  <a:t>θ</a:t>
                </a:r>
                <a:r>
                  <a:rPr lang="en-US" sz="1150" dirty="0"/>
                  <a:t> increases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L decreases (only </a:t>
                </a:r>
                <a:r>
                  <a:rPr lang="en-US" sz="1150" dirty="0" err="1"/>
                  <a:t>upto</a:t>
                </a:r>
                <a:r>
                  <a:rPr lang="en-US" sz="1150" dirty="0"/>
                  <a:t> if </a:t>
                </a:r>
                <a:r>
                  <a:rPr lang="el-GR" sz="1150" dirty="0"/>
                  <a:t>θ</a:t>
                </a:r>
                <a:r>
                  <a:rPr lang="en-US" sz="1150" dirty="0"/>
                  <a:t> &lt; 54.7⁰)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2" y="2911644"/>
                <a:ext cx="2037336" cy="3790846"/>
              </a:xfrm>
              <a:prstGeom prst="rect">
                <a:avLst/>
              </a:prstGeom>
              <a:blipFill>
                <a:blip r:embed="rId4"/>
                <a:stretch>
                  <a:fillRect t="-322" r="-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550693" y="1193153"/>
                <a:ext cx="2253908" cy="561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Volume: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IN" sz="1150" dirty="0"/>
              </a:p>
              <a:p>
                <a:r>
                  <a:rPr lang="en-US" sz="1150" dirty="0"/>
                  <a:t>Substitute D and L from the braid geometry: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1150" dirty="0"/>
              </a:p>
              <a:p>
                <a:endParaRPr lang="en-US" sz="115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Braid Angle:</a:t>
                </a:r>
                <a:endParaRPr lang="en-IN" sz="1150" dirty="0"/>
              </a:p>
              <a:p>
                <a:pPr algn="just"/>
                <a:r>
                  <a:rPr lang="en-US" sz="1150" dirty="0"/>
                  <a:t>Let us consider D as final diameter (after applying pressure) and D</a:t>
                </a:r>
                <a:r>
                  <a:rPr lang="en-US" sz="900" dirty="0"/>
                  <a:t>o</a:t>
                </a:r>
                <a:r>
                  <a:rPr lang="en-US" sz="1150" dirty="0"/>
                  <a:t> as initial Diameter (before applying pressure), same for L &amp; L</a:t>
                </a:r>
                <a:r>
                  <a:rPr lang="en-US" sz="900" dirty="0"/>
                  <a:t>o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150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15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15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15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150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Contraction Factor (</a:t>
                </a:r>
                <a:r>
                  <a:rPr lang="en-US" sz="1150" b="0" dirty="0"/>
                  <a:t>ε)</a:t>
                </a:r>
                <a:r>
                  <a:rPr lang="en-US" sz="115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=1−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15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150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Final Braid Angle: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  <m:sSub>
                        <m:sSub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150" b="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Diameter: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sz="1150" b="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693" y="1193153"/>
                <a:ext cx="2253908" cy="5617692"/>
              </a:xfrm>
              <a:prstGeom prst="rect">
                <a:avLst/>
              </a:prstGeom>
              <a:blipFill>
                <a:blip r:embed="rId5"/>
                <a:stretch>
                  <a:fillRect t="-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965024" y="1260556"/>
                <a:ext cx="1890183" cy="2572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50" dirty="0"/>
                  <a:t>Hydraulic work input: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𝑃𝑑𝑣</m:t>
                      </m:r>
                    </m:oMath>
                  </m:oMathPara>
                </a14:m>
                <a:endParaRPr lang="en-IN" sz="1150" dirty="0"/>
              </a:p>
              <a:p>
                <a:r>
                  <a:rPr lang="en-US" sz="1150" dirty="0"/>
                  <a:t>Mechanical work output: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𝑑𝑊</m:t>
                          </m:r>
                        </m:e>
                        <m:sub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𝐹𝑑𝐿</m:t>
                      </m:r>
                    </m:oMath>
                  </m:oMathPara>
                </a14:m>
                <a:endParaRPr lang="en-US" sz="1150" b="0" dirty="0"/>
              </a:p>
              <a:p>
                <a:r>
                  <a:rPr lang="en-US" sz="1150" dirty="0"/>
                  <a:t>So,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</m:oMath>
                  </m:oMathPara>
                </a14:m>
                <a:endParaRPr lang="en-IN" sz="1150" dirty="0"/>
              </a:p>
              <a:p>
                <a:pPr lvl="1"/>
                <a:r>
                  <a:rPr lang="en-US" sz="1150" dirty="0"/>
                  <a:t>P’ = P – </a:t>
                </a:r>
                <a:r>
                  <a:rPr lang="en-US" sz="1150" dirty="0" err="1"/>
                  <a:t>Pex</a:t>
                </a:r>
                <a:endParaRPr lang="en-US" sz="1150" dirty="0"/>
              </a:p>
              <a:p>
                <a:r>
                  <a:rPr lang="en-US" sz="1150" dirty="0"/>
                  <a:t>Where,</a:t>
                </a:r>
              </a:p>
              <a:p>
                <a:r>
                  <a:rPr lang="en-US" sz="1150" dirty="0"/>
                  <a:t>P = Absolute Pressure</a:t>
                </a:r>
              </a:p>
              <a:p>
                <a:r>
                  <a:rPr lang="en-US" sz="1150" dirty="0" err="1"/>
                  <a:t>Pex</a:t>
                </a:r>
                <a:r>
                  <a:rPr lang="en-US" sz="1150" dirty="0"/>
                  <a:t> = External Pressure / Normal Pressure</a:t>
                </a:r>
              </a:p>
              <a:p>
                <a:r>
                  <a:rPr lang="en-US" sz="1150" dirty="0"/>
                  <a:t>P’ = Gauge Pressure</a:t>
                </a:r>
              </a:p>
              <a:p>
                <a:endParaRPr lang="en-IN" sz="115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024" y="1260556"/>
                <a:ext cx="1890183" cy="2572371"/>
              </a:xfrm>
              <a:prstGeom prst="rect">
                <a:avLst/>
              </a:prstGeom>
              <a:blipFill>
                <a:blip r:embed="rId6"/>
                <a:stretch>
                  <a:fillRect t="-2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026453" y="1145027"/>
                <a:ext cx="2510581" cy="4086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𝑏𝑐𝑜𝑠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115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𝑏𝑠𝑖𝑛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115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sz="115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𝑠𝑖𝑛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(3</m:t>
                      </m:r>
                      <m:sSup>
                        <m:sSup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IN" sz="1150" dirty="0"/>
              </a:p>
              <a:p>
                <a:endParaRPr lang="en-US" sz="1150" dirty="0"/>
              </a:p>
              <a:p>
                <a:r>
                  <a:rPr lang="en-US" sz="1150" dirty="0"/>
                  <a:t>Therefore: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′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′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num>
                            <m:den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𝑑𝐿</m:t>
                              </m:r>
                            </m:num>
                            <m:den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IN" sz="115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(3</m:t>
                      </m:r>
                      <m:sSup>
                        <m:sSup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IN" sz="1150" dirty="0"/>
              </a:p>
              <a:p>
                <a:r>
                  <a:rPr lang="en-US" sz="1150" dirty="0"/>
                  <a:t>But, 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IN" sz="1150" dirty="0"/>
              </a:p>
              <a:p>
                <a:r>
                  <a:rPr lang="en-US" sz="1150" dirty="0"/>
                  <a:t>After applying contraction Factor and replacing Diameter,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1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(3</m:t>
                      </m:r>
                      <m:sSup>
                        <m:sSup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IN" sz="1150" dirty="0"/>
              </a:p>
              <a:p>
                <a:endParaRPr lang="en-IN" sz="115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453" y="1145027"/>
                <a:ext cx="2510581" cy="4086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609240" y="1115403"/>
                <a:ext cx="2454386" cy="401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15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1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15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1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1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11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1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1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150" i="1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11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5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sz="11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1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15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150" i="1">
                          <a:latin typeface="Cambria Math" panose="02040503050406030204" pitchFamily="18" charset="0"/>
                        </a:rPr>
                        <m:t>(3</m:t>
                      </m:r>
                      <m:sSup>
                        <m:sSupPr>
                          <m:ctrlPr>
                            <a:rPr lang="en-US" sz="11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5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US" sz="11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11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1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11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5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sz="115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11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15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1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IN" sz="115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P increases -&gt; force increases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D increases -&gt; force increases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l-GR" sz="1150" dirty="0"/>
                  <a:t>θ</a:t>
                </a:r>
                <a:r>
                  <a:rPr lang="en-US" sz="1150" dirty="0"/>
                  <a:t> controls force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50" dirty="0"/>
                  <a:t>As </a:t>
                </a:r>
                <a:r>
                  <a:rPr lang="el-GR" sz="1150" dirty="0"/>
                  <a:t>θ</a:t>
                </a:r>
                <a:r>
                  <a:rPr lang="en-US" sz="1150" dirty="0"/>
                  <a:t> approaches 54.7⁰ force approaches zero </a:t>
                </a:r>
              </a:p>
              <a:p>
                <a:endParaRPr lang="en-US" sz="1150" dirty="0"/>
              </a:p>
              <a:p>
                <a:r>
                  <a:rPr lang="en-US" sz="1150" dirty="0"/>
                  <a:t>Pressure and force, depends on Initial Braid Angle and contraction factor</a:t>
                </a:r>
              </a:p>
              <a:p>
                <a:endParaRPr lang="en-US" sz="1150" dirty="0"/>
              </a:p>
              <a:p>
                <a:r>
                  <a:rPr lang="en-US" sz="1150" dirty="0"/>
                  <a:t>Because: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15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sz="11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US" sz="11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11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IN" sz="1150" dirty="0"/>
              </a:p>
              <a:p>
                <a:r>
                  <a:rPr lang="en-US" sz="1150" dirty="0"/>
                  <a:t>	</a:t>
                </a:r>
                <a:r>
                  <a:rPr lang="el-GR" sz="1150" dirty="0"/>
                  <a:t>θ</a:t>
                </a:r>
                <a:r>
                  <a:rPr lang="en-US" sz="1150" dirty="0"/>
                  <a:t> = 54.7⁰</a:t>
                </a:r>
              </a:p>
              <a:p>
                <a:pPr algn="just"/>
                <a:endParaRPr lang="en-US" sz="1150" b="1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en-US" sz="1150" b="1" dirty="0">
                    <a:solidFill>
                      <a:srgbClr val="FF0000"/>
                    </a:solidFill>
                  </a:rPr>
                  <a:t>So, the braid angle must remain below about 54.7⁰ useful contraction force.</a:t>
                </a:r>
              </a:p>
              <a:p>
                <a:pPr algn="just"/>
                <a:endParaRPr lang="en-US" sz="1150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en-US" sz="1150" b="1" dirty="0"/>
                  <a:t>This Equation is derived under ideal condition (no friction, no bladder elasticity, uniform pressure)</a:t>
                </a:r>
                <a:endParaRPr lang="en-IN" sz="115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240" y="1115403"/>
                <a:ext cx="2454386" cy="4019755"/>
              </a:xfrm>
              <a:prstGeom prst="rect">
                <a:avLst/>
              </a:prstGeom>
              <a:blipFill>
                <a:blip r:embed="rId8"/>
                <a:stretch>
                  <a:fillRect b="-1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048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F3B3-F90D-D84D-BB58-B8FDEC4A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5B0925A-E1C6-204E-0A16-8C6BA829BFC1}"/>
              </a:ext>
            </a:extLst>
          </p:cNvPr>
          <p:cNvSpPr/>
          <p:nvPr/>
        </p:nvSpPr>
        <p:spPr>
          <a:xfrm>
            <a:off x="352926" y="128336"/>
            <a:ext cx="11413958" cy="417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Derivation of Force and Pressure Relationship</a:t>
            </a:r>
            <a:endParaRPr lang="en-IN" sz="20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31A3A4-B1A1-B34A-3FBC-09A425AB2910}"/>
              </a:ext>
            </a:extLst>
          </p:cNvPr>
          <p:cNvCxnSpPr/>
          <p:nvPr/>
        </p:nvCxnSpPr>
        <p:spPr>
          <a:xfrm>
            <a:off x="2462468" y="553453"/>
            <a:ext cx="0" cy="6300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2AA6C1-42E6-F0BD-18A2-7903AD7C6041}"/>
              </a:ext>
            </a:extLst>
          </p:cNvPr>
          <p:cNvCxnSpPr/>
          <p:nvPr/>
        </p:nvCxnSpPr>
        <p:spPr>
          <a:xfrm>
            <a:off x="6914148" y="553454"/>
            <a:ext cx="0" cy="6300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13C64D-38D7-EAD3-BB78-17F6963F4277}"/>
              </a:ext>
            </a:extLst>
          </p:cNvPr>
          <p:cNvCxnSpPr/>
          <p:nvPr/>
        </p:nvCxnSpPr>
        <p:spPr>
          <a:xfrm>
            <a:off x="4768748" y="545433"/>
            <a:ext cx="0" cy="6300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D84081-20C3-A616-7327-94692FC10057}"/>
              </a:ext>
            </a:extLst>
          </p:cNvPr>
          <p:cNvSpPr/>
          <p:nvPr/>
        </p:nvSpPr>
        <p:spPr>
          <a:xfrm>
            <a:off x="492116" y="601527"/>
            <a:ext cx="1657526" cy="41709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Losses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983DF3-D514-BEE8-9A46-2DB50EB8D952}"/>
              </a:ext>
            </a:extLst>
          </p:cNvPr>
          <p:cNvSpPr/>
          <p:nvPr/>
        </p:nvSpPr>
        <p:spPr>
          <a:xfrm>
            <a:off x="2786132" y="601527"/>
            <a:ext cx="1657526" cy="54349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1. Braid friction loss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134393C-B819-6046-2060-26302AF9944E}"/>
              </a:ext>
            </a:extLst>
          </p:cNvPr>
          <p:cNvSpPr/>
          <p:nvPr/>
        </p:nvSpPr>
        <p:spPr>
          <a:xfrm>
            <a:off x="5032025" y="601528"/>
            <a:ext cx="1657526" cy="54349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2. Bladder elasticity loss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5CE1E74-EF84-F855-9400-01B04BD2440B}"/>
              </a:ext>
            </a:extLst>
          </p:cNvPr>
          <p:cNvSpPr/>
          <p:nvPr/>
        </p:nvSpPr>
        <p:spPr>
          <a:xfrm>
            <a:off x="7382193" y="601529"/>
            <a:ext cx="1657526" cy="5434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3. Hydraulic pressure loss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220D164-D8F6-0D23-8424-24675578378F}"/>
              </a:ext>
            </a:extLst>
          </p:cNvPr>
          <p:cNvSpPr/>
          <p:nvPr/>
        </p:nvSpPr>
        <p:spPr>
          <a:xfrm>
            <a:off x="9916844" y="601530"/>
            <a:ext cx="1657526" cy="54349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4. End fitting and seal loss</a:t>
            </a:r>
            <a:endParaRPr lang="en-IN" sz="1400" b="1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71F659-E30B-50EA-5F63-D020A5DADD6E}"/>
              </a:ext>
            </a:extLst>
          </p:cNvPr>
          <p:cNvCxnSpPr/>
          <p:nvPr/>
        </p:nvCxnSpPr>
        <p:spPr>
          <a:xfrm>
            <a:off x="9561114" y="553456"/>
            <a:ext cx="0" cy="630000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3B95C8-1475-2E54-61D5-B20119F64999}"/>
                  </a:ext>
                </a:extLst>
              </p:cNvPr>
              <p:cNvSpPr txBox="1"/>
              <p:nvPr/>
            </p:nvSpPr>
            <p:spPr>
              <a:xfrm>
                <a:off x="201336" y="1280239"/>
                <a:ext cx="208183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sub>
                      </m:sSub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𝐹𝑓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𝐹𝑒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n-US" sz="1200" i="1" dirty="0" err="1">
                          <a:latin typeface="Cambria Math" panose="02040503050406030204" pitchFamily="18" charset="0"/>
                        </a:rPr>
                        <m:t>𝐹ℎ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​+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𝐹𝑠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3B95C8-1475-2E54-61D5-B20119F64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36" y="1280239"/>
                <a:ext cx="2081835" cy="276999"/>
              </a:xfrm>
              <a:prstGeom prst="rect">
                <a:avLst/>
              </a:prstGeom>
              <a:blipFill>
                <a:blip r:embed="rId2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03D064A-C0A5-B1B5-115B-9B520F608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810248"/>
              </p:ext>
            </p:extLst>
          </p:nvPr>
        </p:nvGraphicFramePr>
        <p:xfrm>
          <a:off x="289434" y="1753426"/>
          <a:ext cx="1968500" cy="16459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662288">
                  <a:extLst>
                    <a:ext uri="{9D8B030D-6E8A-4147-A177-3AD203B41FA5}">
                      <a16:colId xmlns:a16="http://schemas.microsoft.com/office/drawing/2014/main" val="842732057"/>
                    </a:ext>
                  </a:extLst>
                </a:gridCol>
                <a:gridCol w="1306212">
                  <a:extLst>
                    <a:ext uri="{9D8B030D-6E8A-4147-A177-3AD203B41FA5}">
                      <a16:colId xmlns:a16="http://schemas.microsoft.com/office/drawing/2014/main" val="36459712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Loss term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Description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983073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Braid friction loss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453436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Bladder elasticity loss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186380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Fh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Hydraulic pressure loss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886528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Fs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End fitting and sealing loss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65282919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DE40BCE-24C1-EEA3-CFE6-F9CE0B1FE976}"/>
              </a:ext>
            </a:extLst>
          </p:cNvPr>
          <p:cNvSpPr txBox="1"/>
          <p:nvPr/>
        </p:nvSpPr>
        <p:spPr>
          <a:xfrm>
            <a:off x="255379" y="3441645"/>
            <a:ext cx="23069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Final Practical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B54182-77A1-8AB0-2BAC-05993FEB9F5C}"/>
                  </a:ext>
                </a:extLst>
              </p:cNvPr>
              <p:cNvSpPr txBox="1"/>
              <p:nvPr/>
            </p:nvSpPr>
            <p:spPr>
              <a:xfrm>
                <a:off x="106733" y="3757443"/>
                <a:ext cx="2428292" cy="828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𝑝𝑟𝑎𝑐𝑡𝑖𝑐𝑎𝑙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1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−(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B54182-77A1-8AB0-2BAC-05993FEB9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33" y="3757443"/>
                <a:ext cx="2428292" cy="828497"/>
              </a:xfrm>
              <a:prstGeom prst="rect">
                <a:avLst/>
              </a:prstGeom>
              <a:blipFill>
                <a:blip r:embed="rId3"/>
                <a:stretch>
                  <a:fillRect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8AAF832-20CF-DC21-F750-1977A40B4694}"/>
                  </a:ext>
                </a:extLst>
              </p:cNvPr>
              <p:cNvSpPr txBox="1"/>
              <p:nvPr/>
            </p:nvSpPr>
            <p:spPr>
              <a:xfrm>
                <a:off x="2667003" y="1280239"/>
                <a:ext cx="1704046" cy="325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𝐷𝐿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8AAF832-20CF-DC21-F750-1977A40B4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3" y="1280239"/>
                <a:ext cx="1704046" cy="325025"/>
              </a:xfrm>
              <a:prstGeom prst="rect">
                <a:avLst/>
              </a:prstGeom>
              <a:blipFill>
                <a:blip r:embed="rId4"/>
                <a:stretch>
                  <a:fillRect t="-5660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91D0DCE-5786-7D9D-D0F7-C672E01855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170686"/>
                  </p:ext>
                </p:extLst>
              </p:nvPr>
            </p:nvGraphicFramePr>
            <p:xfrm>
              <a:off x="2526037" y="1897296"/>
              <a:ext cx="2179142" cy="228419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602629">
                      <a:extLst>
                        <a:ext uri="{9D8B030D-6E8A-4147-A177-3AD203B41FA5}">
                          <a16:colId xmlns:a16="http://schemas.microsoft.com/office/drawing/2014/main" val="3252833099"/>
                        </a:ext>
                      </a:extLst>
                    </a:gridCol>
                    <a:gridCol w="1147665">
                      <a:extLst>
                        <a:ext uri="{9D8B030D-6E8A-4147-A177-3AD203B41FA5}">
                          <a16:colId xmlns:a16="http://schemas.microsoft.com/office/drawing/2014/main" val="326440052"/>
                        </a:ext>
                      </a:extLst>
                    </a:gridCol>
                    <a:gridCol w="428848">
                      <a:extLst>
                        <a:ext uri="{9D8B030D-6E8A-4147-A177-3AD203B41FA5}">
                          <a16:colId xmlns:a16="http://schemas.microsoft.com/office/drawing/2014/main" val="279355165"/>
                        </a:ext>
                      </a:extLst>
                    </a:gridCol>
                  </a:tblGrid>
                  <a:tr h="36932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b="1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b="1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b="1" dirty="0"/>
                            <a:t>Unit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7037024"/>
                      </a:ext>
                    </a:extLst>
                  </a:tr>
                  <a:tr h="5516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050"/>
                                    </m:ctrlPr>
                                  </m:sSubPr>
                                  <m:e>
                                    <m:r>
                                      <a:rPr lang="en-US" sz="105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050"/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Braid friction 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863061"/>
                      </a:ext>
                    </a:extLst>
                  </a:tr>
                  <a:tr h="42920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050"/>
                                  <m:t>𝑃</m:t>
                                </m:r>
                              </m:oMath>
                            </m:oMathPara>
                          </a14:m>
                          <a:endParaRPr lang="en-US" sz="105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Hydraulic pressure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Pa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10583307"/>
                      </a:ext>
                    </a:extLst>
                  </a:tr>
                  <a:tr h="52251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050"/>
                                  <m:t>𝐷</m:t>
                                </m:r>
                              </m:oMath>
                            </m:oMathPara>
                          </a14:m>
                          <a:endParaRPr lang="en-US" sz="105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/>
                            <a:t>Actuator diameter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/>
                            <a:t>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3996534"/>
                      </a:ext>
                    </a:extLst>
                  </a:tr>
                  <a:tr h="36389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050"/>
                                  <m:t>𝐿</m:t>
                                </m:r>
                              </m:oMath>
                            </m:oMathPara>
                          </a14:m>
                          <a:endParaRPr lang="en-US" sz="105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/>
                            <a:t>Active actuator length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17260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E91D0DCE-5786-7D9D-D0F7-C672E01855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9170686"/>
                  </p:ext>
                </p:extLst>
              </p:nvPr>
            </p:nvGraphicFramePr>
            <p:xfrm>
              <a:off x="2526037" y="1897296"/>
              <a:ext cx="2179142" cy="228419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602629">
                      <a:extLst>
                        <a:ext uri="{9D8B030D-6E8A-4147-A177-3AD203B41FA5}">
                          <a16:colId xmlns:a16="http://schemas.microsoft.com/office/drawing/2014/main" val="3252833099"/>
                        </a:ext>
                      </a:extLst>
                    </a:gridCol>
                    <a:gridCol w="1147665">
                      <a:extLst>
                        <a:ext uri="{9D8B030D-6E8A-4147-A177-3AD203B41FA5}">
                          <a16:colId xmlns:a16="http://schemas.microsoft.com/office/drawing/2014/main" val="326440052"/>
                        </a:ext>
                      </a:extLst>
                    </a:gridCol>
                    <a:gridCol w="428848">
                      <a:extLst>
                        <a:ext uri="{9D8B030D-6E8A-4147-A177-3AD203B41FA5}">
                          <a16:colId xmlns:a16="http://schemas.microsoft.com/office/drawing/2014/main" val="279355165"/>
                        </a:ext>
                      </a:extLst>
                    </a:gridCol>
                  </a:tblGrid>
                  <a:tr h="36932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b="1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b="1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b="1" dirty="0"/>
                            <a:t>Unit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7037024"/>
                      </a:ext>
                    </a:extLst>
                  </a:tr>
                  <a:tr h="5516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10" t="-68889" r="-263636" b="-2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Braid friction 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863061"/>
                      </a:ext>
                    </a:extLst>
                  </a:tr>
                  <a:tr h="4292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10" t="-214085" r="-263636" b="-2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Hydraulic pressure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Pa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10583307"/>
                      </a:ext>
                    </a:extLst>
                  </a:tr>
                  <a:tr h="522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10" t="-262353" r="-263636" b="-8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/>
                            <a:t>Actuator diameter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/>
                            <a:t>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3996534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10" t="-452941" r="-263636" b="-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/>
                            <a:t>Active actuator length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050" dirty="0"/>
                            <a:t>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017260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CDA3460C-45AE-DEB8-37C8-30028382B346}"/>
              </a:ext>
            </a:extLst>
          </p:cNvPr>
          <p:cNvSpPr txBox="1"/>
          <p:nvPr/>
        </p:nvSpPr>
        <p:spPr>
          <a:xfrm>
            <a:off x="2667003" y="1609256"/>
            <a:ext cx="1368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Constants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BDE105-33A8-8E7D-FA34-9EFFBAFFB762}"/>
                  </a:ext>
                </a:extLst>
              </p:cNvPr>
              <p:cNvSpPr txBox="1"/>
              <p:nvPr/>
            </p:nvSpPr>
            <p:spPr>
              <a:xfrm>
                <a:off x="4903511" y="1290547"/>
                <a:ext cx="183133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n-US" sz="1400" i="1" dirty="0" err="1">
                          <a:latin typeface="Cambria Math" panose="02040503050406030204" pitchFamily="18" charset="0"/>
                        </a:rPr>
                        <m:t>𝐸𝐴</m:t>
                      </m:r>
                      <m:r>
                        <a:rPr lang="en-US" sz="1400" i="1" dirty="0" err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BDE105-33A8-8E7D-FA34-9EFFBAFFB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511" y="1290547"/>
                <a:ext cx="1831339" cy="307777"/>
              </a:xfrm>
              <a:prstGeom prst="rect">
                <a:avLst/>
              </a:prstGeom>
              <a:blipFill>
                <a:blip r:embed="rId6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E628E1-1EEA-FFD6-0F98-AF6D8B863006}"/>
                  </a:ext>
                </a:extLst>
              </p:cNvPr>
              <p:cNvSpPr txBox="1"/>
              <p:nvPr/>
            </p:nvSpPr>
            <p:spPr>
              <a:xfrm>
                <a:off x="7630587" y="1280239"/>
                <a:ext cx="13449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m:rPr>
                          <m:sty m:val="p"/>
                        </m:rPr>
                        <a:rPr lang="en-US" sz="1400" i="0" dirty="0" err="1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 dirty="0" err="1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E628E1-1EEA-FFD6-0F98-AF6D8B863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587" y="1280239"/>
                <a:ext cx="1344982" cy="307777"/>
              </a:xfrm>
              <a:prstGeom prst="rect">
                <a:avLst/>
              </a:prstGeom>
              <a:blipFill>
                <a:blip r:embed="rId7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107D01-0DBC-AD21-8F84-397B7EC75233}"/>
                  </a:ext>
                </a:extLst>
              </p:cNvPr>
              <p:cNvSpPr txBox="1"/>
              <p:nvPr/>
            </p:nvSpPr>
            <p:spPr>
              <a:xfrm>
                <a:off x="10146660" y="1201121"/>
                <a:ext cx="132303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107D01-0DBC-AD21-8F84-397B7EC75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6660" y="1201121"/>
                <a:ext cx="1323033" cy="307777"/>
              </a:xfrm>
              <a:prstGeom prst="rect">
                <a:avLst/>
              </a:prstGeom>
              <a:blipFill>
                <a:blip r:embed="rId8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2" name="Table 41">
                <a:extLst>
                  <a:ext uri="{FF2B5EF4-FFF2-40B4-BE49-F238E27FC236}">
                    <a16:creationId xmlns:a16="http://schemas.microsoft.com/office/drawing/2014/main" id="{EFC6705E-1EA1-800D-B0B3-D90BA5B801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072985"/>
                  </p:ext>
                </p:extLst>
              </p:nvPr>
            </p:nvGraphicFramePr>
            <p:xfrm>
              <a:off x="4883912" y="1917033"/>
              <a:ext cx="1966666" cy="1999126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506195">
                      <a:extLst>
                        <a:ext uri="{9D8B030D-6E8A-4147-A177-3AD203B41FA5}">
                          <a16:colId xmlns:a16="http://schemas.microsoft.com/office/drawing/2014/main" val="2902579720"/>
                        </a:ext>
                      </a:extLst>
                    </a:gridCol>
                    <a:gridCol w="1031136">
                      <a:extLst>
                        <a:ext uri="{9D8B030D-6E8A-4147-A177-3AD203B41FA5}">
                          <a16:colId xmlns:a16="http://schemas.microsoft.com/office/drawing/2014/main" val="3704016445"/>
                        </a:ext>
                      </a:extLst>
                    </a:gridCol>
                    <a:gridCol w="429335">
                      <a:extLst>
                        <a:ext uri="{9D8B030D-6E8A-4147-A177-3AD203B41FA5}">
                          <a16:colId xmlns:a16="http://schemas.microsoft.com/office/drawing/2014/main" val="1868030168"/>
                        </a:ext>
                      </a:extLst>
                    </a:gridCol>
                  </a:tblGrid>
                  <a:tr h="2969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b="1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b="1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b="1" dirty="0"/>
                            <a:t>Unit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927030"/>
                      </a:ext>
                    </a:extLst>
                  </a:tr>
                  <a:tr h="48902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/>
                                  <m:t>𝐸</m:t>
                                </m:r>
                              </m:oMath>
                            </m:oMathPara>
                          </a14:m>
                          <a:endParaRPr 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Young's modulus of bladder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Pa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1962093"/>
                      </a:ext>
                    </a:extLst>
                  </a:tr>
                  <a:tr h="6811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/>
                                  <m:t>𝐴</m:t>
                                </m:r>
                              </m:oMath>
                            </m:oMathPara>
                          </a14:m>
                          <a:endParaRPr lang="en-US"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Cross-sectional area of bladder wall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m²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9069631"/>
                      </a:ext>
                    </a:extLst>
                  </a:tr>
                  <a:tr h="29690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/>
                                  <m:t>𝜀</m:t>
                                </m:r>
                              </m:oMath>
                            </m:oMathPara>
                          </a14:m>
                          <a:endParaRPr lang="en-US"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Axial strain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80565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2" name="Table 41">
                <a:extLst>
                  <a:ext uri="{FF2B5EF4-FFF2-40B4-BE49-F238E27FC236}">
                    <a16:creationId xmlns:a16="http://schemas.microsoft.com/office/drawing/2014/main" id="{EFC6705E-1EA1-800D-B0B3-D90BA5B801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8072985"/>
                  </p:ext>
                </p:extLst>
              </p:nvPr>
            </p:nvGraphicFramePr>
            <p:xfrm>
              <a:off x="4883912" y="1917033"/>
              <a:ext cx="1966666" cy="1999126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506195">
                      <a:extLst>
                        <a:ext uri="{9D8B030D-6E8A-4147-A177-3AD203B41FA5}">
                          <a16:colId xmlns:a16="http://schemas.microsoft.com/office/drawing/2014/main" val="2902579720"/>
                        </a:ext>
                      </a:extLst>
                    </a:gridCol>
                    <a:gridCol w="1031136">
                      <a:extLst>
                        <a:ext uri="{9D8B030D-6E8A-4147-A177-3AD203B41FA5}">
                          <a16:colId xmlns:a16="http://schemas.microsoft.com/office/drawing/2014/main" val="3704016445"/>
                        </a:ext>
                      </a:extLst>
                    </a:gridCol>
                    <a:gridCol w="429335">
                      <a:extLst>
                        <a:ext uri="{9D8B030D-6E8A-4147-A177-3AD203B41FA5}">
                          <a16:colId xmlns:a16="http://schemas.microsoft.com/office/drawing/2014/main" val="18680301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b="1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b="1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b="1" dirty="0"/>
                            <a:t>Unit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8927030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205" t="-72449" r="-291566" b="-1673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Young's modulus of bladder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Pa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1962093"/>
                      </a:ext>
                    </a:extLst>
                  </a:tr>
                  <a:tr h="6811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205" t="-150893" r="-291566" b="-46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Cross-sectional area of bladder wall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m²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9069631"/>
                      </a:ext>
                    </a:extLst>
                  </a:tr>
                  <a:tr h="2969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1205" t="-573469" r="-291566" b="-61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Axial strain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805658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5EAB846B-26BB-29C5-FD55-DC71865716DB}"/>
              </a:ext>
            </a:extLst>
          </p:cNvPr>
          <p:cNvSpPr txBox="1"/>
          <p:nvPr/>
        </p:nvSpPr>
        <p:spPr>
          <a:xfrm>
            <a:off x="5032025" y="1625351"/>
            <a:ext cx="1526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Constants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DA88306-376F-9D49-6EC4-3824AC5AE1B5}"/>
                  </a:ext>
                </a:extLst>
              </p:cNvPr>
              <p:cNvSpPr txBox="1"/>
              <p:nvPr/>
            </p:nvSpPr>
            <p:spPr>
              <a:xfrm>
                <a:off x="4951807" y="4087912"/>
                <a:ext cx="1783043" cy="11447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200" dirty="0"/>
                  <a:t>Area: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+mn-lt"/>
                        </a:rPr>
                        <m:t>𝐴</m:t>
                      </m:r>
                      <m:r>
                        <a:rPr lang="en-US" sz="1200" i="0">
                          <a:latin typeface="+mn-lt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+mn-lt"/>
                            </a:rPr>
                            <m:t>𝜋</m:t>
                          </m:r>
                        </m:num>
                        <m:den>
                          <m:r>
                            <a:rPr lang="en-US" sz="1200" i="0">
                              <a:latin typeface="+mn-lt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sz="1200" i="1">
                              <a:latin typeface="+mn-lt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+mn-lt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+mn-lt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>
                                  <a:latin typeface="+mn-lt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1200" i="0">
                                  <a:latin typeface="+mn-lt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200" i="0">
                              <a:latin typeface="+mn-lt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+mn-lt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+mn-lt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i="1">
                                  <a:latin typeface="+mn-lt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0">
                                  <a:latin typeface="+mn-lt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dirty="0"/>
              </a:p>
              <a:p>
                <a:pPr>
                  <a:buNone/>
                </a:pPr>
                <a:r>
                  <a:rPr lang="en-US" sz="1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200" i="1">
                            <a:latin typeface="+mn-lt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+mn-lt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1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200" i="1">
                            <a:latin typeface="+mn-lt"/>
                          </a:rPr>
                          <m:t>𝐷</m:t>
                        </m:r>
                      </m:e>
                      <m:sub>
                        <m:r>
                          <a:rPr lang="en-US" sz="1200" i="1">
                            <a:latin typeface="+mn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are the outer and inner diameters.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DA88306-376F-9D49-6EC4-3824AC5AE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807" y="4087912"/>
                <a:ext cx="1783043" cy="1144737"/>
              </a:xfrm>
              <a:prstGeom prst="rect">
                <a:avLst/>
              </a:prstGeom>
              <a:blipFill>
                <a:blip r:embed="rId10"/>
                <a:stretch>
                  <a:fillRect t="-535" b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ADA537E-A1D1-AD66-A483-EEC6A17DEB4D}"/>
                  </a:ext>
                </a:extLst>
              </p:cNvPr>
              <p:cNvSpPr txBox="1"/>
              <p:nvPr/>
            </p:nvSpPr>
            <p:spPr>
              <a:xfrm>
                <a:off x="7011157" y="1657595"/>
                <a:ext cx="2586910" cy="781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b="1" dirty="0"/>
                  <a:t>Pressure drop: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400">
                          <a:latin typeface="+mn-lt"/>
                        </a:rPr>
                        <m:t>Δ</m:t>
                      </m:r>
                      <m:r>
                        <a:rPr lang="en-US" sz="1400" i="1">
                          <a:latin typeface="+mn-lt"/>
                        </a:rPr>
                        <m:t>𝑃</m:t>
                      </m:r>
                      <m:r>
                        <a:rPr lang="en-US" sz="1400" i="0">
                          <a:latin typeface="+mn-lt"/>
                        </a:rPr>
                        <m:t>=</m:t>
                      </m:r>
                      <m:r>
                        <a:rPr lang="en-US" sz="1400" i="1">
                          <a:latin typeface="+mn-lt"/>
                        </a:rPr>
                        <m:t>𝑓</m:t>
                      </m:r>
                      <m:f>
                        <m:fPr>
                          <m:ctrlPr>
                            <a:rPr lang="en-US" sz="1400" i="1">
                              <a:latin typeface="+mn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+mn-lt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+mn-lt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400" i="1">
                                  <a:latin typeface="+mn-lt"/>
                                </a:rPr>
                                <m:t>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+mn-lt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+mn-lt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400" i="1">
                                  <a:latin typeface="+mn-lt"/>
                                </a:rPr>
                                <m:t>ℎ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1400" i="1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+mn-lt"/>
                            </a:rPr>
                            <m:t>𝜌</m:t>
                          </m:r>
                          <m:sSup>
                            <m:sSupPr>
                              <m:ctrlPr>
                                <a:rPr lang="en-US" sz="1400" i="1">
                                  <a:latin typeface="+mn-lt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+mn-lt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400" i="0">
                                  <a:latin typeface="+mn-lt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400" i="0">
                              <a:latin typeface="+mn-lt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ADA537E-A1D1-AD66-A483-EEC6A17DE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1157" y="1657595"/>
                <a:ext cx="2586910" cy="781752"/>
              </a:xfrm>
              <a:prstGeom prst="rect">
                <a:avLst/>
              </a:prstGeom>
              <a:blipFill>
                <a:blip r:embed="rId11"/>
                <a:stretch>
                  <a:fillRect l="-708"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21C3FC8-5F1E-DBBB-253F-F6C2A98015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255217"/>
                  </p:ext>
                </p:extLst>
              </p:nvPr>
            </p:nvGraphicFramePr>
            <p:xfrm>
              <a:off x="6989453" y="2630430"/>
              <a:ext cx="2461632" cy="231648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685952">
                      <a:extLst>
                        <a:ext uri="{9D8B030D-6E8A-4147-A177-3AD203B41FA5}">
                          <a16:colId xmlns:a16="http://schemas.microsoft.com/office/drawing/2014/main" val="1214699444"/>
                        </a:ext>
                      </a:extLst>
                    </a:gridCol>
                    <a:gridCol w="988048">
                      <a:extLst>
                        <a:ext uri="{9D8B030D-6E8A-4147-A177-3AD203B41FA5}">
                          <a16:colId xmlns:a16="http://schemas.microsoft.com/office/drawing/2014/main" val="3663147915"/>
                        </a:ext>
                      </a:extLst>
                    </a:gridCol>
                    <a:gridCol w="787632">
                      <a:extLst>
                        <a:ext uri="{9D8B030D-6E8A-4147-A177-3AD203B41FA5}">
                          <a16:colId xmlns:a16="http://schemas.microsoft.com/office/drawing/2014/main" val="214156635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Unit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549007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/>
                                  <m:t>𝑓</m:t>
                                </m:r>
                              </m:oMath>
                            </m:oMathPara>
                          </a14:m>
                          <a:endParaRPr lang="en-US"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Darcy friction factor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39402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/>
                                    </m:ctrlPr>
                                  </m:sSubPr>
                                  <m:e>
                                    <m:r>
                                      <a:rPr lang="en-US" sz="1100"/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1100"/>
                                      <m:t>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Hose length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12517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/>
                                    </m:ctrlPr>
                                  </m:sSubPr>
                                  <m:e>
                                    <m:r>
                                      <a:rPr lang="en-US" sz="1100"/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100"/>
                                      <m:t>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Hose inner diameter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00883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/>
                                  <m:t>𝜌</m:t>
                                </m:r>
                              </m:oMath>
                            </m:oMathPara>
                          </a14:m>
                          <a:endParaRPr lang="en-US"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Fluid density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kg/m³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946767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/>
                                  <m:t>𝑣</m:t>
                                </m:r>
                              </m:oMath>
                            </m:oMathPara>
                          </a14:m>
                          <a:endParaRPr lang="en-US"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Fluid velocity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m/s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08526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100"/>
                                    </m:ctrlPr>
                                  </m:sSubPr>
                                  <m:e>
                                    <m:r>
                                      <a:rPr lang="en-US" sz="1100"/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100"/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Internal fluid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m²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85219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21C3FC8-5F1E-DBBB-253F-F6C2A98015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1255217"/>
                  </p:ext>
                </p:extLst>
              </p:nvPr>
            </p:nvGraphicFramePr>
            <p:xfrm>
              <a:off x="6989453" y="2630430"/>
              <a:ext cx="2461632" cy="231648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685952">
                      <a:extLst>
                        <a:ext uri="{9D8B030D-6E8A-4147-A177-3AD203B41FA5}">
                          <a16:colId xmlns:a16="http://schemas.microsoft.com/office/drawing/2014/main" val="1214699444"/>
                        </a:ext>
                      </a:extLst>
                    </a:gridCol>
                    <a:gridCol w="988048">
                      <a:extLst>
                        <a:ext uri="{9D8B030D-6E8A-4147-A177-3AD203B41FA5}">
                          <a16:colId xmlns:a16="http://schemas.microsoft.com/office/drawing/2014/main" val="3663147915"/>
                        </a:ext>
                      </a:extLst>
                    </a:gridCol>
                    <a:gridCol w="787632">
                      <a:extLst>
                        <a:ext uri="{9D8B030D-6E8A-4147-A177-3AD203B41FA5}">
                          <a16:colId xmlns:a16="http://schemas.microsoft.com/office/drawing/2014/main" val="2141566356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Unit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6549007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885" t="-62857" r="-260177" b="-3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Darcy friction factor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394021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885" t="-271429" r="-260177" b="-55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Hose length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1251765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885" t="-219718" r="-260177" b="-228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Hose inner diameter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008837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885" t="-540476" r="-260177" b="-28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Fluid density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kg/m³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946767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885" t="-625581" r="-260177" b="-179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Fluid velocity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m/s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085263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885" t="-445714" r="-260177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Internal fluid area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 dirty="0"/>
                            <a:t>m²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85219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34F59EB9-A94D-2EEA-3AA8-B84940DF103C}"/>
              </a:ext>
            </a:extLst>
          </p:cNvPr>
          <p:cNvSpPr txBox="1"/>
          <p:nvPr/>
        </p:nvSpPr>
        <p:spPr>
          <a:xfrm>
            <a:off x="7002472" y="2355037"/>
            <a:ext cx="12177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Constants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FE2D3C9-1B1E-CEC7-4010-FB2F3A4C44FC}"/>
                  </a:ext>
                </a:extLst>
              </p:cNvPr>
              <p:cNvSpPr txBox="1"/>
              <p:nvPr/>
            </p:nvSpPr>
            <p:spPr>
              <a:xfrm>
                <a:off x="7040987" y="4973077"/>
                <a:ext cx="1905377" cy="749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400" dirty="0"/>
                  <a:t>Internal area: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+mn-lt"/>
                            </a:rPr>
                            <m:t>𝐴</m:t>
                          </m:r>
                        </m:e>
                        <m:sub>
                          <m:r>
                            <a:rPr lang="en-US" sz="1400" i="1">
                              <a:latin typeface="+mn-lt"/>
                            </a:rPr>
                            <m:t>𝑖</m:t>
                          </m:r>
                        </m:sub>
                      </m:sSub>
                      <m:r>
                        <a:rPr lang="en-US" sz="1400" i="0">
                          <a:latin typeface="+mn-lt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+mn-lt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+mn-lt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+mn-lt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400" i="1">
                                  <a:latin typeface="+mn-lt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400" i="0">
                                  <a:latin typeface="+mn-lt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400" i="0">
                              <a:latin typeface="+mn-lt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FE2D3C9-1B1E-CEC7-4010-FB2F3A4C4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987" y="4973077"/>
                <a:ext cx="1905377" cy="749179"/>
              </a:xfrm>
              <a:prstGeom prst="rect">
                <a:avLst/>
              </a:prstGeom>
              <a:blipFill>
                <a:blip r:embed="rId13"/>
                <a:stretch>
                  <a:fillRect l="-958" t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4" name="Table 53">
                <a:extLst>
                  <a:ext uri="{FF2B5EF4-FFF2-40B4-BE49-F238E27FC236}">
                    <a16:creationId xmlns:a16="http://schemas.microsoft.com/office/drawing/2014/main" id="{D023324A-DCE9-FDC2-EEE9-4D1801E3F2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03601"/>
                  </p:ext>
                </p:extLst>
              </p:nvPr>
            </p:nvGraphicFramePr>
            <p:xfrm>
              <a:off x="9691067" y="1917033"/>
              <a:ext cx="2456957" cy="118872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710682">
                      <a:extLst>
                        <a:ext uri="{9D8B030D-6E8A-4147-A177-3AD203B41FA5}">
                          <a16:colId xmlns:a16="http://schemas.microsoft.com/office/drawing/2014/main" val="3941586727"/>
                        </a:ext>
                      </a:extLst>
                    </a:gridCol>
                    <a:gridCol w="1250302">
                      <a:extLst>
                        <a:ext uri="{9D8B030D-6E8A-4147-A177-3AD203B41FA5}">
                          <a16:colId xmlns:a16="http://schemas.microsoft.com/office/drawing/2014/main" val="3484307944"/>
                        </a:ext>
                      </a:extLst>
                    </a:gridCol>
                    <a:gridCol w="495973">
                      <a:extLst>
                        <a:ext uri="{9D8B030D-6E8A-4147-A177-3AD203B41FA5}">
                          <a16:colId xmlns:a16="http://schemas.microsoft.com/office/drawing/2014/main" val="1688442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b="1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b="1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b="1" dirty="0"/>
                            <a:t>Unit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57145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/>
                                    </m:ctrlPr>
                                  </m:sSubPr>
                                  <m:e>
                                    <m:r>
                                      <a:rPr lang="en-US" sz="120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200"/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Seal friction 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03202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/>
                                  <m:t>𝑁</m:t>
                                </m:r>
                              </m:oMath>
                            </m:oMathPara>
                          </a14:m>
                          <a:endParaRPr lang="en-US" sz="12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Normal force on seal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95483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4" name="Table 53">
                <a:extLst>
                  <a:ext uri="{FF2B5EF4-FFF2-40B4-BE49-F238E27FC236}">
                    <a16:creationId xmlns:a16="http://schemas.microsoft.com/office/drawing/2014/main" id="{D023324A-DCE9-FDC2-EEE9-4D1801E3F2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03601"/>
                  </p:ext>
                </p:extLst>
              </p:nvPr>
            </p:nvGraphicFramePr>
            <p:xfrm>
              <a:off x="9691067" y="1917033"/>
              <a:ext cx="2456957" cy="1188720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710682">
                      <a:extLst>
                        <a:ext uri="{9D8B030D-6E8A-4147-A177-3AD203B41FA5}">
                          <a16:colId xmlns:a16="http://schemas.microsoft.com/office/drawing/2014/main" val="3941586727"/>
                        </a:ext>
                      </a:extLst>
                    </a:gridCol>
                    <a:gridCol w="1250302">
                      <a:extLst>
                        <a:ext uri="{9D8B030D-6E8A-4147-A177-3AD203B41FA5}">
                          <a16:colId xmlns:a16="http://schemas.microsoft.com/office/drawing/2014/main" val="3484307944"/>
                        </a:ext>
                      </a:extLst>
                    </a:gridCol>
                    <a:gridCol w="495973">
                      <a:extLst>
                        <a:ext uri="{9D8B030D-6E8A-4147-A177-3AD203B41FA5}">
                          <a16:colId xmlns:a16="http://schemas.microsoft.com/office/drawing/2014/main" val="168844232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b="1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b="1"/>
                            <a:t>Meaning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b="1" dirty="0"/>
                            <a:t>Unit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571453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855" t="-60526" r="-247009" b="-1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Seal friction coefficient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-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032024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855" t="-162667" r="-247009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/>
                            <a:t>Normal force on seal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295483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62693D97-A6F4-4089-F982-9A8C827F5807}"/>
              </a:ext>
            </a:extLst>
          </p:cNvPr>
          <p:cNvSpPr txBox="1"/>
          <p:nvPr/>
        </p:nvSpPr>
        <p:spPr>
          <a:xfrm>
            <a:off x="9598067" y="1516922"/>
            <a:ext cx="130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Constants</a:t>
            </a:r>
          </a:p>
        </p:txBody>
      </p:sp>
    </p:spTree>
    <p:extLst>
      <p:ext uri="{BB962C8B-B14F-4D97-AF65-F5344CB8AC3E}">
        <p14:creationId xmlns:p14="http://schemas.microsoft.com/office/powerpoint/2010/main" val="274965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52926" y="128336"/>
            <a:ext cx="11413958" cy="417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Braiding Angle</a:t>
            </a:r>
            <a:endParaRPr lang="en-IN" sz="20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1594"/>
              </p:ext>
            </p:extLst>
          </p:nvPr>
        </p:nvGraphicFramePr>
        <p:xfrm>
          <a:off x="435813" y="727688"/>
          <a:ext cx="2602662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6628">
                  <a:extLst>
                    <a:ext uri="{9D8B030D-6E8A-4147-A177-3AD203B41FA5}">
                      <a16:colId xmlns:a16="http://schemas.microsoft.com/office/drawing/2014/main" val="2858898973"/>
                    </a:ext>
                  </a:extLst>
                </a:gridCol>
                <a:gridCol w="542586">
                  <a:extLst>
                    <a:ext uri="{9D8B030D-6E8A-4147-A177-3AD203B41FA5}">
                      <a16:colId xmlns:a16="http://schemas.microsoft.com/office/drawing/2014/main" val="3440677192"/>
                    </a:ext>
                  </a:extLst>
                </a:gridCol>
                <a:gridCol w="723448">
                  <a:extLst>
                    <a:ext uri="{9D8B030D-6E8A-4147-A177-3AD203B41FA5}">
                      <a16:colId xmlns:a16="http://schemas.microsoft.com/office/drawing/2014/main" val="3035152807"/>
                    </a:ext>
                  </a:extLst>
                </a:gridCol>
              </a:tblGrid>
              <a:tr h="421312">
                <a:tc>
                  <a:txBody>
                    <a:bodyPr/>
                    <a:lstStyle/>
                    <a:p>
                      <a:r>
                        <a:rPr lang="en-US" sz="1200" b="1" dirty="0"/>
                        <a:t>Required</a:t>
                      </a:r>
                      <a:r>
                        <a:rPr lang="en-US" sz="1200" b="1" baseline="0" dirty="0"/>
                        <a:t> Actuator Force, F</a:t>
                      </a:r>
                      <a:endParaRPr lang="en-IN" sz="12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500</a:t>
                      </a:r>
                      <a:endParaRPr lang="en-IN" sz="12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Newton</a:t>
                      </a:r>
                      <a:endParaRPr lang="en-IN" sz="12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262177"/>
                  </a:ext>
                </a:extLst>
              </a:tr>
              <a:tr h="421312">
                <a:tc>
                  <a:txBody>
                    <a:bodyPr/>
                    <a:lstStyle/>
                    <a:p>
                      <a:r>
                        <a:rPr lang="en-US" sz="1200" b="1" dirty="0"/>
                        <a:t>Considering bladder dia.,</a:t>
                      </a:r>
                      <a:r>
                        <a:rPr lang="en-US" sz="1200" b="1" baseline="0" dirty="0"/>
                        <a:t> D</a:t>
                      </a:r>
                      <a:endParaRPr lang="en-IN" sz="12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30</a:t>
                      </a:r>
                      <a:endParaRPr lang="en-IN" sz="12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Mm</a:t>
                      </a:r>
                      <a:endParaRPr lang="en-IN" sz="12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315691"/>
                  </a:ext>
                </a:extLst>
              </a:tr>
              <a:tr h="268012">
                <a:tc>
                  <a:txBody>
                    <a:bodyPr/>
                    <a:lstStyle/>
                    <a:p>
                      <a:r>
                        <a:rPr lang="en-US" sz="1200" b="1" dirty="0"/>
                        <a:t>Area of Bladder, A</a:t>
                      </a:r>
                      <a:endParaRPr lang="en-IN" sz="1200" b="1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effectLst/>
                          <a:latin typeface="Arial" panose="020B0604020202020204" pitchFamily="34" charset="0"/>
                        </a:rPr>
                        <a:t>0.00071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m²</a:t>
                      </a:r>
                      <a:endParaRPr lang="en-IN" sz="1200" dirty="0"/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428252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1014288"/>
              </p:ext>
            </p:extLst>
          </p:nvPr>
        </p:nvGraphicFramePr>
        <p:xfrm>
          <a:off x="5111916" y="727688"/>
          <a:ext cx="4736933" cy="302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382400"/>
              </p:ext>
            </p:extLst>
          </p:nvPr>
        </p:nvGraphicFramePr>
        <p:xfrm>
          <a:off x="435813" y="2251688"/>
          <a:ext cx="4526712" cy="36442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325">
                  <a:extLst>
                    <a:ext uri="{9D8B030D-6E8A-4147-A177-3AD203B41FA5}">
                      <a16:colId xmlns:a16="http://schemas.microsoft.com/office/drawing/2014/main" val="2381782100"/>
                    </a:ext>
                  </a:extLst>
                </a:gridCol>
                <a:gridCol w="955556">
                  <a:extLst>
                    <a:ext uri="{9D8B030D-6E8A-4147-A177-3AD203B41FA5}">
                      <a16:colId xmlns:a16="http://schemas.microsoft.com/office/drawing/2014/main" val="80006966"/>
                    </a:ext>
                  </a:extLst>
                </a:gridCol>
                <a:gridCol w="933072">
                  <a:extLst>
                    <a:ext uri="{9D8B030D-6E8A-4147-A177-3AD203B41FA5}">
                      <a16:colId xmlns:a16="http://schemas.microsoft.com/office/drawing/2014/main" val="2968028538"/>
                    </a:ext>
                  </a:extLst>
                </a:gridCol>
                <a:gridCol w="876863">
                  <a:extLst>
                    <a:ext uri="{9D8B030D-6E8A-4147-A177-3AD203B41FA5}">
                      <a16:colId xmlns:a16="http://schemas.microsoft.com/office/drawing/2014/main" val="3983741593"/>
                    </a:ext>
                  </a:extLst>
                </a:gridCol>
                <a:gridCol w="831896">
                  <a:extLst>
                    <a:ext uri="{9D8B030D-6E8A-4147-A177-3AD203B41FA5}">
                      <a16:colId xmlns:a16="http://schemas.microsoft.com/office/drawing/2014/main" val="3497927009"/>
                    </a:ext>
                  </a:extLst>
                </a:gridCol>
              </a:tblGrid>
              <a:tr h="30806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effectLst/>
                        </a:rPr>
                        <a:t>Initial Braid Angle (Degree)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Final Braid Angle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813513"/>
                  </a:ext>
                </a:extLst>
              </a:tr>
              <a:tr h="23047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(Contraction Factor ( </a:t>
                      </a:r>
                      <a:r>
                        <a:rPr lang="el-GR" sz="1200" b="1" u="none" strike="noStrike" dirty="0">
                          <a:effectLst/>
                        </a:rPr>
                        <a:t>ε ) )</a:t>
                      </a:r>
                      <a:endParaRPr lang="el-GR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011895"/>
                  </a:ext>
                </a:extLst>
              </a:tr>
              <a:tr h="23047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0.2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0.25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0.3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0.35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918714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5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37.16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41.66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45.79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49.64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2526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10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38.02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42.39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46.42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50.20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934340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15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39.40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43.58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47.46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51.11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435618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20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41.26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45.19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48.87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52.35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009389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25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43.53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47.18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50.62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53.91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793460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30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46.15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49.49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52.68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55.74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019606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35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49.06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52.09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55.01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57.83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344498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40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52.21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54.93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57.57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60.14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6640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45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55.55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57.97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60.33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62.64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038405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50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59.05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61.18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63.26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65.30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093752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54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61.95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63.84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65.70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67.54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280572"/>
                  </a:ext>
                </a:extLst>
              </a:tr>
              <a:tr h="2396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54.7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62.47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64.32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</a:rPr>
                        <a:t>66.14</a:t>
                      </a:r>
                      <a:endParaRPr lang="en-IN" sz="1200" b="0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</a:rPr>
                        <a:t>67.94</a:t>
                      </a:r>
                      <a:endParaRPr lang="en-IN" sz="1200" b="0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7608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129211" y="3893098"/>
            <a:ext cx="62150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t"/>
            <a:r>
              <a:rPr lang="en-US" sz="1400" b="1" dirty="0"/>
              <a:t>Conclusion: </a:t>
            </a:r>
          </a:p>
          <a:p>
            <a:pPr marL="285750" indent="-285750" algn="just" fontAlgn="t">
              <a:buFont typeface="Arial" panose="020B0604020202020204" pitchFamily="34" charset="0"/>
              <a:buChar char="•"/>
            </a:pPr>
            <a:r>
              <a:rPr lang="en-US" sz="1400" dirty="0"/>
              <a:t>Workable: 15⁰, 20⁰ and 25⁰ -&gt; good response at </a:t>
            </a:r>
            <a:r>
              <a:rPr lang="el-GR" sz="1400" dirty="0"/>
              <a:t>ε </a:t>
            </a:r>
            <a:r>
              <a:rPr lang="en-US" sz="1400" dirty="0"/>
              <a:t>≤ 0.35 </a:t>
            </a:r>
          </a:p>
          <a:p>
            <a:pPr marL="285750" indent="-285750" algn="just" fontAlgn="t">
              <a:buFont typeface="Arial" panose="020B0604020202020204" pitchFamily="34" charset="0"/>
              <a:buChar char="•"/>
            </a:pPr>
            <a:r>
              <a:rPr lang="en-US" sz="1400" dirty="0"/>
              <a:t>Can use 20⁰ -&gt; at </a:t>
            </a:r>
            <a:r>
              <a:rPr lang="el-GR" sz="1400" dirty="0"/>
              <a:t>ε </a:t>
            </a:r>
            <a:r>
              <a:rPr lang="en-US" sz="1400" dirty="0"/>
              <a:t>≤ 0.2</a:t>
            </a:r>
          </a:p>
        </p:txBody>
      </p:sp>
    </p:spTree>
    <p:extLst>
      <p:ext uri="{BB962C8B-B14F-4D97-AF65-F5344CB8AC3E}">
        <p14:creationId xmlns:p14="http://schemas.microsoft.com/office/powerpoint/2010/main" val="1171537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52926" y="128336"/>
            <a:ext cx="11413958" cy="417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Relation in Angle, Pressure and Contraction Factor</a:t>
            </a:r>
            <a:endParaRPr lang="en-IN" sz="2000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771603"/>
              </p:ext>
            </p:extLst>
          </p:nvPr>
        </p:nvGraphicFramePr>
        <p:xfrm>
          <a:off x="352925" y="819840"/>
          <a:ext cx="6171699" cy="2715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8975">
                  <a:extLst>
                    <a:ext uri="{9D8B030D-6E8A-4147-A177-3AD203B41FA5}">
                      <a16:colId xmlns:a16="http://schemas.microsoft.com/office/drawing/2014/main" val="4011131476"/>
                    </a:ext>
                  </a:extLst>
                </a:gridCol>
                <a:gridCol w="763308">
                  <a:extLst>
                    <a:ext uri="{9D8B030D-6E8A-4147-A177-3AD203B41FA5}">
                      <a16:colId xmlns:a16="http://schemas.microsoft.com/office/drawing/2014/main" val="1316083444"/>
                    </a:ext>
                  </a:extLst>
                </a:gridCol>
                <a:gridCol w="724163">
                  <a:extLst>
                    <a:ext uri="{9D8B030D-6E8A-4147-A177-3AD203B41FA5}">
                      <a16:colId xmlns:a16="http://schemas.microsoft.com/office/drawing/2014/main" val="1653031833"/>
                    </a:ext>
                  </a:extLst>
                </a:gridCol>
                <a:gridCol w="577373">
                  <a:extLst>
                    <a:ext uri="{9D8B030D-6E8A-4147-A177-3AD203B41FA5}">
                      <a16:colId xmlns:a16="http://schemas.microsoft.com/office/drawing/2014/main" val="3826370675"/>
                    </a:ext>
                  </a:extLst>
                </a:gridCol>
                <a:gridCol w="616518">
                  <a:extLst>
                    <a:ext uri="{9D8B030D-6E8A-4147-A177-3AD203B41FA5}">
                      <a16:colId xmlns:a16="http://schemas.microsoft.com/office/drawing/2014/main" val="2994967645"/>
                    </a:ext>
                  </a:extLst>
                </a:gridCol>
                <a:gridCol w="616518">
                  <a:extLst>
                    <a:ext uri="{9D8B030D-6E8A-4147-A177-3AD203B41FA5}">
                      <a16:colId xmlns:a16="http://schemas.microsoft.com/office/drawing/2014/main" val="847495709"/>
                    </a:ext>
                  </a:extLst>
                </a:gridCol>
                <a:gridCol w="655661">
                  <a:extLst>
                    <a:ext uri="{9D8B030D-6E8A-4147-A177-3AD203B41FA5}">
                      <a16:colId xmlns:a16="http://schemas.microsoft.com/office/drawing/2014/main" val="441003187"/>
                    </a:ext>
                  </a:extLst>
                </a:gridCol>
                <a:gridCol w="626303">
                  <a:extLst>
                    <a:ext uri="{9D8B030D-6E8A-4147-A177-3AD203B41FA5}">
                      <a16:colId xmlns:a16="http://schemas.microsoft.com/office/drawing/2014/main" val="3827184399"/>
                    </a:ext>
                  </a:extLst>
                </a:gridCol>
                <a:gridCol w="782880">
                  <a:extLst>
                    <a:ext uri="{9D8B030D-6E8A-4147-A177-3AD203B41FA5}">
                      <a16:colId xmlns:a16="http://schemas.microsoft.com/office/drawing/2014/main" val="1351214456"/>
                    </a:ext>
                  </a:extLst>
                </a:gridCol>
              </a:tblGrid>
              <a:tr h="161359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 dirty="0">
                          <a:effectLst/>
                        </a:rPr>
                        <a:t>Initial Braid Angle (Degree)</a:t>
                      </a:r>
                      <a:endParaRPr lang="en-IN" sz="1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 dirty="0">
                          <a:effectLst/>
                        </a:rPr>
                        <a:t>Relative Internal Pressure Value in bar</a:t>
                      </a:r>
                      <a:endParaRPr lang="en-IN" sz="1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 dirty="0">
                          <a:effectLst/>
                        </a:rPr>
                        <a:t>Pressure Logarithmic Value in bar</a:t>
                      </a:r>
                      <a:endParaRPr lang="en-IN" sz="1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81616"/>
                  </a:ext>
                </a:extLst>
              </a:tr>
              <a:tr h="1613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 dirty="0">
                          <a:effectLst/>
                        </a:rPr>
                        <a:t>0.2</a:t>
                      </a:r>
                      <a:endParaRPr lang="en-IN" sz="1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>
                          <a:effectLst/>
                        </a:rPr>
                        <a:t>0.25</a:t>
                      </a:r>
                      <a:endParaRPr lang="en-IN" sz="1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>
                          <a:effectLst/>
                        </a:rPr>
                        <a:t>0.3</a:t>
                      </a:r>
                      <a:endParaRPr lang="en-IN" sz="1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>
                          <a:effectLst/>
                        </a:rPr>
                        <a:t>0.35</a:t>
                      </a:r>
                      <a:endParaRPr lang="en-IN" sz="1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>
                          <a:effectLst/>
                        </a:rPr>
                        <a:t>0.2</a:t>
                      </a:r>
                      <a:endParaRPr lang="en-IN" sz="1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>
                          <a:effectLst/>
                        </a:rPr>
                        <a:t>0.25</a:t>
                      </a:r>
                      <a:endParaRPr lang="en-IN" sz="1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>
                          <a:effectLst/>
                        </a:rPr>
                        <a:t>0.3</a:t>
                      </a:r>
                      <a:endParaRPr lang="en-IN" sz="1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u="none" strike="noStrike" dirty="0">
                          <a:effectLst/>
                        </a:rPr>
                        <a:t>0.35</a:t>
                      </a:r>
                      <a:endParaRPr lang="en-IN" sz="1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91572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5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0.059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0.080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0.117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0.208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-1.227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-1.099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-0.931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-0.681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974477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10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0.247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0.335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0.501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0.930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-0.607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-0.475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-0.300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-0.031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3834445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15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0.599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0.825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1.275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2.595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-0.223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-0.084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0.106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0.414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321448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20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1.190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1.688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2.776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6.940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0.076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0.227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0.443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0.841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794153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25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2.189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3.272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6.090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30.727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0.340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0.515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0.785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1.488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674769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30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4.019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6.657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17.253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-35.815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0.604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0.823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1.237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1.554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331623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35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8.071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17.586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-170.921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-15.567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0.907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1.245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2.233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1.192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905074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40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23.067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-300.238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-21.276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-11.408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1.363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2.477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1.328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1.057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17266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45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-88.419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-22.635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-13.346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-9.657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1.947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1.355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1.125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0.985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186280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>
                          <a:effectLst/>
                        </a:rPr>
                        <a:t>50</a:t>
                      </a:r>
                      <a:endParaRPr lang="en-IN" sz="1200" b="1" i="0" u="none" strike="noStrike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-20.082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-13.710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-10.572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-8.715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1.303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1.137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1.024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0.940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513539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54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-13.752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-11.103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-9.408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-8.237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1.138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1.045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0.973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0.916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739580"/>
                  </a:ext>
                </a:extLst>
              </a:tr>
              <a:tr h="19932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u="none" strike="noStrike" dirty="0">
                          <a:effectLst/>
                        </a:rPr>
                        <a:t>54.7</a:t>
                      </a:r>
                      <a:endParaRPr lang="en-IN" sz="1200" b="1" i="0" u="none" strike="noStrike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-13.129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-10.794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-9.254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-8.169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1.118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1.033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0.966</a:t>
                      </a:r>
                      <a:endParaRPr lang="en-I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0.912</a:t>
                      </a:r>
                      <a:endParaRPr lang="en-I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25589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2925" y="563119"/>
            <a:ext cx="143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Diameter:</a:t>
            </a:r>
            <a:r>
              <a:rPr lang="en-US" sz="1400" dirty="0"/>
              <a:t> 30mm</a:t>
            </a:r>
            <a:endParaRPr lang="en-IN" sz="1400" dirty="0"/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2150799"/>
              </p:ext>
            </p:extLst>
          </p:nvPr>
        </p:nvGraphicFramePr>
        <p:xfrm>
          <a:off x="6861509" y="689924"/>
          <a:ext cx="4905375" cy="2924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6019000"/>
              </p:ext>
            </p:extLst>
          </p:nvPr>
        </p:nvGraphicFramePr>
        <p:xfrm>
          <a:off x="352925" y="3614095"/>
          <a:ext cx="4695326" cy="3129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10199" y="3870816"/>
            <a:ext cx="58754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Conclusion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Pressure becomes negative when the braid angle is 54.7° or more.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The actuator works safely below 54.7°.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 25° initial braid angle is selected because it remains safe up to 35% contraction strain.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The actuator shows linear contraction below 54.7° and tends to expand above 54.7°.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Theoretical analysis was also carried out for actuator diameters of 16, 20, 25, 30, 40, 50, and 60 mm.</a:t>
            </a:r>
          </a:p>
        </p:txBody>
      </p:sp>
    </p:spTree>
    <p:extLst>
      <p:ext uri="{BB962C8B-B14F-4D97-AF65-F5344CB8AC3E}">
        <p14:creationId xmlns:p14="http://schemas.microsoft.com/office/powerpoint/2010/main" val="2738210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52926" y="52136"/>
            <a:ext cx="11413958" cy="417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Iteration &amp; Conclusion on different Diameter</a:t>
            </a:r>
            <a:endParaRPr lang="en-IN" sz="20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352926" y="633663"/>
            <a:ext cx="8232608" cy="6047873"/>
            <a:chOff x="943476" y="545432"/>
            <a:chExt cx="10172200" cy="6144272"/>
          </a:xfrm>
        </p:grpSpPr>
        <p:graphicFrame>
          <p:nvGraphicFramePr>
            <p:cNvPr id="8" name="Chart 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87246465"/>
                </p:ext>
              </p:extLst>
            </p:nvPr>
          </p:nvGraphicFramePr>
          <p:xfrm>
            <a:off x="943476" y="545432"/>
            <a:ext cx="5020437" cy="29100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13" name="Chart 1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57465437"/>
                </p:ext>
              </p:extLst>
            </p:nvPr>
          </p:nvGraphicFramePr>
          <p:xfrm>
            <a:off x="5963913" y="545432"/>
            <a:ext cx="5151762" cy="29100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4" name="Chart 13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0990884"/>
                </p:ext>
              </p:extLst>
            </p:nvPr>
          </p:nvGraphicFramePr>
          <p:xfrm>
            <a:off x="943476" y="3455525"/>
            <a:ext cx="5020437" cy="323417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6" name="Chart 1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3285996"/>
                </p:ext>
              </p:extLst>
            </p:nvPr>
          </p:nvGraphicFramePr>
          <p:xfrm>
            <a:off x="5963914" y="3455525"/>
            <a:ext cx="5151762" cy="323417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sp>
        <p:nvSpPr>
          <p:cNvPr id="9" name="TextBox 8"/>
          <p:cNvSpPr txBox="1"/>
          <p:nvPr/>
        </p:nvSpPr>
        <p:spPr>
          <a:xfrm>
            <a:off x="8585533" y="2508368"/>
            <a:ext cx="351627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Conclusion from Iteration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35° braid angle with ε = 0.25 requires 61.83 bar, not feasible.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Market tubes are available in 4 to 16 mm OD.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Selected actuator size: 16 mm OD, 12 mm ID.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At 20° and ε = 0.20, required pressure is 10.71 bar.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Considering 30% losses, operating pressure is 14 bar.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Final design: D = 16 mm, L = 250 mm, θ = 20°, P = 14 bar, ε ≤ 0.35.</a:t>
            </a:r>
          </a:p>
        </p:txBody>
      </p:sp>
    </p:spTree>
    <p:extLst>
      <p:ext uri="{BB962C8B-B14F-4D97-AF65-F5344CB8AC3E}">
        <p14:creationId xmlns:p14="http://schemas.microsoft.com/office/powerpoint/2010/main" val="49492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BF513-936A-0C44-DDD7-FF5B1BF4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82771B2-F1B8-CF55-D467-6AE3BCFEE040}"/>
              </a:ext>
            </a:extLst>
          </p:cNvPr>
          <p:cNvSpPr/>
          <p:nvPr/>
        </p:nvSpPr>
        <p:spPr>
          <a:xfrm>
            <a:off x="352926" y="52136"/>
            <a:ext cx="11413958" cy="417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Theoretical &amp; Practical Length Change Comparison</a:t>
            </a:r>
            <a:endParaRPr lang="en-IN" sz="2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9FB3B8-6640-CB86-2EAE-0405BABEA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213070"/>
              </p:ext>
            </p:extLst>
          </p:nvPr>
        </p:nvGraphicFramePr>
        <p:xfrm>
          <a:off x="810207" y="3019119"/>
          <a:ext cx="4088364" cy="18288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791409">
                  <a:extLst>
                    <a:ext uri="{9D8B030D-6E8A-4147-A177-3AD203B41FA5}">
                      <a16:colId xmlns:a16="http://schemas.microsoft.com/office/drawing/2014/main" val="2619602164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1612732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ysClr val="windowText" lastClr="000000"/>
                          </a:solidFill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42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Initial active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66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Theoretical length change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168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 contracted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200 mm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32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Contraction strain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42879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72F6AD-D46A-9262-272D-2F75854D3656}"/>
                  </a:ext>
                </a:extLst>
              </p:cNvPr>
              <p:cNvSpPr txBox="1"/>
              <p:nvPr/>
            </p:nvSpPr>
            <p:spPr>
              <a:xfrm>
                <a:off x="810207" y="710795"/>
                <a:ext cx="5285793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Theoretical Analysis</a:t>
                </a:r>
              </a:p>
              <a:p>
                <a:pPr>
                  <a:buNone/>
                </a:pPr>
                <a:r>
                  <a:rPr lang="en-US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>
                          <a:latin typeface="+mn-lt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𝑡ℎ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=</m:t>
                      </m:r>
                      <m:r>
                        <a:rPr lang="en-US" i="1">
                          <a:latin typeface="+mn-lt"/>
                        </a:rPr>
                        <m:t>𝜀</m:t>
                      </m:r>
                      <m:r>
                        <a:rPr lang="en-US" i="0">
                          <a:latin typeface="+mn-lt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𝐿</m:t>
                          </m:r>
                        </m:e>
                        <m:sub>
                          <m:r>
                            <a:rPr lang="en-US" i="0">
                              <a:latin typeface="+mn-lt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Given Data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Active length,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+mn-lt"/>
                          </a:rPr>
                        </m:ctrlPr>
                      </m:sSubPr>
                      <m:e>
                        <m:r>
                          <a:rPr lang="en-US" i="1">
                            <a:latin typeface="+mn-lt"/>
                          </a:rPr>
                          <m:t>𝐿</m:t>
                        </m:r>
                      </m:e>
                      <m:sub>
                        <m:r>
                          <a:rPr lang="en-US" i="0">
                            <a:latin typeface="+mn-lt"/>
                          </a:rPr>
                          <m:t>0</m:t>
                        </m:r>
                      </m:sub>
                    </m:sSub>
                    <m:r>
                      <a:rPr lang="en-US" i="0">
                        <a:latin typeface="+mn-lt"/>
                      </a:rPr>
                      <m:t>=250</m:t>
                    </m:r>
                    <m:r>
                      <m:rPr>
                        <m:nor/>
                      </m:rPr>
                      <a:rPr lang="en-US" b="0" i="0">
                        <a:latin typeface="+mn-lt"/>
                      </a:rPr>
                      <m:t> mm</m:t>
                    </m:r>
                  </m:oMath>
                </a14:m>
                <a:endParaRPr lang="en-US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Contraction strain, </a:t>
                </a:r>
                <a14:m>
                  <m:oMath xmlns:m="http://schemas.openxmlformats.org/officeDocument/2006/math">
                    <m:r>
                      <a:rPr lang="en-US" i="1">
                        <a:latin typeface="+mn-lt"/>
                      </a:rPr>
                      <m:t>𝜀</m:t>
                    </m:r>
                    <m:r>
                      <a:rPr lang="en-US" i="0">
                        <a:latin typeface="+mn-lt"/>
                      </a:rPr>
                      <m:t>=2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0">
                        <a:latin typeface="+mn-lt"/>
                      </a:rPr>
                      <m:t>%</m:t>
                    </m:r>
                  </m:oMath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Calculation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>
                          <a:latin typeface="+mn-lt"/>
                        </a:rPr>
                        <m:t>Δ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𝑡ℎ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=0.2×250=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0">
                          <a:latin typeface="+mn-lt"/>
                        </a:rPr>
                        <m:t>0</m:t>
                      </m:r>
                      <m:r>
                        <m:rPr>
                          <m:nor/>
                        </m:rPr>
                        <a:rPr lang="en-US" b="0" i="0">
                          <a:latin typeface="+mn-lt"/>
                        </a:rPr>
                        <m:t> mm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72F6AD-D46A-9262-272D-2F75854D3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07" y="710795"/>
                <a:ext cx="5285793" cy="2308324"/>
              </a:xfrm>
              <a:prstGeom prst="rect">
                <a:avLst/>
              </a:prstGeom>
              <a:blipFill>
                <a:blip r:embed="rId2"/>
                <a:stretch>
                  <a:fillRect l="-1038"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9A3A35-4471-3190-AFE8-2D3827D23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283115"/>
              </p:ext>
            </p:extLst>
          </p:nvPr>
        </p:nvGraphicFramePr>
        <p:xfrm>
          <a:off x="5362770" y="1077000"/>
          <a:ext cx="5740658" cy="25603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47560">
                  <a:extLst>
                    <a:ext uri="{9D8B030D-6E8A-4147-A177-3AD203B41FA5}">
                      <a16:colId xmlns:a16="http://schemas.microsoft.com/office/drawing/2014/main" val="3387449339"/>
                    </a:ext>
                  </a:extLst>
                </a:gridCol>
                <a:gridCol w="1942922">
                  <a:extLst>
                    <a:ext uri="{9D8B030D-6E8A-4147-A177-3AD203B41FA5}">
                      <a16:colId xmlns:a16="http://schemas.microsoft.com/office/drawing/2014/main" val="2922603938"/>
                    </a:ext>
                  </a:extLst>
                </a:gridCol>
                <a:gridCol w="2250176">
                  <a:extLst>
                    <a:ext uri="{9D8B030D-6E8A-4147-A177-3AD203B41FA5}">
                      <a16:colId xmlns:a16="http://schemas.microsoft.com/office/drawing/2014/main" val="2280267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Pressure (bar)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NBR-Aramid (mm)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Silicone-Nylon (mm)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571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350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208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44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497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093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17794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C138D11-CF62-EF01-9E3F-CEF8397323FC}"/>
              </a:ext>
            </a:extLst>
          </p:cNvPr>
          <p:cNvSpPr txBox="1"/>
          <p:nvPr/>
        </p:nvSpPr>
        <p:spPr>
          <a:xfrm>
            <a:off x="5362770" y="707668"/>
            <a:ext cx="2148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Practical Results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34165BC-CA1E-31A8-276E-F8E75985F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696942"/>
              </p:ext>
            </p:extLst>
          </p:nvPr>
        </p:nvGraphicFramePr>
        <p:xfrm>
          <a:off x="5362770" y="4126274"/>
          <a:ext cx="4330960" cy="14630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165480">
                  <a:extLst>
                    <a:ext uri="{9D8B030D-6E8A-4147-A177-3AD203B41FA5}">
                      <a16:colId xmlns:a16="http://schemas.microsoft.com/office/drawing/2014/main" val="1980313283"/>
                    </a:ext>
                  </a:extLst>
                </a:gridCol>
                <a:gridCol w="2165480">
                  <a:extLst>
                    <a:ext uri="{9D8B030D-6E8A-4147-A177-3AD203B41FA5}">
                      <a16:colId xmlns:a16="http://schemas.microsoft.com/office/drawing/2014/main" val="638184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Length Change (mm)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77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Theoretical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968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NBR-Aramid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28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Silicone-Nylon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27671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4F170E3-E154-F980-0F1F-31AC5C308D5F}"/>
              </a:ext>
            </a:extLst>
          </p:cNvPr>
          <p:cNvSpPr txBox="1"/>
          <p:nvPr/>
        </p:nvSpPr>
        <p:spPr>
          <a:xfrm>
            <a:off x="5362770" y="375694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Maximum Length Change Comparison</a:t>
            </a:r>
          </a:p>
        </p:txBody>
      </p:sp>
    </p:spTree>
    <p:extLst>
      <p:ext uri="{BB962C8B-B14F-4D97-AF65-F5344CB8AC3E}">
        <p14:creationId xmlns:p14="http://schemas.microsoft.com/office/powerpoint/2010/main" val="1482731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20BB2-9BE9-27F5-57DF-8C69AEEE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3A3D413-B57F-9CFC-0B92-ABC8287D3E01}"/>
              </a:ext>
            </a:extLst>
          </p:cNvPr>
          <p:cNvSpPr/>
          <p:nvPr/>
        </p:nvSpPr>
        <p:spPr>
          <a:xfrm>
            <a:off x="352926" y="52136"/>
            <a:ext cx="11413958" cy="417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Theoretical &amp; Practical Length Change Comparison</a:t>
            </a:r>
            <a:endParaRPr lang="en-IN" sz="20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622D669-EAB5-95F8-A618-229FB2EC62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5394084"/>
              </p:ext>
            </p:extLst>
          </p:nvPr>
        </p:nvGraphicFramePr>
        <p:xfrm>
          <a:off x="950084" y="612166"/>
          <a:ext cx="4993515" cy="2933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9C67ED4-A87C-7DBA-C413-8218EBF522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1338249"/>
              </p:ext>
            </p:extLst>
          </p:nvPr>
        </p:nvGraphicFramePr>
        <p:xfrm>
          <a:off x="6299095" y="612166"/>
          <a:ext cx="5084251" cy="2933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924225C-6703-71EE-2CBF-057D981575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2039590"/>
              </p:ext>
            </p:extLst>
          </p:nvPr>
        </p:nvGraphicFramePr>
        <p:xfrm>
          <a:off x="3683953" y="3760237"/>
          <a:ext cx="4993515" cy="2696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3503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F40D3-8329-C7E8-5644-462CFDCA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4AACF5A-190F-4BF6-6059-D35CB8EDB8CD}"/>
              </a:ext>
            </a:extLst>
          </p:cNvPr>
          <p:cNvSpPr/>
          <p:nvPr/>
        </p:nvSpPr>
        <p:spPr>
          <a:xfrm>
            <a:off x="352926" y="52136"/>
            <a:ext cx="11413958" cy="417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Theoretical &amp; Practical Length Change Comparison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6346C-386A-AC65-9231-30839D7D4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52" y="852259"/>
            <a:ext cx="2889171" cy="5153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B45A74-B2A2-B728-EEC5-D3C673F01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896" y="600494"/>
            <a:ext cx="5225471" cy="2929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4AB520-6BF7-BBFF-E72E-972807E78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896" y="3639290"/>
            <a:ext cx="5225471" cy="2927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7E71C2-6FF5-B350-C824-F8E7CFCC9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587897" y="2028803"/>
            <a:ext cx="5355530" cy="300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2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F40D3-8329-C7E8-5644-462CFDCA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4AACF5A-190F-4BF6-6059-D35CB8EDB8CD}"/>
              </a:ext>
            </a:extLst>
          </p:cNvPr>
          <p:cNvSpPr/>
          <p:nvPr/>
        </p:nvSpPr>
        <p:spPr>
          <a:xfrm>
            <a:off x="352926" y="52136"/>
            <a:ext cx="11413958" cy="417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Theoretical &amp; Practical Length Change Comparison</a:t>
            </a:r>
            <a:endParaRPr lang="en-IN" sz="2000" b="1" dirty="0"/>
          </a:p>
        </p:txBody>
      </p:sp>
      <p:pic>
        <p:nvPicPr>
          <p:cNvPr id="10" name="WhatsApp Video 2026-09-29 at 1.14.29 AM">
            <a:hlinkClick r:id="" action="ppaction://media"/>
            <a:extLst>
              <a:ext uri="{FF2B5EF4-FFF2-40B4-BE49-F238E27FC236}">
                <a16:creationId xmlns:a16="http://schemas.microsoft.com/office/drawing/2014/main" id="{89861325-4867-149F-EE4E-8F555E5827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7118" y="569165"/>
            <a:ext cx="10839102" cy="610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9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5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1347</Words>
  <Application>Microsoft Office PowerPoint</Application>
  <PresentationFormat>Widescreen</PresentationFormat>
  <Paragraphs>464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HARSHIT KHARE</dc:creator>
  <cp:lastModifiedBy>Suraj Varma</cp:lastModifiedBy>
  <cp:revision>44</cp:revision>
  <dcterms:created xsi:type="dcterms:W3CDTF">2026-09-02T04:44:26Z</dcterms:created>
  <dcterms:modified xsi:type="dcterms:W3CDTF">2026-09-28T19:48:06Z</dcterms:modified>
</cp:coreProperties>
</file>