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3" r:id="rId3"/>
    <p:sldId id="274" r:id="rId4"/>
    <p:sldId id="275" r:id="rId5"/>
    <p:sldId id="257" r:id="rId6"/>
    <p:sldId id="258" r:id="rId7"/>
    <p:sldId id="267" r:id="rId8"/>
    <p:sldId id="268" r:id="rId9"/>
    <p:sldId id="269" r:id="rId10"/>
    <p:sldId id="270" r:id="rId11"/>
    <p:sldId id="271" r:id="rId12"/>
    <p:sldId id="259" r:id="rId13"/>
    <p:sldId id="260" r:id="rId14"/>
    <p:sldId id="261" r:id="rId15"/>
    <p:sldId id="262" r:id="rId16"/>
    <p:sldId id="263" r:id="rId17"/>
    <p:sldId id="264" r:id="rId18"/>
    <p:sldId id="276" r:id="rId19"/>
    <p:sldId id="266" r:id="rId20"/>
    <p:sldId id="277" r:id="rId21"/>
    <p:sldId id="278" r:id="rId22"/>
    <p:sldId id="279" r:id="rId23"/>
    <p:sldId id="280"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23-Aug-26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DESIGN AND DEVELOPMENT OF HYDRAULIC SOFT ACTUATOR FOR SDOF</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Suraj Santram Varma (Student Intern)</a:t>
            </a:r>
          </a:p>
          <a:p>
            <a:r>
              <a:rPr lang="en-US" dirty="0">
                <a:latin typeface="Times New Roman" panose="02020603050405020304" pitchFamily="18" charset="0"/>
                <a:cs typeface="Times New Roman" panose="02020603050405020304" pitchFamily="18" charset="0"/>
              </a:rPr>
              <a:t>		- Under guidance of Mr. </a:t>
            </a:r>
            <a:r>
              <a:rPr lang="en-US" dirty="0" err="1">
                <a:latin typeface="Times New Roman" panose="02020603050405020304" pitchFamily="18" charset="0"/>
                <a:cs typeface="Times New Roman" panose="02020603050405020304" pitchFamily="18" charset="0"/>
              </a:rPr>
              <a:t>Shivdas</a:t>
            </a:r>
            <a:r>
              <a:rPr lang="en-US" dirty="0">
                <a:latin typeface="Times New Roman" panose="02020603050405020304" pitchFamily="18" charset="0"/>
                <a:cs typeface="Times New Roman" panose="02020603050405020304" pitchFamily="18" charset="0"/>
              </a:rPr>
              <a:t> Prasad (Sc. E)</a:t>
            </a:r>
          </a:p>
          <a:p>
            <a:r>
              <a:rPr lang="en-US" dirty="0">
                <a:latin typeface="Times New Roman" panose="02020603050405020304" pitchFamily="18" charset="0"/>
                <a:cs typeface="Times New Roman" panose="02020603050405020304" pitchFamily="18" charset="0"/>
              </a:rPr>
              <a:t>	R&amp;DE (</a:t>
            </a:r>
            <a:r>
              <a:rPr lang="en-US" dirty="0" err="1">
                <a:latin typeface="Times New Roman" panose="02020603050405020304" pitchFamily="18" charset="0"/>
                <a:cs typeface="Times New Roman" panose="02020603050405020304" pitchFamily="18" charset="0"/>
              </a:rPr>
              <a:t>Engrs</a:t>
            </a:r>
            <a:r>
              <a:rPr lang="en-US" dirty="0">
                <a:latin typeface="Times New Roman" panose="02020603050405020304" pitchFamily="18" charset="0"/>
                <a:cs typeface="Times New Roman" panose="02020603050405020304" pitchFamily="18" charset="0"/>
              </a:rPr>
              <a:t>), DRDO, Pune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57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99A5C-A61D-9E94-3418-EF86B0224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06CBB-5EE4-589E-562D-7AEBA49CECCD}"/>
              </a:ext>
            </a:extLst>
          </p:cNvPr>
          <p:cNvSpPr>
            <a:spLocks noGrp="1"/>
          </p:cNvSpPr>
          <p:nvPr>
            <p:ph type="title"/>
          </p:nvPr>
        </p:nvSpPr>
        <p:spPr>
          <a:xfrm>
            <a:off x="1636962" y="632422"/>
            <a:ext cx="8911687" cy="617880"/>
          </a:xfrm>
        </p:spPr>
        <p:txBody>
          <a:bodyPr>
            <a:normAutofit fontScale="90000"/>
          </a:bodyPr>
          <a:lstStyle/>
          <a:p>
            <a:r>
              <a:rPr lang="en-US" dirty="0">
                <a:latin typeface="Times New Roman" panose="02020603050405020304" pitchFamily="18" charset="0"/>
                <a:cs typeface="Times New Roman" panose="02020603050405020304" pitchFamily="18" charset="0"/>
              </a:rPr>
              <a:t>History: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AC8DD5-3748-0B2B-10D0-90223A8F7600}"/>
              </a:ext>
            </a:extLst>
          </p:cNvPr>
          <p:cNvSpPr>
            <a:spLocks noGrp="1"/>
          </p:cNvSpPr>
          <p:nvPr>
            <p:ph idx="1"/>
          </p:nvPr>
        </p:nvSpPr>
        <p:spPr>
          <a:xfrm>
            <a:off x="2093992" y="1272802"/>
            <a:ext cx="9028098" cy="3756393"/>
          </a:xfrm>
        </p:spPr>
        <p:txBody>
          <a:bodyPr>
            <a:normAutofit/>
          </a:bodyPr>
          <a:lstStyle/>
          <a:p>
            <a:pPr algn="just"/>
            <a:r>
              <a:rPr lang="en-US" sz="1600" dirty="0">
                <a:latin typeface="Times New Roman" panose="02020603050405020304" pitchFamily="18" charset="0"/>
                <a:cs typeface="Times New Roman" panose="02020603050405020304" pitchFamily="18" charset="0"/>
              </a:rPr>
              <a:t>Research &amp; Development Establishment (Engineers), R&amp;DE(</a:t>
            </a:r>
            <a:r>
              <a:rPr lang="en-US" sz="1600" dirty="0" err="1">
                <a:latin typeface="Times New Roman" panose="02020603050405020304" pitchFamily="18" charset="0"/>
                <a:cs typeface="Times New Roman" panose="02020603050405020304" pitchFamily="18" charset="0"/>
              </a:rPr>
              <a:t>Engrs</a:t>
            </a:r>
            <a:r>
              <a:rPr lang="en-US" sz="1600" dirty="0">
                <a:latin typeface="Times New Roman" panose="02020603050405020304" pitchFamily="18" charset="0"/>
                <a:cs typeface="Times New Roman" panose="02020603050405020304" pitchFamily="18" charset="0"/>
              </a:rPr>
              <a:t>), became operational on 9 February 1962 with the objective of developing advanced engineering solutions for the Indian Armed Forces. Over the years, the laboratory has contributed to several major engineering programs, including mobile and modular bridging systems, composite structures, sonar domes, unmanned aerial vehicles, NBC protection systems, and ground-based launch systems. It has also contributed to the Indian Antarctic </a:t>
            </a:r>
            <a:r>
              <a:rPr lang="en-US" sz="1600" dirty="0" err="1">
                <a:latin typeface="Times New Roman" panose="02020603050405020304" pitchFamily="18" charset="0"/>
                <a:cs typeface="Times New Roman" panose="02020603050405020304" pitchFamily="18" charset="0"/>
              </a:rPr>
              <a:t>Programme</a:t>
            </a:r>
            <a:r>
              <a:rPr lang="en-US" sz="1600" dirty="0">
                <a:latin typeface="Times New Roman" panose="02020603050405020304" pitchFamily="18" charset="0"/>
                <a:cs typeface="Times New Roman" panose="02020603050405020304" pitchFamily="18" charset="0"/>
              </a:rPr>
              <a:t>, including the establishment and maintenance of Maitri Research Station.</a:t>
            </a:r>
          </a:p>
          <a:p>
            <a:pPr algn="just"/>
            <a:r>
              <a:rPr lang="en-US" sz="1600" dirty="0">
                <a:latin typeface="Times New Roman" panose="02020603050405020304" pitchFamily="18" charset="0"/>
                <a:cs typeface="Times New Roman" panose="02020603050405020304" pitchFamily="18" charset="0"/>
              </a:rPr>
              <a:t>R&amp;DE(</a:t>
            </a:r>
            <a:r>
              <a:rPr lang="en-US" sz="1600" dirty="0" err="1">
                <a:latin typeface="Times New Roman" panose="02020603050405020304" pitchFamily="18" charset="0"/>
                <a:cs typeface="Times New Roman" panose="02020603050405020304" pitchFamily="18" charset="0"/>
              </a:rPr>
              <a:t>Engrs</a:t>
            </a:r>
            <a:r>
              <a:rPr lang="en-US" sz="1600" dirty="0">
                <a:latin typeface="Times New Roman" panose="02020603050405020304" pitchFamily="18" charset="0"/>
                <a:cs typeface="Times New Roman" panose="02020603050405020304" pitchFamily="18" charset="0"/>
              </a:rPr>
              <a:t>) has developed expertise in composite materials, MEMS, robotics, advanced manufacturing, and radar-absorbent materials. The laboratory has contributed to major missile and launch infrastructure programs and continues to work on advanced engineering technologies. In June 2025, R&amp;DE(E) signed a technology transfer agreement with NIBE Limited for the indigenous production of Modular Bridging Systems ranging from 14 m to 46 m.</a:t>
            </a:r>
          </a:p>
          <a:p>
            <a:pPr marL="0" indent="0" algn="just">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949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AE896-45CD-4066-9C01-8CB29EAF4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41449-F6AD-94E8-CCB0-9383AD7BCC5F}"/>
              </a:ext>
            </a:extLst>
          </p:cNvPr>
          <p:cNvSpPr>
            <a:spLocks noGrp="1"/>
          </p:cNvSpPr>
          <p:nvPr>
            <p:ph type="title"/>
          </p:nvPr>
        </p:nvSpPr>
        <p:spPr>
          <a:xfrm>
            <a:off x="1636962" y="632422"/>
            <a:ext cx="8911687" cy="617880"/>
          </a:xfrm>
        </p:spPr>
        <p:txBody>
          <a:bodyPr>
            <a:normAutofit fontScale="90000"/>
          </a:bodyPr>
          <a:lstStyle/>
          <a:p>
            <a:r>
              <a:rPr lang="en-US" dirty="0">
                <a:latin typeface="Times New Roman" panose="02020603050405020304" pitchFamily="18" charset="0"/>
                <a:cs typeface="Times New Roman" panose="02020603050405020304" pitchFamily="18" charset="0"/>
              </a:rPr>
              <a:t>Technology centers: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FAC091-7B8D-0A02-37BF-586430A5E097}"/>
              </a:ext>
            </a:extLst>
          </p:cNvPr>
          <p:cNvSpPr>
            <a:spLocks noGrp="1"/>
          </p:cNvSpPr>
          <p:nvPr>
            <p:ph idx="1"/>
          </p:nvPr>
        </p:nvSpPr>
        <p:spPr>
          <a:xfrm>
            <a:off x="2140641" y="1338121"/>
            <a:ext cx="9028098" cy="3756393"/>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R&amp;DE(E) is changing from being a systems engineering organization to a technology-focused research center starting in 2025. The laboratory has divided its research into six distinct verticals.</a:t>
            </a:r>
          </a:p>
          <a:p>
            <a:pPr lvl="0"/>
            <a:r>
              <a:rPr lang="en-US" b="1" dirty="0">
                <a:latin typeface="Times New Roman" panose="02020603050405020304" pitchFamily="18" charset="0"/>
                <a:cs typeface="Times New Roman" panose="02020603050405020304" pitchFamily="18" charset="0"/>
              </a:rPr>
              <a:t>Center for Systems &amp; Technologies for Advanced Robotics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C-STAR</a:t>
            </a:r>
            <a:r>
              <a:rPr lang="en-US" dirty="0">
                <a:latin typeface="Times New Roman" panose="02020603050405020304" pitchFamily="18" charset="0"/>
                <a:cs typeface="Times New Roman" panose="02020603050405020304" pitchFamily="18" charset="0"/>
              </a:rPr>
              <a:t>) - focuses on the development of humanoids and robotic mules. Studies on swarm intelligence, AI &amp; ML applications, biomimetic robots, and cognition-based robotics.</a:t>
            </a:r>
          </a:p>
          <a:p>
            <a:pPr lvl="0"/>
            <a:r>
              <a:rPr lang="en-US" b="1" dirty="0">
                <a:latin typeface="Times New Roman" panose="02020603050405020304" pitchFamily="18" charset="0"/>
                <a:cs typeface="Times New Roman" panose="02020603050405020304" pitchFamily="18" charset="0"/>
              </a:rPr>
              <a:t>Composite Research Center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CRC</a:t>
            </a:r>
            <a:r>
              <a:rPr lang="en-US" dirty="0">
                <a:latin typeface="Times New Roman" panose="02020603050405020304" pitchFamily="18" charset="0"/>
                <a:cs typeface="Times New Roman" panose="02020603050405020304" pitchFamily="18" charset="0"/>
              </a:rPr>
              <a:t>) - specializes in using composite materials for airframes, aircraft radomes, sonar domes, armored hulls, and bridges. Stealth technology, fatigue analysis in composites, and structural health monitoring are important areas of focus.</a:t>
            </a:r>
          </a:p>
          <a:p>
            <a:pPr lvl="0"/>
            <a:r>
              <a:rPr lang="en-US" b="1" dirty="0">
                <a:latin typeface="Times New Roman" panose="02020603050405020304" pitchFamily="18" charset="0"/>
                <a:cs typeface="Times New Roman" panose="02020603050405020304" pitchFamily="18" charset="0"/>
              </a:rPr>
              <a:t>Centre for Electromagnetic System Research</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CEMSR</a:t>
            </a:r>
            <a:r>
              <a:rPr lang="en-US" dirty="0">
                <a:latin typeface="Times New Roman" panose="02020603050405020304" pitchFamily="18" charset="0"/>
                <a:cs typeface="Times New Roman" panose="02020603050405020304" pitchFamily="18" charset="0"/>
              </a:rPr>
              <a:t>) - electromagnetic launch systems are the focus. Developing military aircraft launchers and arresting systems.</a:t>
            </a:r>
          </a:p>
          <a:p>
            <a:pPr lvl="0"/>
            <a:r>
              <a:rPr lang="en-US" b="1" dirty="0">
                <a:latin typeface="Times New Roman" panose="02020603050405020304" pitchFamily="18" charset="0"/>
                <a:cs typeface="Times New Roman" panose="02020603050405020304" pitchFamily="18" charset="0"/>
              </a:rPr>
              <a:t>Advanced Technology Research Center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ATRC</a:t>
            </a:r>
            <a:r>
              <a:rPr lang="en-US" dirty="0">
                <a:latin typeface="Times New Roman" panose="02020603050405020304" pitchFamily="18" charset="0"/>
                <a:cs typeface="Times New Roman" panose="02020603050405020304" pitchFamily="18" charset="0"/>
              </a:rPr>
              <a:t>) - centered on subsurface blast mitigation, smart structures, and land-mine detection.</a:t>
            </a:r>
          </a:p>
          <a:p>
            <a:pPr lvl="0"/>
            <a:r>
              <a:rPr lang="en-US" b="1" dirty="0">
                <a:latin typeface="Times New Roman" panose="02020603050405020304" pitchFamily="18" charset="0"/>
                <a:cs typeface="Times New Roman" panose="02020603050405020304" pitchFamily="18" charset="0"/>
              </a:rPr>
              <a:t>Center for Renewable Energy &amp; Storage Technology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CREST</a:t>
            </a:r>
            <a:r>
              <a:rPr lang="en-US" dirty="0">
                <a:latin typeface="Times New Roman" panose="02020603050405020304" pitchFamily="18" charset="0"/>
                <a:cs typeface="Times New Roman" panose="02020603050405020304" pitchFamily="18" charset="0"/>
              </a:rPr>
              <a:t>) - constructing small energy storage devices, energy harvesting, and wireless power transmission.</a:t>
            </a:r>
          </a:p>
          <a:p>
            <a:pPr lvl="0"/>
            <a:r>
              <a:rPr lang="en-US" b="1" dirty="0">
                <a:latin typeface="Times New Roman" panose="02020603050405020304" pitchFamily="18" charset="0"/>
                <a:cs typeface="Times New Roman" panose="02020603050405020304" pitchFamily="18" charset="0"/>
              </a:rPr>
              <a:t>Center for Strategic and Tactical Systems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CSTS</a:t>
            </a:r>
            <a:r>
              <a:rPr lang="en-US" dirty="0">
                <a:latin typeface="Times New Roman" panose="02020603050405020304" pitchFamily="18" charset="0"/>
                <a:cs typeface="Times New Roman" panose="02020603050405020304" pitchFamily="18" charset="0"/>
              </a:rPr>
              <a:t>) - oversees the creation of ground support systems and launchers for strategic and tactical missile programs.</a:t>
            </a:r>
          </a:p>
        </p:txBody>
      </p:sp>
    </p:spTree>
    <p:extLst>
      <p:ext uri="{BB962C8B-B14F-4D97-AF65-F5344CB8AC3E}">
        <p14:creationId xmlns:p14="http://schemas.microsoft.com/office/powerpoint/2010/main" val="4000572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9A40-D06A-3EBF-14F3-BFAED1C55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EFE4F-2A84-A7AE-5403-6A611FF8B805}"/>
              </a:ext>
            </a:extLst>
          </p:cNvPr>
          <p:cNvSpPr>
            <a:spLocks noGrp="1"/>
          </p:cNvSpPr>
          <p:nvPr>
            <p:ph type="title"/>
          </p:nvPr>
        </p:nvSpPr>
        <p:spPr>
          <a:xfrm>
            <a:off x="1636962" y="632422"/>
            <a:ext cx="8911687" cy="617880"/>
          </a:xfrm>
        </p:spPr>
        <p:txBody>
          <a:bodyPr>
            <a:normAutofit fontScale="90000"/>
          </a:bodyPr>
          <a:lstStyle/>
          <a:p>
            <a:r>
              <a:rPr lang="en-US" dirty="0">
                <a:latin typeface="Times New Roman" panose="02020603050405020304" pitchFamily="18" charset="0"/>
                <a:cs typeface="Times New Roman" panose="02020603050405020304" pitchFamily="18" charset="0"/>
              </a:rPr>
              <a:t>Humanoid Robots: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14BEC1-D62E-FFFE-A9D0-7C214D5A001E}"/>
              </a:ext>
            </a:extLst>
          </p:cNvPr>
          <p:cNvSpPr>
            <a:spLocks noGrp="1"/>
          </p:cNvSpPr>
          <p:nvPr>
            <p:ph idx="1"/>
          </p:nvPr>
        </p:nvSpPr>
        <p:spPr>
          <a:xfrm>
            <a:off x="2140641" y="1272806"/>
            <a:ext cx="9028098" cy="3756393"/>
          </a:xfrm>
        </p:spPr>
        <p:txBody>
          <a:bodyPr>
            <a:normAutofit/>
          </a:bodyPr>
          <a:lstStyle/>
          <a:p>
            <a:r>
              <a:rPr lang="en-US" sz="1600" dirty="0">
                <a:latin typeface="Times New Roman" panose="02020603050405020304" pitchFamily="18" charset="0"/>
                <a:cs typeface="Times New Roman" panose="02020603050405020304" pitchFamily="18" charset="0"/>
              </a:rPr>
              <a:t>In May 2025, R&amp;DE(E) achieved an important milestone in development of humanoid robots for defense applications. Prototypes for the robot's upper and lower bodies have been created by the Center for Systems &amp; Technologies for Advanced Robotics, and during internal testing, some applications were successfully achieved. By participating in high-risk military missions under human supervision, the robot seeks to lessen the likelihood that soldiers may encounter potentially fatal situations. With closed-loop gripping, the humanoid's upper body system would be capable of carrying out intricate autonomous tasks. Additionally, it will be able to push obstacles, open valves, turn, push, pull, or slide doors, as well as operate in high-risk areas.</a:t>
            </a:r>
          </a:p>
          <a:p>
            <a:r>
              <a:rPr lang="en-US" sz="1600" dirty="0">
                <a:latin typeface="Times New Roman" panose="02020603050405020304" pitchFamily="18" charset="0"/>
                <a:cs typeface="Times New Roman" panose="02020603050405020304" pitchFamily="18" charset="0"/>
              </a:rPr>
              <a:t>In this the work which I had given is Hydraulic Soft Actuator.</a:t>
            </a:r>
          </a:p>
        </p:txBody>
      </p:sp>
    </p:spTree>
    <p:extLst>
      <p:ext uri="{BB962C8B-B14F-4D97-AF65-F5344CB8AC3E}">
        <p14:creationId xmlns:p14="http://schemas.microsoft.com/office/powerpoint/2010/main" val="3695883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962" y="632422"/>
            <a:ext cx="8911687" cy="128089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76547" y="1543395"/>
            <a:ext cx="9028098" cy="5016025"/>
          </a:xfrm>
        </p:spPr>
        <p:txBody>
          <a:bodyPr>
            <a:normAutofit/>
          </a:bodyPr>
          <a:lstStyle/>
          <a:p>
            <a:pPr algn="just"/>
            <a:r>
              <a:rPr lang="en-US" sz="1600" dirty="0">
                <a:latin typeface="Times New Roman" panose="02020603050405020304" pitchFamily="18" charset="0"/>
                <a:cs typeface="Times New Roman" panose="02020603050405020304" pitchFamily="18" charset="0"/>
              </a:rPr>
              <a:t>Soft robotics has become an important area of robotics because compliant structures can deform continuously, adapt to irregular surfaces, and distribute contact forces during interaction. These properties are especially useful for handling delicate objects, operating in uncertain environments, and interacting safely with the human body, where compliance is a basic design requirement rather than an added feature.</a:t>
            </a:r>
          </a:p>
          <a:p>
            <a:pPr algn="just"/>
            <a:r>
              <a:rPr lang="en-US" sz="1600" dirty="0">
                <a:latin typeface="Times New Roman" panose="02020603050405020304" pitchFamily="18" charset="0"/>
                <a:cs typeface="Times New Roman" panose="02020603050405020304" pitchFamily="18" charset="0"/>
              </a:rPr>
              <a:t>In these systems, the actuator is central to performance because it not only produces motion but also influences the load path, deformation mode, stiffness distribution, and contact behavior of the robot.</a:t>
            </a:r>
          </a:p>
          <a:p>
            <a:pPr algn="just"/>
            <a:r>
              <a:rPr lang="en-US" sz="1600" dirty="0">
                <a:latin typeface="Times New Roman" panose="02020603050405020304" pitchFamily="18" charset="0"/>
                <a:cs typeface="Times New Roman" panose="02020603050405020304" pitchFamily="18" charset="0"/>
              </a:rPr>
              <a:t>First, we discuss about Pneumatic Soft Actuator (PAM), like PAM is a soft actuator which has great potential in the field of bio-inspired robotics.</a:t>
            </a:r>
          </a:p>
          <a:p>
            <a:pPr algn="just"/>
            <a:r>
              <a:rPr lang="en-US" sz="1600" dirty="0">
                <a:latin typeface="Times New Roman" panose="02020603050405020304" pitchFamily="18" charset="0"/>
                <a:cs typeface="Times New Roman" panose="02020603050405020304" pitchFamily="18" charset="0"/>
              </a:rPr>
              <a:t>But PAM have lots of limitations such less loading capacity, losses, leakages, etc.</a:t>
            </a:r>
          </a:p>
          <a:p>
            <a:pPr algn="just"/>
            <a:r>
              <a:rPr lang="en-US" sz="1600" dirty="0">
                <a:latin typeface="Times New Roman" panose="02020603050405020304" pitchFamily="18" charset="0"/>
                <a:cs typeface="Times New Roman" panose="02020603050405020304" pitchFamily="18" charset="0"/>
              </a:rPr>
              <a:t>So, for that we are going to discussed about Designing and Modeling of Hydraulic Soft Actuator.</a:t>
            </a:r>
          </a:p>
          <a:p>
            <a:pPr algn="just"/>
            <a:r>
              <a:rPr lang="en-US" sz="1600" dirty="0">
                <a:latin typeface="Times New Roman" panose="02020603050405020304" pitchFamily="18" charset="0"/>
                <a:cs typeface="Times New Roman" panose="02020603050405020304" pitchFamily="18" charset="0"/>
              </a:rPr>
              <a:t>And we have to design for 5kg of lift.</a:t>
            </a:r>
          </a:p>
        </p:txBody>
      </p:sp>
    </p:spTree>
    <p:extLst>
      <p:ext uri="{BB962C8B-B14F-4D97-AF65-F5344CB8AC3E}">
        <p14:creationId xmlns:p14="http://schemas.microsoft.com/office/powerpoint/2010/main" val="1601548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124" y="689428"/>
            <a:ext cx="8911687" cy="623082"/>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38384" y="1386366"/>
            <a:ext cx="8814334" cy="1300850"/>
          </a:xfrm>
        </p:spPr>
        <p:txBody>
          <a:bodyPr/>
          <a:lstStyle/>
          <a:p>
            <a:pPr algn="just"/>
            <a:r>
              <a:rPr lang="en-US" sz="1600" dirty="0">
                <a:latin typeface="Times New Roman" panose="02020603050405020304" pitchFamily="18" charset="0"/>
                <a:cs typeface="Times New Roman" panose="02020603050405020304" pitchFamily="18" charset="0"/>
              </a:rPr>
              <a:t>To design and develop a single-degree-of-freedom robotic elbow joint using a hydraulic McKibben muscle actuator in an antagonistic biceps-triceps configuration, capable of lifting a minimum 5 kg load while providing the required joint torque, motion, and structural safety.</a:t>
            </a:r>
          </a:p>
        </p:txBody>
      </p:sp>
      <p:sp>
        <p:nvSpPr>
          <p:cNvPr id="4" name="Title 1">
            <a:extLst>
              <a:ext uri="{FF2B5EF4-FFF2-40B4-BE49-F238E27FC236}">
                <a16:creationId xmlns:a16="http://schemas.microsoft.com/office/drawing/2014/main" id="{41CFEC92-EEB1-CB3B-B8D5-3567E0A526AF}"/>
              </a:ext>
            </a:extLst>
          </p:cNvPr>
          <p:cNvSpPr txBox="1">
            <a:spLocks/>
          </p:cNvSpPr>
          <p:nvPr/>
        </p:nvSpPr>
        <p:spPr>
          <a:xfrm>
            <a:off x="1752124" y="2375675"/>
            <a:ext cx="2126295" cy="62308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Objective:</a:t>
            </a:r>
            <a:endParaRPr lang="en-IN"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D7FDE61-FB3C-0298-EDF8-A52535F19A7C}"/>
              </a:ext>
            </a:extLst>
          </p:cNvPr>
          <p:cNvSpPr txBox="1">
            <a:spLocks/>
          </p:cNvSpPr>
          <p:nvPr/>
        </p:nvSpPr>
        <p:spPr>
          <a:xfrm>
            <a:off x="2387044" y="2927197"/>
            <a:ext cx="4047963" cy="25900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the working principle and characteristics of hydraulic McKibben muscle actuators for robotic applications.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single-DOF robotic elbow joint using a biceps-triceps type McKibben actuator arrangement for a minimum 5 kg load.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required joint torque, actuator force, pressure, and braided sheath parameters. </a:t>
            </a:r>
          </a:p>
        </p:txBody>
      </p:sp>
      <p:pic>
        <p:nvPicPr>
          <p:cNvPr id="8" name="Picture 7">
            <a:extLst>
              <a:ext uri="{FF2B5EF4-FFF2-40B4-BE49-F238E27FC236}">
                <a16:creationId xmlns:a16="http://schemas.microsoft.com/office/drawing/2014/main" id="{05F2152F-2FE7-7DC4-A638-D7E7EBD816A3}"/>
              </a:ext>
            </a:extLst>
          </p:cNvPr>
          <p:cNvPicPr>
            <a:picLocks noChangeAspect="1"/>
          </p:cNvPicPr>
          <p:nvPr/>
        </p:nvPicPr>
        <p:blipFill>
          <a:blip r:embed="rId2"/>
          <a:srcRect l="5818" t="23636" r="4542"/>
          <a:stretch/>
        </p:blipFill>
        <p:spPr>
          <a:xfrm>
            <a:off x="6667018" y="2417490"/>
            <a:ext cx="4994168" cy="3751082"/>
          </a:xfrm>
          <a:prstGeom prst="rect">
            <a:avLst/>
          </a:prstGeom>
        </p:spPr>
      </p:pic>
    </p:spTree>
    <p:extLst>
      <p:ext uri="{BB962C8B-B14F-4D97-AF65-F5344CB8AC3E}">
        <p14:creationId xmlns:p14="http://schemas.microsoft.com/office/powerpoint/2010/main" val="108379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2F9848D-E8EC-3847-59E5-3C01C4742080}"/>
              </a:ext>
            </a:extLst>
          </p:cNvPr>
          <p:cNvGraphicFramePr>
            <a:graphicFrameLocks noGrp="1"/>
          </p:cNvGraphicFramePr>
          <p:nvPr>
            <p:extLst>
              <p:ext uri="{D42A27DB-BD31-4B8C-83A1-F6EECF244321}">
                <p14:modId xmlns:p14="http://schemas.microsoft.com/office/powerpoint/2010/main" val="2910135284"/>
              </p:ext>
            </p:extLst>
          </p:nvPr>
        </p:nvGraphicFramePr>
        <p:xfrm>
          <a:off x="1851949" y="1440322"/>
          <a:ext cx="9259747" cy="4026878"/>
        </p:xfrm>
        <a:graphic>
          <a:graphicData uri="http://schemas.openxmlformats.org/drawingml/2006/table">
            <a:tbl>
              <a:tblPr/>
              <a:tblGrid>
                <a:gridCol w="590310">
                  <a:extLst>
                    <a:ext uri="{9D8B030D-6E8A-4147-A177-3AD203B41FA5}">
                      <a16:colId xmlns:a16="http://schemas.microsoft.com/office/drawing/2014/main" val="3535979394"/>
                    </a:ext>
                  </a:extLst>
                </a:gridCol>
                <a:gridCol w="1342663">
                  <a:extLst>
                    <a:ext uri="{9D8B030D-6E8A-4147-A177-3AD203B41FA5}">
                      <a16:colId xmlns:a16="http://schemas.microsoft.com/office/drawing/2014/main" val="2803354011"/>
                    </a:ext>
                  </a:extLst>
                </a:gridCol>
                <a:gridCol w="2035490">
                  <a:extLst>
                    <a:ext uri="{9D8B030D-6E8A-4147-A177-3AD203B41FA5}">
                      <a16:colId xmlns:a16="http://schemas.microsoft.com/office/drawing/2014/main" val="2357653448"/>
                    </a:ext>
                  </a:extLst>
                </a:gridCol>
                <a:gridCol w="1322821">
                  <a:extLst>
                    <a:ext uri="{9D8B030D-6E8A-4147-A177-3AD203B41FA5}">
                      <a16:colId xmlns:a16="http://schemas.microsoft.com/office/drawing/2014/main" val="2307216443"/>
                    </a:ext>
                  </a:extLst>
                </a:gridCol>
                <a:gridCol w="1322821">
                  <a:extLst>
                    <a:ext uri="{9D8B030D-6E8A-4147-A177-3AD203B41FA5}">
                      <a16:colId xmlns:a16="http://schemas.microsoft.com/office/drawing/2014/main" val="1220081335"/>
                    </a:ext>
                  </a:extLst>
                </a:gridCol>
                <a:gridCol w="1322821">
                  <a:extLst>
                    <a:ext uri="{9D8B030D-6E8A-4147-A177-3AD203B41FA5}">
                      <a16:colId xmlns:a16="http://schemas.microsoft.com/office/drawing/2014/main" val="1503943532"/>
                    </a:ext>
                  </a:extLst>
                </a:gridCol>
                <a:gridCol w="1322821">
                  <a:extLst>
                    <a:ext uri="{9D8B030D-6E8A-4147-A177-3AD203B41FA5}">
                      <a16:colId xmlns:a16="http://schemas.microsoft.com/office/drawing/2014/main" val="2451333525"/>
                    </a:ext>
                  </a:extLst>
                </a:gridCol>
              </a:tblGrid>
              <a:tr h="0">
                <a:tc>
                  <a:txBody>
                    <a:bodyPr/>
                    <a:lstStyle/>
                    <a:p>
                      <a:r>
                        <a:rPr lang="en-IN" sz="1400">
                          <a:latin typeface="Times New Roman" panose="02020603050405020304" pitchFamily="18" charset="0"/>
                          <a:cs typeface="Times New Roman" panose="02020603050405020304" pitchFamily="18" charset="0"/>
                        </a:rPr>
                        <a:t>Year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632231"/>
                  </a:ext>
                </a:extLst>
              </a:tr>
              <a:tr h="1826846">
                <a:tc>
                  <a:txBody>
                    <a:bodyPr/>
                    <a:lstStyle/>
                    <a:p>
                      <a:r>
                        <a:rPr lang="en-IN" sz="1400">
                          <a:latin typeface="Times New Roman" panose="02020603050405020304" pitchFamily="18" charset="0"/>
                          <a:cs typeface="Times New Roman" panose="02020603050405020304" pitchFamily="18" charset="0"/>
                        </a:rPr>
                        <a:t>2022</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Design and Characterization of a McKibben Pneumatic Muscle Prototype with an Embedded Capacitive Length Transducer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Machines, MDPI</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Developed an embedded capacitive sensor capable of measuring muscle-length changes below 1 mm.</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Requires a specialized embedded sensing arrangement.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future actuator displacement measurement and feedback.</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9449609"/>
                  </a:ext>
                </a:extLst>
              </a:tr>
              <a:tr h="1727200">
                <a:tc>
                  <a:txBody>
                    <a:bodyPr/>
                    <a:lstStyle/>
                    <a:p>
                      <a:r>
                        <a:rPr lang="en-IN" sz="1400">
                          <a:latin typeface="Times New Roman" panose="02020603050405020304" pitchFamily="18" charset="0"/>
                          <a:cs typeface="Times New Roman" panose="02020603050405020304" pitchFamily="18" charset="0"/>
                        </a:rPr>
                        <a:t>2018/2019</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Hassan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Finite Element Modeling and Design of a Pneumatic Braided Muscle Actuator with Multifunctional Capabilities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IEEE/ASME Transactions on Mechatronics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bidirectional braided actuator with more than 40% stroke and demonstrated it in a 1-DOF variable-stiffness joint.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More complex sheath configuration and pneumatic operation.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Highly relevant to our 1-DOF robotic elbow and antagonistic actuator concept.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0359614"/>
                  </a:ext>
                </a:extLst>
              </a:tr>
            </a:tbl>
          </a:graphicData>
        </a:graphic>
      </p:graphicFrame>
    </p:spTree>
    <p:extLst>
      <p:ext uri="{BB962C8B-B14F-4D97-AF65-F5344CB8AC3E}">
        <p14:creationId xmlns:p14="http://schemas.microsoft.com/office/powerpoint/2010/main" val="3504934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CEE0453-256F-3E3E-50F4-CA484AC6F77D}"/>
              </a:ext>
            </a:extLst>
          </p:cNvPr>
          <p:cNvGraphicFramePr>
            <a:graphicFrameLocks noGrp="1"/>
          </p:cNvGraphicFramePr>
          <p:nvPr>
            <p:extLst>
              <p:ext uri="{D42A27DB-BD31-4B8C-83A1-F6EECF244321}">
                <p14:modId xmlns:p14="http://schemas.microsoft.com/office/powerpoint/2010/main" val="2519129497"/>
              </p:ext>
            </p:extLst>
          </p:nvPr>
        </p:nvGraphicFramePr>
        <p:xfrm>
          <a:off x="1908930" y="1343608"/>
          <a:ext cx="8936548" cy="4584712"/>
        </p:xfrm>
        <a:graphic>
          <a:graphicData uri="http://schemas.openxmlformats.org/drawingml/2006/table">
            <a:tbl>
              <a:tblPr/>
              <a:tblGrid>
                <a:gridCol w="463880">
                  <a:extLst>
                    <a:ext uri="{9D8B030D-6E8A-4147-A177-3AD203B41FA5}">
                      <a16:colId xmlns:a16="http://schemas.microsoft.com/office/drawing/2014/main" val="1395131405"/>
                    </a:ext>
                  </a:extLst>
                </a:gridCol>
                <a:gridCol w="1192193">
                  <a:extLst>
                    <a:ext uri="{9D8B030D-6E8A-4147-A177-3AD203B41FA5}">
                      <a16:colId xmlns:a16="http://schemas.microsoft.com/office/drawing/2014/main" val="1793049266"/>
                    </a:ext>
                  </a:extLst>
                </a:gridCol>
                <a:gridCol w="1818380">
                  <a:extLst>
                    <a:ext uri="{9D8B030D-6E8A-4147-A177-3AD203B41FA5}">
                      <a16:colId xmlns:a16="http://schemas.microsoft.com/office/drawing/2014/main" val="805150502"/>
                    </a:ext>
                  </a:extLst>
                </a:gridCol>
                <a:gridCol w="1376232">
                  <a:extLst>
                    <a:ext uri="{9D8B030D-6E8A-4147-A177-3AD203B41FA5}">
                      <a16:colId xmlns:a16="http://schemas.microsoft.com/office/drawing/2014/main" val="2502743979"/>
                    </a:ext>
                  </a:extLst>
                </a:gridCol>
                <a:gridCol w="1504709">
                  <a:extLst>
                    <a:ext uri="{9D8B030D-6E8A-4147-A177-3AD203B41FA5}">
                      <a16:colId xmlns:a16="http://schemas.microsoft.com/office/drawing/2014/main" val="3367861143"/>
                    </a:ext>
                  </a:extLst>
                </a:gridCol>
                <a:gridCol w="1388962">
                  <a:extLst>
                    <a:ext uri="{9D8B030D-6E8A-4147-A177-3AD203B41FA5}">
                      <a16:colId xmlns:a16="http://schemas.microsoft.com/office/drawing/2014/main" val="1976370255"/>
                    </a:ext>
                  </a:extLst>
                </a:gridCol>
                <a:gridCol w="1192192">
                  <a:extLst>
                    <a:ext uri="{9D8B030D-6E8A-4147-A177-3AD203B41FA5}">
                      <a16:colId xmlns:a16="http://schemas.microsoft.com/office/drawing/2014/main" val="1564934690"/>
                    </a:ext>
                  </a:extLst>
                </a:gridCol>
              </a:tblGrid>
              <a:tr h="369445">
                <a:tc>
                  <a:txBody>
                    <a:bodyPr/>
                    <a:lstStyle/>
                    <a:p>
                      <a:r>
                        <a:rPr lang="en-IN" sz="140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03169"/>
                  </a:ext>
                </a:extLst>
              </a:tr>
              <a:tr h="1903754">
                <a:tc>
                  <a:txBody>
                    <a:bodyPr/>
                    <a:lstStyle/>
                    <a:p>
                      <a:r>
                        <a:rPr lang="en-IN" sz="1400">
                          <a:latin typeface="Times New Roman" panose="02020603050405020304" pitchFamily="18" charset="0"/>
                          <a:cs typeface="Times New Roman" panose="02020603050405020304" pitchFamily="18" charset="0"/>
                        </a:rPr>
                        <a:t>2018</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An Analytical Formula for Designing McKibben Pneumatic Muscles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International Journal of Mechanical Engineering and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 analytical force formula based on pressure, geometry, and contraction using FEM results.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Valid only within the investigated parameter ranges.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preliminary sizing of our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634041"/>
                  </a:ext>
                </a:extLst>
              </a:tr>
              <a:tr h="2311513">
                <a:tc>
                  <a:txBody>
                    <a:bodyPr/>
                    <a:lstStyle/>
                    <a:p>
                      <a:r>
                        <a:rPr lang="en-IN" sz="140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Numerical Modelling and Experimental Validation of a McKibben Pneumatic Muscle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Journal of Intelligent Material Systems and Structures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nonlinear FEM considering hyperelastic tube behaviour and validated it experimentally.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Thread friction and initial tube-braid gap were not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Provides a basis for nonlinear FEM and experimental validation.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946841"/>
                  </a:ext>
                </a:extLst>
              </a:tr>
            </a:tbl>
          </a:graphicData>
        </a:graphic>
      </p:graphicFrame>
    </p:spTree>
    <p:extLst>
      <p:ext uri="{BB962C8B-B14F-4D97-AF65-F5344CB8AC3E}">
        <p14:creationId xmlns:p14="http://schemas.microsoft.com/office/powerpoint/2010/main" val="406267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C44D4ED-5969-B395-520C-E52DFDFE96C1}"/>
              </a:ext>
            </a:extLst>
          </p:cNvPr>
          <p:cNvGraphicFramePr>
            <a:graphicFrameLocks noGrp="1"/>
          </p:cNvGraphicFramePr>
          <p:nvPr>
            <p:extLst>
              <p:ext uri="{D42A27DB-BD31-4B8C-83A1-F6EECF244321}">
                <p14:modId xmlns:p14="http://schemas.microsoft.com/office/powerpoint/2010/main" val="3132320945"/>
              </p:ext>
            </p:extLst>
          </p:nvPr>
        </p:nvGraphicFramePr>
        <p:xfrm>
          <a:off x="1932971" y="1343608"/>
          <a:ext cx="8911686" cy="4710742"/>
        </p:xfrm>
        <a:graphic>
          <a:graphicData uri="http://schemas.openxmlformats.org/drawingml/2006/table">
            <a:tbl>
              <a:tblPr/>
              <a:tblGrid>
                <a:gridCol w="567161">
                  <a:extLst>
                    <a:ext uri="{9D8B030D-6E8A-4147-A177-3AD203B41FA5}">
                      <a16:colId xmlns:a16="http://schemas.microsoft.com/office/drawing/2014/main" val="1462864271"/>
                    </a:ext>
                  </a:extLst>
                </a:gridCol>
                <a:gridCol w="1192192">
                  <a:extLst>
                    <a:ext uri="{9D8B030D-6E8A-4147-A177-3AD203B41FA5}">
                      <a16:colId xmlns:a16="http://schemas.microsoft.com/office/drawing/2014/main" val="3406782331"/>
                    </a:ext>
                  </a:extLst>
                </a:gridCol>
                <a:gridCol w="2059941">
                  <a:extLst>
                    <a:ext uri="{9D8B030D-6E8A-4147-A177-3AD203B41FA5}">
                      <a16:colId xmlns:a16="http://schemas.microsoft.com/office/drawing/2014/main" val="4125801229"/>
                    </a:ext>
                  </a:extLst>
                </a:gridCol>
                <a:gridCol w="1099948">
                  <a:extLst>
                    <a:ext uri="{9D8B030D-6E8A-4147-A177-3AD203B41FA5}">
                      <a16:colId xmlns:a16="http://schemas.microsoft.com/office/drawing/2014/main" val="1724235165"/>
                    </a:ext>
                  </a:extLst>
                </a:gridCol>
                <a:gridCol w="1446248">
                  <a:extLst>
                    <a:ext uri="{9D8B030D-6E8A-4147-A177-3AD203B41FA5}">
                      <a16:colId xmlns:a16="http://schemas.microsoft.com/office/drawing/2014/main" val="833784191"/>
                    </a:ext>
                  </a:extLst>
                </a:gridCol>
                <a:gridCol w="1273098">
                  <a:extLst>
                    <a:ext uri="{9D8B030D-6E8A-4147-A177-3AD203B41FA5}">
                      <a16:colId xmlns:a16="http://schemas.microsoft.com/office/drawing/2014/main" val="3686952323"/>
                    </a:ext>
                  </a:extLst>
                </a:gridCol>
                <a:gridCol w="1273098">
                  <a:extLst>
                    <a:ext uri="{9D8B030D-6E8A-4147-A177-3AD203B41FA5}">
                      <a16:colId xmlns:a16="http://schemas.microsoft.com/office/drawing/2014/main" val="2689067491"/>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0444861"/>
                  </a:ext>
                </a:extLst>
              </a:tr>
              <a:tr h="2418849">
                <a:tc>
                  <a:txBody>
                    <a:bodyPr/>
                    <a:lstStyle/>
                    <a:p>
                      <a:r>
                        <a:rPr lang="en-IN" sz="1400" dirty="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K. P. Ashwin, A. Ghosal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Mathematical Model for Pressure-Deformation Relationship of Miniaturized McKibben Actuators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iNaCoMM 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pressure-deformation model with less than 10% standard error and predicted the locking angle near 54.7°.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miniaturized actuators and specific modelling assumptions.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understanding pressure, deformation, and braid-angle relationships.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9947300"/>
                  </a:ext>
                </a:extLst>
              </a:tr>
              <a:tr h="1945597">
                <a:tc>
                  <a:txBody>
                    <a:bodyPr/>
                    <a:lstStyle/>
                    <a:p>
                      <a:r>
                        <a:rPr lang="en-IN" sz="1400">
                          <a:latin typeface="Times New Roman" panose="02020603050405020304" pitchFamily="18" charset="0"/>
                          <a:cs typeface="Times New Roman" panose="02020603050405020304" pitchFamily="18" charset="0"/>
                        </a:rPr>
                        <a:t>2014</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Nozaki, T. Noritsugu</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Motion Analysis of McKibben Type Pneumatic Rubber Artificial Muscle with Finite Element Method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3D FEM model and investigated the influence of braid angle on actuator motion.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Friction between tube, fibers, and fiber strands was not directly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Useful for braid-angle analysis and FEA methodology.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3205130"/>
                  </a:ext>
                </a:extLst>
              </a:tr>
            </a:tbl>
          </a:graphicData>
        </a:graphic>
      </p:graphicFrame>
    </p:spTree>
    <p:extLst>
      <p:ext uri="{BB962C8B-B14F-4D97-AF65-F5344CB8AC3E}">
        <p14:creationId xmlns:p14="http://schemas.microsoft.com/office/powerpoint/2010/main" val="2819990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C1422C1-6785-B615-4ED0-F9729F877233}"/>
              </a:ext>
            </a:extLst>
          </p:cNvPr>
          <p:cNvGraphicFramePr>
            <a:graphicFrameLocks noGrp="1"/>
          </p:cNvGraphicFramePr>
          <p:nvPr>
            <p:extLst>
              <p:ext uri="{D42A27DB-BD31-4B8C-83A1-F6EECF244321}">
                <p14:modId xmlns:p14="http://schemas.microsoft.com/office/powerpoint/2010/main" val="3306966281"/>
              </p:ext>
            </p:extLst>
          </p:nvPr>
        </p:nvGraphicFramePr>
        <p:xfrm>
          <a:off x="1909822" y="1343608"/>
          <a:ext cx="8911686" cy="4783775"/>
        </p:xfrm>
        <a:graphic>
          <a:graphicData uri="http://schemas.openxmlformats.org/drawingml/2006/table">
            <a:tbl>
              <a:tblPr/>
              <a:tblGrid>
                <a:gridCol w="520862">
                  <a:extLst>
                    <a:ext uri="{9D8B030D-6E8A-4147-A177-3AD203B41FA5}">
                      <a16:colId xmlns:a16="http://schemas.microsoft.com/office/drawing/2014/main" val="3688885732"/>
                    </a:ext>
                  </a:extLst>
                </a:gridCol>
                <a:gridCol w="1226916">
                  <a:extLst>
                    <a:ext uri="{9D8B030D-6E8A-4147-A177-3AD203B41FA5}">
                      <a16:colId xmlns:a16="http://schemas.microsoft.com/office/drawing/2014/main" val="398880205"/>
                    </a:ext>
                  </a:extLst>
                </a:gridCol>
                <a:gridCol w="1828800">
                  <a:extLst>
                    <a:ext uri="{9D8B030D-6E8A-4147-A177-3AD203B41FA5}">
                      <a16:colId xmlns:a16="http://schemas.microsoft.com/office/drawing/2014/main" val="4090413387"/>
                    </a:ext>
                  </a:extLst>
                </a:gridCol>
                <a:gridCol w="1157468">
                  <a:extLst>
                    <a:ext uri="{9D8B030D-6E8A-4147-A177-3AD203B41FA5}">
                      <a16:colId xmlns:a16="http://schemas.microsoft.com/office/drawing/2014/main" val="4039513427"/>
                    </a:ext>
                  </a:extLst>
                </a:gridCol>
                <a:gridCol w="1631444">
                  <a:extLst>
                    <a:ext uri="{9D8B030D-6E8A-4147-A177-3AD203B41FA5}">
                      <a16:colId xmlns:a16="http://schemas.microsoft.com/office/drawing/2014/main" val="2474392903"/>
                    </a:ext>
                  </a:extLst>
                </a:gridCol>
                <a:gridCol w="1273098">
                  <a:extLst>
                    <a:ext uri="{9D8B030D-6E8A-4147-A177-3AD203B41FA5}">
                      <a16:colId xmlns:a16="http://schemas.microsoft.com/office/drawing/2014/main" val="4033813967"/>
                    </a:ext>
                  </a:extLst>
                </a:gridCol>
                <a:gridCol w="1273098">
                  <a:extLst>
                    <a:ext uri="{9D8B030D-6E8A-4147-A177-3AD203B41FA5}">
                      <a16:colId xmlns:a16="http://schemas.microsoft.com/office/drawing/2014/main" val="3385375379"/>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631198"/>
                  </a:ext>
                </a:extLst>
              </a:tr>
              <a:tr h="1947057">
                <a:tc>
                  <a:txBody>
                    <a:bodyPr/>
                    <a:lstStyle/>
                    <a:p>
                      <a:r>
                        <a:rPr lang="en-IN" sz="1400" dirty="0">
                          <a:latin typeface="Times New Roman" panose="02020603050405020304" pitchFamily="18" charset="0"/>
                          <a:cs typeface="Times New Roman" panose="02020603050405020304" pitchFamily="18" charset="0"/>
                        </a:rPr>
                        <a:t>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1400">
                          <a:latin typeface="Times New Roman" panose="02020603050405020304" pitchFamily="18" charset="0"/>
                          <a:cs typeface="Times New Roman" panose="02020603050405020304" pitchFamily="18" charset="0"/>
                        </a:rPr>
                        <a:t>I. da Paz Lopes, W. Scaff, O. Horikawa</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Development A Nonconducting Manipulator, McKibben Pneumatic Artificial Muscle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COBEM 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and experimentally tested a nonconducting McKibben actuator for a robotic manipulator.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Relatively low force and force reduction was observed, possibly due to leakage.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actuator fabrication and robotic integration.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1380532"/>
                  </a:ext>
                </a:extLst>
              </a:tr>
              <a:tr h="2490422">
                <a:tc>
                  <a:txBody>
                    <a:bodyPr/>
                    <a:lstStyle/>
                    <a:p>
                      <a:r>
                        <a:rPr lang="en-IN" sz="1400">
                          <a:latin typeface="Times New Roman" panose="02020603050405020304" pitchFamily="18" charset="0"/>
                          <a:cs typeface="Times New Roman" panose="02020603050405020304" pitchFamily="18" charset="0"/>
                        </a:rPr>
                        <a:t>2012</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K. Iwata, K. Suzumori, S. Wakimoto</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Method of Designing and Fabricating McKibben Muscles Driven by 7 MPa Hydraulics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hydraulic McKibben muscle and achieved about 8 kN contraction force at 7 MPa. FEM was used to optimize the sleeve angle.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high-pressure hydraulic operation.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The most directly relevant paper to our hydraulic McKibben actuator and sheath design.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711894"/>
                  </a:ext>
                </a:extLst>
              </a:tr>
            </a:tbl>
          </a:graphicData>
        </a:graphic>
      </p:graphicFrame>
    </p:spTree>
    <p:extLst>
      <p:ext uri="{BB962C8B-B14F-4D97-AF65-F5344CB8AC3E}">
        <p14:creationId xmlns:p14="http://schemas.microsoft.com/office/powerpoint/2010/main" val="2006506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1751E34-5D14-B7D8-9B3A-1F49608FB0B4}"/>
              </a:ext>
            </a:extLst>
          </p:cNvPr>
          <p:cNvGraphicFramePr>
            <a:graphicFrameLocks noGrp="1"/>
          </p:cNvGraphicFramePr>
          <p:nvPr>
            <p:extLst>
              <p:ext uri="{D42A27DB-BD31-4B8C-83A1-F6EECF244321}">
                <p14:modId xmlns:p14="http://schemas.microsoft.com/office/powerpoint/2010/main" val="2384069646"/>
              </p:ext>
            </p:extLst>
          </p:nvPr>
        </p:nvGraphicFramePr>
        <p:xfrm>
          <a:off x="1895071" y="1343608"/>
          <a:ext cx="9125765" cy="2873215"/>
        </p:xfrm>
        <a:graphic>
          <a:graphicData uri="http://schemas.openxmlformats.org/drawingml/2006/table">
            <a:tbl>
              <a:tblPr/>
              <a:tblGrid>
                <a:gridCol w="628210">
                  <a:extLst>
                    <a:ext uri="{9D8B030D-6E8A-4147-A177-3AD203B41FA5}">
                      <a16:colId xmlns:a16="http://schemas.microsoft.com/office/drawing/2014/main" val="3483630056"/>
                    </a:ext>
                  </a:extLst>
                </a:gridCol>
                <a:gridCol w="1493134">
                  <a:extLst>
                    <a:ext uri="{9D8B030D-6E8A-4147-A177-3AD203B41FA5}">
                      <a16:colId xmlns:a16="http://schemas.microsoft.com/office/drawing/2014/main" val="2542295024"/>
                    </a:ext>
                  </a:extLst>
                </a:gridCol>
                <a:gridCol w="2268638">
                  <a:extLst>
                    <a:ext uri="{9D8B030D-6E8A-4147-A177-3AD203B41FA5}">
                      <a16:colId xmlns:a16="http://schemas.microsoft.com/office/drawing/2014/main" val="2101507461"/>
                    </a:ext>
                  </a:extLst>
                </a:gridCol>
                <a:gridCol w="1169043">
                  <a:extLst>
                    <a:ext uri="{9D8B030D-6E8A-4147-A177-3AD203B41FA5}">
                      <a16:colId xmlns:a16="http://schemas.microsoft.com/office/drawing/2014/main" val="2619754582"/>
                    </a:ext>
                  </a:extLst>
                </a:gridCol>
                <a:gridCol w="1117666">
                  <a:extLst>
                    <a:ext uri="{9D8B030D-6E8A-4147-A177-3AD203B41FA5}">
                      <a16:colId xmlns:a16="http://schemas.microsoft.com/office/drawing/2014/main" val="614454482"/>
                    </a:ext>
                  </a:extLst>
                </a:gridCol>
                <a:gridCol w="1224537">
                  <a:extLst>
                    <a:ext uri="{9D8B030D-6E8A-4147-A177-3AD203B41FA5}">
                      <a16:colId xmlns:a16="http://schemas.microsoft.com/office/drawing/2014/main" val="3601833249"/>
                    </a:ext>
                  </a:extLst>
                </a:gridCol>
                <a:gridCol w="1224537">
                  <a:extLst>
                    <a:ext uri="{9D8B030D-6E8A-4147-A177-3AD203B41FA5}">
                      <a16:colId xmlns:a16="http://schemas.microsoft.com/office/drawing/2014/main" val="1893046620"/>
                    </a:ext>
                  </a:extLst>
                </a:gridCol>
              </a:tblGrid>
              <a:tr h="438893">
                <a:tc>
                  <a:txBody>
                    <a:bodyPr/>
                    <a:lstStyle/>
                    <a:p>
                      <a:r>
                        <a:rPr lang="en-IN" sz="1400" dirty="0"/>
                        <a:t>Year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Author(s)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Research Paper / Topic</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Publication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Key Finding</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Limitation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Relevance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756730"/>
                  </a:ext>
                </a:extLst>
              </a:tr>
              <a:tr h="2363809">
                <a:tc>
                  <a:txBody>
                    <a:bodyPr/>
                    <a:lstStyle/>
                    <a:p>
                      <a:r>
                        <a:rPr lang="en-IN" sz="1400" dirty="0"/>
                        <a:t>2005</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R. Ramasamy et al.</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An Application of Finite Element Modelling to Pneumatic Artificial Muscle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American Journal of Applied Sciences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Established FEM-based analysis for studying PAM deformation and force behaviour.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General PAM modelling with limited detailed McKibben-specific nonlinear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Provides the basic FEM foundation for our actuator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7919430"/>
                  </a:ext>
                </a:extLst>
              </a:tr>
            </a:tbl>
          </a:graphicData>
        </a:graphic>
      </p:graphicFrame>
    </p:spTree>
    <p:extLst>
      <p:ext uri="{BB962C8B-B14F-4D97-AF65-F5344CB8AC3E}">
        <p14:creationId xmlns:p14="http://schemas.microsoft.com/office/powerpoint/2010/main" val="2434634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Previous studies on McKibben artificial muscles have mainly focused on understanding their working principle, mathematical modeling, and the influence of braid geometry on actuator performance. Analytical and experimental studies have established relationships between internal pressure, braid angle, contraction, actuator dimensions, and generated force. The literature also shows that the braided sheath plays a major role in converting radial expansion of the bladder into axial contraction. Finite Element Analysis has therefore been widely used to study deformation, stress distribution, and the effect of braid angle before fabrication. </a:t>
            </a:r>
          </a:p>
          <a:p>
            <a:pPr algn="just"/>
            <a:r>
              <a:rPr lang="en-US" dirty="0">
                <a:latin typeface="Times New Roman" panose="02020603050405020304" pitchFamily="18" charset="0"/>
                <a:cs typeface="Times New Roman" panose="02020603050405020304" pitchFamily="18" charset="0"/>
              </a:rPr>
              <a:t>Further studies have focused on improving the design and functionality of McKibben actuators. FEM-based investigations have been used for design optimization, while analytical models have been developed for predicting force and pressure-contraction behavior. Researchers have also investigated multifunctional braided muscles capable of bidirectional motion and variable stiffness. These studies demonstrate that actuator geometry, braid configuration, and material properties strongly influence the final performance of the muscle.</a:t>
            </a:r>
          </a:p>
        </p:txBody>
      </p:sp>
    </p:spTree>
    <p:extLst>
      <p:ext uri="{BB962C8B-B14F-4D97-AF65-F5344CB8AC3E}">
        <p14:creationId xmlns:p14="http://schemas.microsoft.com/office/powerpoint/2010/main" val="3028065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a:bodyPr>
          <a:lstStyle/>
          <a:p>
            <a:pPr algn="just"/>
            <a:r>
              <a:rPr lang="en-US" dirty="0">
                <a:latin typeface="Times New Roman" panose="02020603050405020304" pitchFamily="18" charset="0"/>
                <a:cs typeface="Times New Roman" panose="02020603050405020304" pitchFamily="18" charset="0"/>
              </a:rPr>
              <a:t>For high-force applications, hydraulic actuation has also been investigated as an alternative to conventional pneumatic McKibben muscles. The hydraulic McKibben study by Iwata et al. demonstrated operation at pressures up to 7 MPa and investigated the design and fabrication of the braided muscle using FEM-based sleeve optimization. The reviewed hydraulic soft-actuator literature further identifies high force capability as an important advantage, while also highlighting challenges such as nonlinear deformation, hysteresis, leakage, and the need for systematic design methods.</a:t>
            </a:r>
          </a:p>
          <a:p>
            <a:pPr algn="just"/>
            <a:r>
              <a:rPr lang="en-US" dirty="0">
                <a:latin typeface="Times New Roman" panose="02020603050405020304" pitchFamily="18" charset="0"/>
                <a:cs typeface="Times New Roman" panose="02020603050405020304" pitchFamily="18" charset="0"/>
              </a:rPr>
              <a:t>Research Gap: Based on the reviewed literature, the present work focuses on applying a hydraulic McKibben muscle in a single-DOF robotic elbow joint using a biceps-triceps type arrangement, designed to lift a minimum 5 kg load. There is practical validation can also be done.</a:t>
            </a:r>
          </a:p>
        </p:txBody>
      </p:sp>
    </p:spTree>
    <p:extLst>
      <p:ext uri="{BB962C8B-B14F-4D97-AF65-F5344CB8AC3E}">
        <p14:creationId xmlns:p14="http://schemas.microsoft.com/office/powerpoint/2010/main" val="3882492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1280890"/>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454147" y="1461795"/>
            <a:ext cx="4867954" cy="4435151"/>
          </a:xfrm>
        </p:spPr>
        <p:txBody>
          <a:bodyPr/>
          <a:lstStyle/>
          <a:p>
            <a:pPr algn="just"/>
            <a:r>
              <a:rPr lang="en-US" sz="1600" dirty="0">
                <a:latin typeface="Times New Roman" panose="02020603050405020304" pitchFamily="18" charset="0"/>
                <a:cs typeface="Times New Roman" panose="02020603050405020304" pitchFamily="18" charset="0"/>
              </a:rPr>
              <a:t>In a first approach toward the model of a McKibben type PAM, losses are not considered and thus, the gas enters the PAM and expands, generating a traction force and a work. To generate the volume increase, the gas performs a work input (Win) that can be described.</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P’dV</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Where, Pex = External Force,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Absolute Pressure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Relative Pressure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96A2CF-ABC7-FE87-AD0E-A0AC0718E268}"/>
              </a:ext>
            </a:extLst>
          </p:cNvPr>
          <p:cNvPicPr>
            <a:picLocks noChangeAspect="1"/>
          </p:cNvPicPr>
          <p:nvPr/>
        </p:nvPicPr>
        <p:blipFill>
          <a:blip r:embed="rId2"/>
          <a:stretch>
            <a:fillRect/>
          </a:stretch>
        </p:blipFill>
        <p:spPr>
          <a:xfrm>
            <a:off x="1340531" y="1886338"/>
            <a:ext cx="4867954" cy="3810532"/>
          </a:xfrm>
          <a:prstGeom prst="rect">
            <a:avLst/>
          </a:prstGeom>
        </p:spPr>
      </p:pic>
    </p:spTree>
    <p:extLst>
      <p:ext uri="{BB962C8B-B14F-4D97-AF65-F5344CB8AC3E}">
        <p14:creationId xmlns:p14="http://schemas.microsoft.com/office/powerpoint/2010/main" val="903409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2846"/>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2056837" y="1480457"/>
            <a:ext cx="7656329" cy="4435151"/>
          </a:xfrm>
        </p:spPr>
        <p:txBody>
          <a:bodyPr>
            <a:normAutofit/>
          </a:bodyPr>
          <a:lstStyle/>
          <a:p>
            <a:pPr algn="just"/>
            <a:r>
              <a:rPr lang="en-US" sz="1600" dirty="0">
                <a:latin typeface="Times New Roman" panose="02020603050405020304" pitchFamily="18" charset="0"/>
                <a:cs typeface="Times New Roman" panose="02020603050405020304" pitchFamily="18" charset="0"/>
              </a:rPr>
              <a:t>As the pressure performs work by volume expansion and it is assumed that the system has no loss, all the work is converted into traction and can be expressed by </a:t>
            </a:r>
            <a:r>
              <a:rPr lang="en-US" sz="1600" dirty="0" err="1">
                <a:latin typeface="Times New Roman" panose="02020603050405020304" pitchFamily="18" charset="0"/>
                <a:cs typeface="Times New Roman" panose="02020603050405020304" pitchFamily="18" charset="0"/>
              </a:rPr>
              <a:t>W</a:t>
            </a:r>
            <a:r>
              <a:rPr lang="en-US" sz="1200" dirty="0" err="1">
                <a:latin typeface="Times New Roman" panose="02020603050405020304" pitchFamily="18" charset="0"/>
                <a:cs typeface="Times New Roman" panose="02020603050405020304" pitchFamily="18" charset="0"/>
              </a:rPr>
              <a:t>out</a:t>
            </a:r>
            <a:r>
              <a:rPr lang="en-US" sz="1600" dirty="0">
                <a:latin typeface="Times New Roman" panose="02020603050405020304" pitchFamily="18" charset="0"/>
                <a:cs typeface="Times New Roman" panose="02020603050405020304" pitchFamily="18" charset="0"/>
              </a:rPr>
              <a:t>, </a:t>
            </a:r>
          </a:p>
          <a:p>
            <a:pPr marL="0" indent="0">
              <a:buNone/>
            </a:pPr>
            <a:r>
              <a:rPr lang="it-IT" sz="1600" dirty="0">
                <a:latin typeface="Times New Roman" panose="02020603050405020304" pitchFamily="18" charset="0"/>
                <a:cs typeface="Times New Roman" panose="02020603050405020304" pitchFamily="18" charset="0"/>
              </a:rPr>
              <a:t>		dW</a:t>
            </a:r>
            <a:r>
              <a:rPr lang="it-IT" sz="1200" dirty="0">
                <a:latin typeface="Times New Roman" panose="02020603050405020304" pitchFamily="18" charset="0"/>
                <a:cs typeface="Times New Roman" panose="02020603050405020304" pitchFamily="18" charset="0"/>
              </a:rPr>
              <a:t>out</a:t>
            </a:r>
            <a:r>
              <a:rPr lang="it-IT" sz="1600" dirty="0">
                <a:latin typeface="Times New Roman" panose="02020603050405020304" pitchFamily="18" charset="0"/>
                <a:cs typeface="Times New Roman" panose="02020603050405020304" pitchFamily="18" charset="0"/>
              </a:rPr>
              <a:t>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Where, F is the axial tension and dL is the displacement.</a:t>
            </a:r>
          </a:p>
          <a:p>
            <a:pPr marL="800100" lvl="2" indent="0">
              <a:spcBef>
                <a:spcPts val="600"/>
              </a:spcBef>
              <a:buNone/>
            </a:pPr>
            <a:r>
              <a:rPr lang="en-US" sz="1600" dirty="0">
                <a:latin typeface="Times New Roman" panose="02020603050405020304" pitchFamily="18" charset="0"/>
                <a:cs typeface="Times New Roman" panose="02020603050405020304" pitchFamily="18" charset="0"/>
              </a:rPr>
              <a:t>The Conservation of Energy gives:</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dW</a:t>
            </a:r>
            <a:r>
              <a:rPr lang="it-IT" sz="900" dirty="0">
                <a:latin typeface="Times New Roman" panose="02020603050405020304" pitchFamily="18" charset="0"/>
                <a:cs typeface="Times New Roman" panose="02020603050405020304" pitchFamily="18" charset="0"/>
              </a:rPr>
              <a:t>in</a:t>
            </a:r>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d</a:t>
            </a:r>
            <a:r>
              <a:rPr lang="it-IT" sz="1600" dirty="0">
                <a:latin typeface="Times New Roman" panose="02020603050405020304" pitchFamily="18" charset="0"/>
                <a:cs typeface="Times New Roman" panose="02020603050405020304" pitchFamily="18" charset="0"/>
              </a:rPr>
              <a:t>W</a:t>
            </a:r>
            <a:r>
              <a:rPr lang="it-IT" sz="1200" dirty="0">
                <a:latin typeface="Times New Roman" panose="02020603050405020304" pitchFamily="18" charset="0"/>
                <a:cs typeface="Times New Roman" panose="02020603050405020304" pitchFamily="18" charset="0"/>
              </a:rPr>
              <a:t>out</a:t>
            </a:r>
            <a:endParaRPr lang="en-US" dirty="0">
              <a:latin typeface="Times New Roman" panose="02020603050405020304" pitchFamily="18" charset="0"/>
              <a:cs typeface="Times New Roman" panose="02020603050405020304" pitchFamily="18" charset="0"/>
            </a:endParaRPr>
          </a:p>
          <a:p>
            <a:pPr marL="800100" lvl="2" indent="0">
              <a:spcBef>
                <a:spcPts val="600"/>
              </a:spcBef>
              <a:buNone/>
            </a:pPr>
            <a:r>
              <a:rPr lang="it-IT" sz="1600" dirty="0">
                <a:latin typeface="Times New Roman" panose="02020603050405020304" pitchFamily="18" charset="0"/>
                <a:cs typeface="Times New Roman" panose="02020603050405020304" pitchFamily="18" charset="0"/>
              </a:rPr>
              <a:t>P’dV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F = - (P’ dV)/dL ........................ (1)</a:t>
            </a:r>
            <a:endParaRPr lang="en-IN" sz="1600" dirty="0">
              <a:latin typeface="Times New Roman" panose="02020603050405020304" pitchFamily="18" charset="0"/>
              <a:cs typeface="Times New Roman" panose="02020603050405020304" pitchFamily="18" charset="0"/>
            </a:endParaRPr>
          </a:p>
          <a:p>
            <a:pPr marL="285750" algn="just">
              <a:spcBef>
                <a:spcPts val="600"/>
              </a:spcBef>
            </a:pPr>
            <a:r>
              <a:rPr lang="en-US" sz="1600" dirty="0">
                <a:latin typeface="Times New Roman" panose="02020603050405020304" pitchFamily="18" charset="0"/>
                <a:cs typeface="Times New Roman" panose="02020603050405020304" pitchFamily="18" charset="0"/>
              </a:rPr>
              <a:t>With the strength defined in terms of the volume change, just missing define the volume variation permitted by the mesh. The variation stops when volume reaches its maximum. At this moment, the muscle reaches the largest contraction.</a:t>
            </a:r>
            <a:endParaRPr lang="en-IN" sz="1600" dirty="0">
              <a:latin typeface="Times New Roman" panose="02020603050405020304" pitchFamily="18" charset="0"/>
              <a:cs typeface="Times New Roman" panose="02020603050405020304" pitchFamily="18" charset="0"/>
            </a:endParaRPr>
          </a:p>
          <a:p>
            <a:pPr marL="285750">
              <a:spcBef>
                <a:spcPts val="600"/>
              </a:spcBef>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9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5847657" y="1265842"/>
                <a:ext cx="4901208" cy="5321566"/>
              </a:xfrm>
            </p:spPr>
            <p:txBody>
              <a:bodyPr>
                <a:normAutofit lnSpcReduction="10000"/>
              </a:bodyPr>
              <a:lstStyle/>
              <a:p>
                <a:pPr algn="just"/>
                <a:r>
                  <a:rPr lang="en-US" sz="1600" dirty="0">
                    <a:latin typeface="Times New Roman" panose="02020603050405020304" pitchFamily="18" charset="0"/>
                    <a:cs typeface="Times New Roman" panose="02020603050405020304" pitchFamily="18" charset="0"/>
                  </a:rPr>
                  <a:t>Observing Fig.3, it is possible to make the length (L) and diameter (D) as a function of the angle (θ). This angle is one formed between the mesh and the axial length of the muscle. The length of fiber can be named b and n is the number of turns of the fiber around the muscle. Using b and n, it is possible to set the length and the diameter of the muscle.</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a:t>
                </a:r>
              </a:p>
              <a:p>
                <a:pPr marL="800100" lvl="2" indent="0" algn="just">
                  <a:spcBef>
                    <a:spcPts val="600"/>
                  </a:spcBef>
                  <a:buNone/>
                </a:pP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m:rPr>
                        <m:sty m:val="p"/>
                      </m:rPr>
                      <a:rPr lang="en-IN" sz="1600" i="1" dirty="0">
                        <a:latin typeface="Cambria Math" panose="02040503050406030204" pitchFamily="18" charset="0"/>
                        <a:cs typeface="Times New Roman" panose="02020603050405020304" pitchFamily="18" charset="0"/>
                      </a:rPr>
                      <m:t>cos</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(2)</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sym typeface="Symbol" panose="05050102010706020507" pitchFamily="18" charset="2"/>
                      </a:rPr>
                      <m:t>s</m:t>
                    </m:r>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𝑖𝑛</m:t>
                    </m:r>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dirty="0">
                            <a:latin typeface="Cambria Math" panose="02040503050406030204" pitchFamily="18" charset="0"/>
                            <a:cs typeface="Times New Roman" panose="02020603050405020304" pitchFamily="18" charset="0"/>
                            <a:sym typeface="Symbol" panose="05050102010706020507" pitchFamily="18" charset="2"/>
                          </a:rPr>
                        </m:ctrlPr>
                      </m:fPr>
                      <m:num>
                        <m:r>
                          <a:rPr lang="en-US" sz="1600" i="1" dirty="0">
                            <a:latin typeface="Cambria Math" panose="02040503050406030204" pitchFamily="18" charset="0"/>
                            <a:cs typeface="Times New Roman" panose="02020603050405020304" pitchFamily="18" charset="0"/>
                            <a:sym typeface="Symbol" panose="05050102010706020507" pitchFamily="18" charset="2"/>
                          </a:rPr>
                          <m:t>𝐷𝑛</m:t>
                        </m:r>
                        <m:r>
                          <a:rPr lang="en-US"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800100" lvl="2" indent="0" algn="just">
                  <a:spcBef>
                    <a:spcPts val="600"/>
                  </a:spcBef>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(3)</a:t>
                </a:r>
              </a:p>
              <a:p>
                <a:pPr marL="0"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Making the Volume equation as function of the diameter and D &amp; length L.</a:t>
                </a:r>
              </a:p>
              <a:p>
                <a:pPr marL="400050" lvl="1" indent="0" algn="just">
                  <a:spcBef>
                    <a:spcPts val="600"/>
                  </a:spcBef>
                  <a:buNone/>
                </a:pPr>
                <a14:m>
                  <m:oMathPara xmlns:m="http://schemas.openxmlformats.org/officeDocument/2006/math">
                    <m:oMath>
                      <m:r>
                        <a:rPr lang="en-US" b="0" i="1" smtClean="0">
                          <a:latin typeface="Cambria Math" panose="02040503050406030204" pitchFamily="18" charset="0"/>
                          <a:cs typeface="Times New Roman" panose="02020603050405020304" pitchFamily="18" charset="0"/>
                          <a:sym typeface="Symbol" panose="05050102010706020507" pitchFamily="18" charset="2"/>
                        </a:rPr>
                        <m:t>𝑉</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1</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oMath>
                  </m:oMathPara>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By substituting D &amp; L in </a:t>
                </a:r>
                <a:r>
                  <a:rPr lang="en-IN" dirty="0" err="1">
                    <a:latin typeface="Times New Roman" panose="02020603050405020304" pitchFamily="18" charset="0"/>
                    <a:cs typeface="Times New Roman" panose="02020603050405020304" pitchFamily="18" charset="0"/>
                    <a:sym typeface="Symbol" panose="05050102010706020507" pitchFamily="18" charset="2"/>
                  </a:rPr>
                  <a:t>eq</a:t>
                </a:r>
                <a:r>
                  <a:rPr lang="en-IN" dirty="0">
                    <a:latin typeface="Times New Roman" panose="02020603050405020304" pitchFamily="18" charset="0"/>
                    <a:cs typeface="Times New Roman" panose="02020603050405020304" pitchFamily="18" charset="0"/>
                    <a:sym typeface="Symbol" panose="05050102010706020507" pitchFamily="18" charset="2"/>
                  </a:rPr>
                  <a:t> 4</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We get, 										</a:t>
                </a:r>
                <a14:m>
                  <m:oMath xmlns:m="http://schemas.openxmlformats.org/officeDocument/2006/math">
                    <m:r>
                      <a:rPr lang="en-US" sz="1800" b="0" i="1" smtClean="0">
                        <a:latin typeface="Cambria Math" panose="02040503050406030204" pitchFamily="18" charset="0"/>
                        <a:cs typeface="Times New Roman" panose="02020603050405020304" pitchFamily="18" charset="0"/>
                        <a:sym typeface="Symbol" panose="05050102010706020507" pitchFamily="18" charset="2"/>
                      </a:rPr>
                      <m:t>𝑉</m:t>
                    </m:r>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sz="1800" b="0" i="1" smtClean="0">
                            <a:latin typeface="Cambria Math" panose="02040503050406030204" pitchFamily="18" charset="0"/>
                            <a:cs typeface="Times New Roman" panose="02020603050405020304" pitchFamily="18" charset="0"/>
                            <a:sym typeface="Symbol" panose="05050102010706020507" pitchFamily="18" charset="2"/>
                          </a:rPr>
                          <m:t>4</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d>
                      <m:dPr>
                        <m:begChr m:val="["/>
                        <m:endChr m:val="]"/>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dPr>
                      <m:e>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d>
                  </m:oMath>
                </a14:m>
                <a:r>
                  <a:rPr lang="en-IN" dirty="0">
                    <a:latin typeface="Times New Roman" panose="02020603050405020304" pitchFamily="18" charset="0"/>
                    <a:cs typeface="Times New Roman" panose="02020603050405020304" pitchFamily="18" charset="0"/>
                    <a:sym typeface="Symbol" panose="05050102010706020507" pitchFamily="18" charset="2"/>
                  </a:rPr>
                  <a:t>……... (5)</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5847657" y="1265842"/>
                <a:ext cx="4901208" cy="5321566"/>
              </a:xfrm>
              <a:blipFill>
                <a:blip r:embed="rId2"/>
                <a:stretch>
                  <a:fillRect l="-622" t="-802" r="-74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F6AF55C-D360-B5B1-F395-00C5DEB2A5E5}"/>
              </a:ext>
            </a:extLst>
          </p:cNvPr>
          <p:cNvPicPr>
            <a:picLocks noChangeAspect="1"/>
          </p:cNvPicPr>
          <p:nvPr/>
        </p:nvPicPr>
        <p:blipFill>
          <a:blip r:embed="rId3"/>
          <a:stretch>
            <a:fillRect/>
          </a:stretch>
        </p:blipFill>
        <p:spPr>
          <a:xfrm>
            <a:off x="1052059" y="1461794"/>
            <a:ext cx="4572129" cy="3138197"/>
          </a:xfrm>
          <a:prstGeom prst="rect">
            <a:avLst/>
          </a:prstGeom>
        </p:spPr>
      </p:pic>
    </p:spTree>
    <p:extLst>
      <p:ext uri="{BB962C8B-B14F-4D97-AF65-F5344CB8AC3E}">
        <p14:creationId xmlns:p14="http://schemas.microsoft.com/office/powerpoint/2010/main" val="332727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73281" y="1393475"/>
                <a:ext cx="5433054" cy="5106956"/>
              </a:xfrm>
            </p:spPr>
            <p:txBody>
              <a:bodyPr>
                <a:normAutofit fontScale="92500" lnSpcReduction="10000"/>
              </a:bodyPr>
              <a:lstStyle/>
              <a:p>
                <a:pPr marL="0" indent="0" algn="just">
                  <a:buNone/>
                </a:pPr>
                <a:r>
                  <a:rPr lang="en-US" sz="1600" dirty="0">
                    <a:latin typeface="Times New Roman" panose="02020603050405020304" pitchFamily="18" charset="0"/>
                    <a:cs typeface="Times New Roman" panose="02020603050405020304" pitchFamily="18" charset="0"/>
                  </a:rPr>
                  <a:t>Adopting contraction (ε) and applying Eq.9, it is possible to reach to required formulation (</a:t>
                </a:r>
                <a:r>
                  <a:rPr lang="en-US" sz="1600" dirty="0" err="1">
                    <a:latin typeface="Times New Roman" panose="02020603050405020304" pitchFamily="18" charset="0"/>
                    <a:cs typeface="Times New Roman" panose="02020603050405020304" pitchFamily="18" charset="0"/>
                  </a:rPr>
                  <a:t>Daerden</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Lefeber</a:t>
                </a:r>
                <a:r>
                  <a:rPr lang="en-US" sz="1600" dirty="0">
                    <a:latin typeface="Times New Roman" panose="02020603050405020304" pitchFamily="18" charset="0"/>
                    <a:cs typeface="Times New Roman" panose="02020603050405020304" pitchFamily="18" charset="0"/>
                  </a:rPr>
                  <a:t>, 2000).</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(After applying pressure)</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(Before applying pressure)</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𝐷</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05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Basic Interpretation</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So, we can replace D &amp; sin with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 </a:t>
                </a:r>
              </a:p>
              <a:p>
                <a:pPr marL="800100" lvl="2" indent="0" algn="just">
                  <a:spcBef>
                    <a:spcPts val="600"/>
                  </a:spcBef>
                  <a:buNone/>
                </a:pP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r>
                      <a:rPr lang="en-IN"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sSub>
                      <m:sSubPr>
                        <m:ctrlP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t>𝜃</m:t>
                        </m:r>
                      </m:e>
                      <m:sub>
                        <m:r>
                          <a:rPr lang="en-US" sz="1600" b="0" i="1" dirty="0" smtClean="0">
                            <a:latin typeface="Cambria Math" panose="02040503050406030204" pitchFamily="18" charset="0"/>
                            <a:cs typeface="Times New Roman" panose="02020603050405020304" pitchFamily="18" charset="0"/>
                          </a:rPr>
                          <m:t>0</m:t>
                        </m:r>
                      </m:sub>
                    </m:sSub>
                  </m:oMath>
                </a14:m>
                <a:endParaRPr lang="en-US" sz="1600" b="0" i="1" dirty="0">
                  <a:latin typeface="Cambria Math" panose="02040503050406030204" pitchFamily="18" charset="0"/>
                  <a:cs typeface="Times New Roman" panose="02020603050405020304" pitchFamily="18" charset="0"/>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Rearranging,</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(10)	</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Where, Contraction Factor ()</a:t>
                </a:r>
              </a:p>
              <a:p>
                <a:pPr marL="0" indent="0" algn="just">
                  <a:buNone/>
                </a:pPr>
                <a14:m>
                  <m:oMathPara xmlns:m="http://schemas.openxmlformats.org/officeDocument/2006/math">
                    <m:oMath>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=1 −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m:oMathPara>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6373281" y="1393475"/>
                <a:ext cx="5433054" cy="5106956"/>
              </a:xfrm>
              <a:blipFill>
                <a:blip r:embed="rId2"/>
                <a:stretch>
                  <a:fillRect l="-448" t="-836" r="-3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663900" y="1466151"/>
                <a:ext cx="4746232" cy="46640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Diff. eq (2) &amp; eq (5) w. r. t. </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(6)</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b="0" i="1" smtClean="0">
                        <a:latin typeface="Cambria Math" panose="02040503050406030204" pitchFamily="18" charset="0"/>
                        <a:cs typeface="Times New Roman" panose="02020603050405020304" pitchFamily="18" charset="0"/>
                        <a:sym typeface="Symbol" panose="05050102010706020507" pitchFamily="18" charset="2"/>
                      </a:rPr>
                      <m:t> ∗[3</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(7)</a:t>
                </a:r>
              </a:p>
              <a:p>
                <a:r>
                  <a:rPr lang="en-IN" sz="1600" dirty="0">
                    <a:latin typeface="Times New Roman" panose="02020603050405020304" pitchFamily="18" charset="0"/>
                    <a:cs typeface="Times New Roman" panose="02020603050405020304" pitchFamily="18" charset="0"/>
                    <a:sym typeface="Symbol" panose="05050102010706020507" pitchFamily="18" charset="2"/>
                  </a:rPr>
                  <a:t>Substitute the value of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(6) &amp;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(7)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num>
                      <m:den>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latin typeface="Times New Roman" panose="02020603050405020304" pitchFamily="18" charset="0"/>
                    <a:cs typeface="Times New Roman" panose="02020603050405020304" pitchFamily="18" charset="0"/>
                  </a:rPr>
                  <a:t>After substituting and rearranging, we get:</a:t>
                </a:r>
              </a:p>
              <a:p>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 </m:t>
                    </m:r>
                    <m:f>
                      <m:fPr>
                        <m:ctrlPr>
                          <a:rPr lang="en-US" b="0" i="1" smtClean="0">
                            <a:latin typeface="Cambria Math" panose="02040503050406030204" pitchFamily="18" charset="0"/>
                            <a:cs typeface="Times New Roman" panose="02020603050405020304" pitchFamily="18" charset="0"/>
                          </a:rPr>
                        </m:ctrlPr>
                      </m:fPr>
                      <m:num>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𝑃</m:t>
                            </m:r>
                          </m:e>
                          <m:sup>
                            <m:r>
                              <a:rPr lang="en-US" b="0" i="1" smtClean="0">
                                <a:latin typeface="Cambria Math" panose="02040503050406030204" pitchFamily="18" charset="0"/>
                                <a:cs typeface="Times New Roman" panose="02020603050405020304" pitchFamily="18" charset="0"/>
                              </a:rPr>
                              <m:t>′</m:t>
                            </m:r>
                          </m:sup>
                        </m:sSup>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𝐷</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cs typeface="Times New Roman" panose="02020603050405020304" pitchFamily="18" charset="0"/>
                          </a:rPr>
                          <m:t> (3</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𝑐𝑜𝑠</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rPr>
                          <m:t> −1)</m:t>
                        </m:r>
                      </m:num>
                      <m:den>
                        <m:r>
                          <a:rPr lang="en-US" b="0" i="1" smtClean="0">
                            <a:latin typeface="Cambria Math" panose="02040503050406030204" pitchFamily="18" charset="0"/>
                            <a:cs typeface="Times New Roman" panose="02020603050405020304" pitchFamily="18" charset="0"/>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IN" sz="1600" dirty="0">
                    <a:latin typeface="Times New Roman" panose="02020603050405020304" pitchFamily="18" charset="0"/>
                    <a:cs typeface="Times New Roman" panose="02020603050405020304" pitchFamily="18" charset="0"/>
                  </a:rPr>
                  <a:t> ……………………... (8)</a:t>
                </a:r>
              </a:p>
              <a:p>
                <a:r>
                  <a:rPr lang="en-IN" sz="1600" dirty="0">
                    <a:latin typeface="Times New Roman" panose="02020603050405020304" pitchFamily="18" charset="0"/>
                    <a:cs typeface="Times New Roman" panose="02020603050405020304" pitchFamily="18" charset="0"/>
                  </a:rPr>
                  <a:t>	</a:t>
                </a:r>
                <a:r>
                  <a:rPr lang="en-US"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𝐷</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US"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𝐷</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endParaRPr lang="en-US" b="0" dirty="0">
                  <a:ea typeface="Cambria Math" panose="020405030504060302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substituting the value of D &amp; trigonometric relation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(8)</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(9)</a:t>
                </a: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663900" y="1466151"/>
                <a:ext cx="4746232" cy="4664097"/>
              </a:xfrm>
              <a:prstGeom prst="rect">
                <a:avLst/>
              </a:prstGeom>
              <a:blipFill>
                <a:blip r:embed="rId3"/>
                <a:stretch>
                  <a:fillRect l="-770" t="-523" r="-513"/>
                </a:stretch>
              </a:blipFill>
            </p:spPr>
            <p:txBody>
              <a:bodyPr/>
              <a:lstStyle/>
              <a:p>
                <a:r>
                  <a:rPr lang="en-US">
                    <a:noFill/>
                  </a:rPr>
                  <a:t> </a:t>
                </a:r>
              </a:p>
            </p:txBody>
          </p:sp>
        </mc:Fallback>
      </mc:AlternateContent>
    </p:spTree>
    <p:extLst>
      <p:ext uri="{BB962C8B-B14F-4D97-AF65-F5344CB8AC3E}">
        <p14:creationId xmlns:p14="http://schemas.microsoft.com/office/powerpoint/2010/main" val="1186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33AA-4472-5B45-A46D-F4421A1F16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FDA5C2-7FDB-F59D-7DFA-3BFE3A76C49D}"/>
                  </a:ext>
                </a:extLst>
              </p:cNvPr>
              <p:cNvSpPr txBox="1"/>
              <p:nvPr/>
            </p:nvSpPr>
            <p:spPr>
              <a:xfrm>
                <a:off x="1663900" y="1466151"/>
                <a:ext cx="4746232" cy="2939266"/>
              </a:xfrm>
              <a:prstGeom prst="rect">
                <a:avLst/>
              </a:prstGeom>
              <a:noFill/>
            </p:spPr>
            <p:txBody>
              <a:bodyPr wrap="square" rtlCol="0">
                <a:spAutoFit/>
              </a:bodyPr>
              <a:lstStyle/>
              <a:p>
                <a:r>
                  <a:rPr lang="en-US" sz="1600" b="0" dirty="0">
                    <a:ea typeface="Cambria Math" panose="020405030504060302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Put this value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(10)</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b>
                      <m:sSub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cs typeface="Times New Roman" panose="02020603050405020304" pitchFamily="18" charset="0"/>
                            <a:sym typeface="Symbol" panose="05050102010706020507" pitchFamily="18" charset="2"/>
                          </a:rPr>
                          <m:t> ∗ </m:t>
                        </m:r>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rPr>
                  <a:t>Substitute cos</a:t>
                </a:r>
                <a:r>
                  <a:rPr lang="en-IN" sz="1600" dirty="0">
                    <a:latin typeface="Times New Roman" panose="02020603050405020304" pitchFamily="18" charset="0"/>
                    <a:cs typeface="Times New Roman" panose="02020603050405020304" pitchFamily="18" charset="0"/>
                    <a:sym typeface="Symbol" panose="05050102010706020507" pitchFamily="18" charset="2"/>
                  </a:rPr>
                  <a:t>, D =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 = sin</a:t>
                </a:r>
                <a:r>
                  <a:rPr lang="en-IN" sz="1000" dirty="0">
                    <a:latin typeface="Times New Roman" panose="02020603050405020304" pitchFamily="18" charset="0"/>
                    <a:cs typeface="Times New Roman" panose="02020603050405020304" pitchFamily="18" charset="0"/>
                    <a:sym typeface="Symbol" panose="05050102010706020507" pitchFamily="18" charset="2"/>
                  </a:rPr>
                  <a:t>0 </a:t>
                </a:r>
                <a:r>
                  <a:rPr lang="en-IN" sz="1600" dirty="0">
                    <a:latin typeface="Times New Roman" panose="02020603050405020304" pitchFamily="18" charset="0"/>
                    <a:cs typeface="Times New Roman" panose="02020603050405020304" pitchFamily="18" charset="0"/>
                    <a:sym typeface="Symbol" panose="05050102010706020507" pitchFamily="18" charset="2"/>
                  </a:rPr>
                  <a:t>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i="1">
                                <a:latin typeface="Cambria Math" panose="02040503050406030204" pitchFamily="18" charset="0"/>
                                <a:cs typeface="Times New Roman" panose="02020603050405020304" pitchFamily="18" charset="0"/>
                                <a:sym typeface="Symbol" panose="05050102010706020507" pitchFamily="18" charset="2"/>
                              </a:rPr>
                            </m:ctrlPr>
                          </m:sSubPr>
                          <m:e>
                            <m:r>
                              <a:rPr lang="en-US"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i="1">
                                <a:latin typeface="Cambria Math" panose="02040503050406030204" pitchFamily="18" charset="0"/>
                                <a:cs typeface="Times New Roman" panose="02020603050405020304" pitchFamily="18" charset="0"/>
                                <a:sym typeface="Symbol" panose="05050102010706020507" pitchFamily="18" charset="2"/>
                              </a:rPr>
                              <m:t>0</m:t>
                            </m:r>
                          </m:sub>
                        </m:sSub>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This Calculations for Static Conditions </a:t>
                </a:r>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ADFDA5C2-7FDB-F59D-7DFA-3BFE3A76C49D}"/>
                  </a:ext>
                </a:extLst>
              </p:cNvPr>
              <p:cNvSpPr txBox="1">
                <a:spLocks noRot="1" noChangeAspect="1" noMove="1" noResize="1" noEditPoints="1" noAdjustHandles="1" noChangeArrowheads="1" noChangeShapeType="1" noTextEdit="1"/>
              </p:cNvSpPr>
              <p:nvPr/>
            </p:nvSpPr>
            <p:spPr>
              <a:xfrm>
                <a:off x="1663900" y="1466151"/>
                <a:ext cx="4746232" cy="2939266"/>
              </a:xfrm>
              <a:prstGeom prst="rect">
                <a:avLst/>
              </a:prstGeom>
              <a:blipFill>
                <a:blip r:embed="rId2"/>
                <a:stretch>
                  <a:fillRect l="-770" b="-186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9D77E9AE-9871-6B83-F520-829F3936D0E9}"/>
              </a:ext>
            </a:extLst>
          </p:cNvPr>
          <p:cNvSpPr txBox="1">
            <a:spLocks/>
          </p:cNvSpPr>
          <p:nvPr/>
        </p:nvSpPr>
        <p:spPr>
          <a:xfrm>
            <a:off x="1738594" y="608555"/>
            <a:ext cx="10002384" cy="67905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146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841154" y="1120918"/>
                <a:ext cx="4746232" cy="5615896"/>
              </a:xfrm>
              <a:prstGeom prst="rect">
                <a:avLst/>
              </a:prstGeom>
              <a:noFill/>
            </p:spPr>
            <p:txBody>
              <a:bodyPr wrap="square" rtlCol="0">
                <a:spAutoFit/>
              </a:bodyPr>
              <a:lstStyle/>
              <a:p>
                <a:r>
                  <a:rPr lang="en-US" sz="16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By using this Formula</a:t>
                </a:r>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We can get the Force and Pressure relation.</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US" sz="1600" b="1" dirty="0">
                    <a:latin typeface="Times New Roman" panose="02020603050405020304" pitchFamily="18" charset="0"/>
                    <a:cs typeface="Times New Roman" panose="02020603050405020304" pitchFamily="18" charset="0"/>
                  </a:rPr>
                  <a:t>Actuator Parameters For test trial 1:</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Length of bladder: 300mm (complete length), 250mm (active length) (we can take any length as the calculation for 0 to infinity)</a:t>
                </a:r>
              </a:p>
              <a:p>
                <a:pPr lvl="0"/>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 = 300mm = 0.3m</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Diameter of bladder: by calculation go </a:t>
                </a:r>
                <a:r>
                  <a:rPr lang="en-US" sz="1600" dirty="0" err="1">
                    <a:latin typeface="Times New Roman" panose="02020603050405020304" pitchFamily="18" charset="0"/>
                    <a:cs typeface="Times New Roman" panose="02020603050405020304" pitchFamily="18" charset="0"/>
                  </a:rPr>
                  <a:t>upto</a:t>
                </a:r>
                <a:r>
                  <a:rPr lang="en-US" sz="1600" dirty="0">
                    <a:latin typeface="Times New Roman" panose="02020603050405020304" pitchFamily="18" charset="0"/>
                    <a:cs typeface="Times New Roman" panose="02020603050405020304" pitchFamily="18" charset="0"/>
                  </a:rPr>
                  <a:t> 60mm diameter, for trial we will go for 40mm</a:t>
                </a:r>
              </a:p>
              <a:p>
                <a:r>
                  <a:rPr lang="en-US"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1" dirty="0">
                    <a:latin typeface="Times New Roman" panose="02020603050405020304" pitchFamily="18" charset="0"/>
                    <a:cs typeface="Times New Roman" panose="02020603050405020304" pitchFamily="18" charset="0"/>
                    <a:sym typeface="Symbol" panose="05050102010706020507" pitchFamily="18" charset="2"/>
                  </a:rPr>
                  <a:t>D = 40mm = 0.04m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Contraction factor: </a:t>
                </a:r>
                <a14:m>
                  <m:oMath xmlns:m="http://schemas.openxmlformats.org/officeDocument/2006/math">
                    <m:r>
                      <a:rPr lang="en-US" sz="1600" b="1"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𝜺</m:t>
                    </m:r>
                    <m:r>
                      <a:rPr lang="en-US" sz="16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IN" sz="1600" b="1" i="1" dirty="0">
                        <a:latin typeface="Times New Roman" panose="02020603050405020304" pitchFamily="18" charset="0"/>
                        <a:cs typeface="Times New Roman" panose="02020603050405020304" pitchFamily="18" charset="0"/>
                        <a:sym typeface="Symbol" panose="05050102010706020507" pitchFamily="18" charset="2"/>
                      </a:rPr>
                      <m:t>0.2 to 0.25</m:t>
                    </m:r>
                  </m:oMath>
                </a14:m>
                <a:endParaRPr lang="en-IN" sz="1600" b="1" i="1" dirty="0">
                  <a:latin typeface="Times New Roman" panose="02020603050405020304" pitchFamily="18" charset="0"/>
                  <a:cs typeface="Times New Roman" panose="02020603050405020304" pitchFamily="18" charset="0"/>
                  <a:sym typeface="Symbol" panose="05050102010706020507" pitchFamily="18" charset="2"/>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Operating Pressure: 0 to 6 bar</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Force That required to lift the minimum of 5kg of payload</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b="1" dirty="0">
                    <a:latin typeface="Times New Roman" panose="02020603050405020304" pitchFamily="18" charset="0"/>
                    <a:cs typeface="Times New Roman" panose="02020603050405020304" pitchFamily="18" charset="0"/>
                    <a:sym typeface="Symbol" panose="05050102010706020507" pitchFamily="18" charset="2"/>
                  </a:rPr>
                  <a:t>F = 5*9.81 = 49.05 N</a:t>
                </a:r>
              </a:p>
              <a:p>
                <a:pPr lvl="1"/>
                <a:r>
                  <a:rPr lang="en-IN" sz="1600" dirty="0">
                    <a:latin typeface="Times New Roman" panose="02020603050405020304" pitchFamily="18" charset="0"/>
                    <a:cs typeface="Times New Roman" panose="02020603050405020304" pitchFamily="18" charset="0"/>
                    <a:sym typeface="Symbol" panose="05050102010706020507" pitchFamily="18" charset="2"/>
                  </a:rPr>
                  <a:t>So, considering the required force is 10 times of payload,</a:t>
                </a:r>
              </a:p>
              <a:p>
                <a:pPr lvl="1"/>
                <a:r>
                  <a:rPr lang="en-IN" sz="1600" b="1" dirty="0">
                    <a:latin typeface="Times New Roman" panose="02020603050405020304" pitchFamily="18" charset="0"/>
                    <a:cs typeface="Times New Roman" panose="02020603050405020304" pitchFamily="18" charset="0"/>
                    <a:sym typeface="Symbol" panose="05050102010706020507" pitchFamily="18" charset="2"/>
                  </a:rPr>
                  <a:t>F = 10*5*9.81 = 490.5 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Initial Braid Angle: </a:t>
                </a:r>
                <a:r>
                  <a:rPr lang="en-IN" sz="1600" b="1" dirty="0">
                    <a:latin typeface="Times New Roman" panose="02020603050405020304" pitchFamily="18" charset="0"/>
                    <a:cs typeface="Times New Roman" panose="02020603050405020304" pitchFamily="18" charset="0"/>
                    <a:sym typeface="Symbol" panose="05050102010706020507" pitchFamily="18" charset="2"/>
                  </a:rPr>
                  <a:t></a:t>
                </a:r>
                <a:r>
                  <a:rPr lang="en-IN" sz="1050" b="1" dirty="0">
                    <a:latin typeface="Times New Roman" panose="02020603050405020304" pitchFamily="18" charset="0"/>
                    <a:cs typeface="Times New Roman" panose="02020603050405020304" pitchFamily="18" charset="0"/>
                    <a:sym typeface="Symbol" panose="05050102010706020507" pitchFamily="18" charset="2"/>
                  </a:rPr>
                  <a:t>o </a:t>
                </a:r>
                <a:r>
                  <a:rPr lang="en-IN" sz="1600" b="1" dirty="0">
                    <a:latin typeface="Times New Roman" panose="02020603050405020304" pitchFamily="18" charset="0"/>
                    <a:cs typeface="Times New Roman" panose="02020603050405020304" pitchFamily="18" charset="0"/>
                    <a:sym typeface="Symbol" panose="05050102010706020507" pitchFamily="18" charset="2"/>
                  </a:rPr>
                  <a:t>= 20 to 25 </a:t>
                </a:r>
              </a:p>
              <a:p>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841154" y="1120918"/>
                <a:ext cx="4746232" cy="5615896"/>
              </a:xfrm>
              <a:prstGeom prst="rect">
                <a:avLst/>
              </a:prstGeom>
              <a:blipFill>
                <a:blip r:embed="rId2"/>
                <a:stretch>
                  <a:fillRect l="-642" t="-326"/>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CB370054-6784-27CE-35D5-5E917C527548}"/>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Calculation and Dimensions for McKibben Muscle: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9B35CC-EDBB-27E7-EB5F-3055576940E8}"/>
                  </a:ext>
                </a:extLst>
              </p:cNvPr>
              <p:cNvSpPr txBox="1"/>
              <p:nvPr/>
            </p:nvSpPr>
            <p:spPr>
              <a:xfrm>
                <a:off x="6714866" y="1204897"/>
                <a:ext cx="4746232" cy="4847353"/>
              </a:xfrm>
              <a:prstGeom prst="rect">
                <a:avLst/>
              </a:prstGeom>
              <a:noFill/>
            </p:spPr>
            <p:txBody>
              <a:bodyPr wrap="square" rtlCol="0">
                <a:spAutoFit/>
              </a:bodyPr>
              <a:lstStyle/>
              <a:p>
                <a:r>
                  <a:rPr lang="en-US" sz="160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After</a:t>
                </a:r>
                <a:r>
                  <a:rPr lang="en-US" sz="16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 using this Formula:</a:t>
                </a:r>
                <a:endParaRPr lang="en-IN" sz="16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We can determine the pressure value:</a:t>
                </a:r>
              </a:p>
              <a:p>
                <a:r>
                  <a:rPr lang="en-US" sz="14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sSup>
                      <m:sSupPr>
                        <m:ctrlPr>
                          <a:rPr lang="en-US" sz="1400" i="1">
                            <a:latin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cs typeface="Times New Roman" panose="02020603050405020304" pitchFamily="18" charset="0"/>
                            <a:sym typeface="Symbol" panose="05050102010706020507" pitchFamily="18" charset="2"/>
                          </a:rPr>
                          <m:t>𝑃</m:t>
                        </m:r>
                      </m:e>
                      <m:sup>
                        <m:r>
                          <a:rPr lang="en-US" sz="1400" i="1">
                            <a:latin typeface="Cambria Math" panose="02040503050406030204" pitchFamily="18" charset="0"/>
                            <a:cs typeface="Times New Roman" panose="02020603050405020304" pitchFamily="18" charset="0"/>
                            <a:sym typeface="Symbol" panose="05050102010706020507" pitchFamily="18" charset="2"/>
                          </a:rPr>
                          <m:t>′</m:t>
                        </m:r>
                      </m:sup>
                    </m:sSup>
                    <m:r>
                      <a:rPr lang="en-US" sz="1600" i="1">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∗4∗</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d>
                          <m:d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3</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d>
                                  <m:d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𝜖</m:t>
                                    </m:r>
                                  </m:e>
                                </m:d>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e>
                        </m:d>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10</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5</m:t>
                            </m:r>
                          </m:sup>
                        </m:sSup>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20 ,  = 0.2 and F = 490.5 N </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0.656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20 ,  = 0.25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0.932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25 ,  = 0.2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1.208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25 ,  = 0.25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1.805 bar</a:t>
                </a:r>
              </a:p>
              <a:p>
                <a:pPr lvl="1"/>
                <a:endParaRPr lang="en-IN" sz="1600" b="1" u="sng"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Considering efficiency of 30% of maximum obtained value,</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b="1" u="sng" dirty="0" err="1">
                    <a:latin typeface="Times New Roman" panose="02020603050405020304" pitchFamily="18" charset="0"/>
                    <a:cs typeface="Times New Roman" panose="02020603050405020304" pitchFamily="18" charset="0"/>
                    <a:sym typeface="Symbol" panose="05050102010706020507" pitchFamily="18" charset="2"/>
                  </a:rPr>
                  <a:t>P’</a:t>
                </a:r>
                <a:r>
                  <a:rPr lang="en-IN" sz="1200" b="1" u="sng" dirty="0" err="1">
                    <a:latin typeface="Times New Roman" panose="02020603050405020304" pitchFamily="18" charset="0"/>
                    <a:cs typeface="Times New Roman" panose="02020603050405020304" pitchFamily="18" charset="0"/>
                    <a:sym typeface="Symbol" panose="05050102010706020507" pitchFamily="18" charset="2"/>
                  </a:rPr>
                  <a:t>max</a:t>
                </a:r>
                <a:r>
                  <a:rPr lang="en-IN" sz="1600" b="1" u="sng" dirty="0">
                    <a:latin typeface="Times New Roman" panose="02020603050405020304" pitchFamily="18" charset="0"/>
                    <a:cs typeface="Times New Roman" panose="02020603050405020304" pitchFamily="18" charset="0"/>
                    <a:sym typeface="Symbol" panose="05050102010706020507" pitchFamily="18" charset="2"/>
                  </a:rPr>
                  <a:t> = 2.34 bar</a:t>
                </a:r>
              </a:p>
            </p:txBody>
          </p:sp>
        </mc:Choice>
        <mc:Fallback xmlns="">
          <p:sp>
            <p:nvSpPr>
              <p:cNvPr id="8" name="TextBox 7">
                <a:extLst>
                  <a:ext uri="{FF2B5EF4-FFF2-40B4-BE49-F238E27FC236}">
                    <a16:creationId xmlns:a16="http://schemas.microsoft.com/office/drawing/2014/main" id="{D09B35CC-EDBB-27E7-EB5F-3055576940E8}"/>
                  </a:ext>
                </a:extLst>
              </p:cNvPr>
              <p:cNvSpPr txBox="1">
                <a:spLocks noRot="1" noChangeAspect="1" noMove="1" noResize="1" noEditPoints="1" noAdjustHandles="1" noChangeArrowheads="1" noChangeShapeType="1" noTextEdit="1"/>
              </p:cNvSpPr>
              <p:nvPr/>
            </p:nvSpPr>
            <p:spPr>
              <a:xfrm>
                <a:off x="6714866" y="1204897"/>
                <a:ext cx="4746232" cy="4847353"/>
              </a:xfrm>
              <a:prstGeom prst="rect">
                <a:avLst/>
              </a:prstGeom>
              <a:blipFill>
                <a:blip r:embed="rId3"/>
                <a:stretch>
                  <a:fillRect l="-771" t="-377" b="-755"/>
                </a:stretch>
              </a:blipFill>
            </p:spPr>
            <p:txBody>
              <a:bodyPr/>
              <a:lstStyle/>
              <a:p>
                <a:r>
                  <a:rPr lang="en-US">
                    <a:noFill/>
                  </a:rPr>
                  <a:t> </a:t>
                </a:r>
              </a:p>
            </p:txBody>
          </p:sp>
        </mc:Fallback>
      </mc:AlternateContent>
    </p:spTree>
    <p:extLst>
      <p:ext uri="{BB962C8B-B14F-4D97-AF65-F5344CB8AC3E}">
        <p14:creationId xmlns:p14="http://schemas.microsoft.com/office/powerpoint/2010/main" val="166743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D9840-3334-3B6C-DC1F-CFD61BF8D44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E6AEEBD-F451-725C-1E5B-9B101918688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12752C3-F17C-5A25-9BC9-B6A6B329F866}"/>
              </a:ext>
            </a:extLst>
          </p:cNvPr>
          <p:cNvPicPr>
            <a:picLocks noChangeAspect="1"/>
          </p:cNvPicPr>
          <p:nvPr/>
        </p:nvPicPr>
        <p:blipFill>
          <a:blip r:embed="rId2"/>
          <a:stretch>
            <a:fillRect/>
          </a:stretch>
        </p:blipFill>
        <p:spPr>
          <a:xfrm>
            <a:off x="2151270" y="1349822"/>
            <a:ext cx="8872232" cy="4457676"/>
          </a:xfrm>
          <a:prstGeom prst="rect">
            <a:avLst/>
          </a:prstGeom>
        </p:spPr>
      </p:pic>
      <p:sp>
        <p:nvSpPr>
          <p:cNvPr id="13" name="TextBox 12">
            <a:extLst>
              <a:ext uri="{FF2B5EF4-FFF2-40B4-BE49-F238E27FC236}">
                <a16:creationId xmlns:a16="http://schemas.microsoft.com/office/drawing/2014/main" id="{F74884D1-25E5-00D8-84C4-8CA6A98AEAE9}"/>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Sheath</a:t>
            </a:r>
          </a:p>
        </p:txBody>
      </p:sp>
    </p:spTree>
    <p:extLst>
      <p:ext uri="{BB962C8B-B14F-4D97-AF65-F5344CB8AC3E}">
        <p14:creationId xmlns:p14="http://schemas.microsoft.com/office/powerpoint/2010/main" val="1721476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DC0E-4220-BD3A-5A6B-C459CB0ACF7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45DDD29-685C-BFC0-9E0D-00C69B62DC7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A7D2687-53D4-408A-BD0D-042F1A4DBBC8}"/>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Bladder</a:t>
            </a:r>
          </a:p>
        </p:txBody>
      </p:sp>
      <p:pic>
        <p:nvPicPr>
          <p:cNvPr id="3" name="Picture 2">
            <a:extLst>
              <a:ext uri="{FF2B5EF4-FFF2-40B4-BE49-F238E27FC236}">
                <a16:creationId xmlns:a16="http://schemas.microsoft.com/office/drawing/2014/main" id="{1BD623F4-931D-A2A0-E142-EBC47B24387E}"/>
              </a:ext>
            </a:extLst>
          </p:cNvPr>
          <p:cNvPicPr>
            <a:picLocks noChangeAspect="1"/>
          </p:cNvPicPr>
          <p:nvPr/>
        </p:nvPicPr>
        <p:blipFill>
          <a:blip r:embed="rId2"/>
          <a:stretch>
            <a:fillRect/>
          </a:stretch>
        </p:blipFill>
        <p:spPr>
          <a:xfrm>
            <a:off x="2130438" y="1309910"/>
            <a:ext cx="8913896" cy="4497588"/>
          </a:xfrm>
          <a:prstGeom prst="rect">
            <a:avLst/>
          </a:prstGeom>
        </p:spPr>
      </p:pic>
    </p:spTree>
    <p:extLst>
      <p:ext uri="{BB962C8B-B14F-4D97-AF65-F5344CB8AC3E}">
        <p14:creationId xmlns:p14="http://schemas.microsoft.com/office/powerpoint/2010/main" val="598415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781D-7A70-6D3E-C9E3-ECA0D7A451B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16F29FA-99C8-2094-4689-ECE1B8F590F3}"/>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AC011DE-92AA-ACCC-3AEB-0B957ADB4714}"/>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Assembly</a:t>
            </a:r>
          </a:p>
        </p:txBody>
      </p:sp>
      <p:pic>
        <p:nvPicPr>
          <p:cNvPr id="4" name="Picture 3">
            <a:extLst>
              <a:ext uri="{FF2B5EF4-FFF2-40B4-BE49-F238E27FC236}">
                <a16:creationId xmlns:a16="http://schemas.microsoft.com/office/drawing/2014/main" id="{B48825CB-B6D2-0B2D-4E4E-324FCDEF6F37}"/>
              </a:ext>
            </a:extLst>
          </p:cNvPr>
          <p:cNvPicPr>
            <a:picLocks noChangeAspect="1"/>
          </p:cNvPicPr>
          <p:nvPr/>
        </p:nvPicPr>
        <p:blipFill>
          <a:blip r:embed="rId2"/>
          <a:stretch>
            <a:fillRect/>
          </a:stretch>
        </p:blipFill>
        <p:spPr>
          <a:xfrm>
            <a:off x="2155371" y="1284507"/>
            <a:ext cx="9227976" cy="4512792"/>
          </a:xfrm>
          <a:prstGeom prst="rect">
            <a:avLst/>
          </a:prstGeom>
        </p:spPr>
      </p:pic>
    </p:spTree>
    <p:extLst>
      <p:ext uri="{BB962C8B-B14F-4D97-AF65-F5344CB8AC3E}">
        <p14:creationId xmlns:p14="http://schemas.microsoft.com/office/powerpoint/2010/main" val="2694485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3A-4896-7353-675E-B4E9BB8D625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D4FB184-81D2-8061-ECDD-5D70B6AC564D}"/>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C30EAA7-706C-4666-7C79-74F5FB4A527A}"/>
              </a:ext>
            </a:extLst>
          </p:cNvPr>
          <p:cNvSpPr txBox="1"/>
          <p:nvPr/>
        </p:nvSpPr>
        <p:spPr>
          <a:xfrm>
            <a:off x="6989306" y="1284507"/>
            <a:ext cx="4963218"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Kind of assembly we have to make:</a:t>
            </a:r>
          </a:p>
          <a:p>
            <a:pPr lvl="1"/>
            <a:r>
              <a:rPr lang="en-US" dirty="0">
                <a:latin typeface="Times New Roman" panose="02020603050405020304" pitchFamily="18" charset="0"/>
                <a:cs typeface="Times New Roman" panose="02020603050405020304" pitchFamily="18" charset="0"/>
              </a:rPr>
              <a:t>Like mostly of Biceps and triceps, using hydraulic (Water/Oil) as a working fluid for actuate the muscle.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Hence forth the mechanism and hydraulic power pack we have to design requiring for this actuator.</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enabling it’s SDOF lifting.</a:t>
            </a:r>
          </a:p>
        </p:txBody>
      </p:sp>
      <p:pic>
        <p:nvPicPr>
          <p:cNvPr id="3" name="Picture 2">
            <a:extLst>
              <a:ext uri="{FF2B5EF4-FFF2-40B4-BE49-F238E27FC236}">
                <a16:creationId xmlns:a16="http://schemas.microsoft.com/office/drawing/2014/main" id="{A3A9A107-C815-5EEE-08DC-8A0284912B7A}"/>
              </a:ext>
            </a:extLst>
          </p:cNvPr>
          <p:cNvPicPr>
            <a:picLocks noChangeAspect="1"/>
          </p:cNvPicPr>
          <p:nvPr/>
        </p:nvPicPr>
        <p:blipFill>
          <a:blip r:embed="rId2"/>
          <a:stretch>
            <a:fillRect/>
          </a:stretch>
        </p:blipFill>
        <p:spPr>
          <a:xfrm>
            <a:off x="1806141" y="1284507"/>
            <a:ext cx="4963218" cy="3562847"/>
          </a:xfrm>
          <a:prstGeom prst="rect">
            <a:avLst/>
          </a:prstGeom>
        </p:spPr>
      </p:pic>
    </p:spTree>
    <p:extLst>
      <p:ext uri="{BB962C8B-B14F-4D97-AF65-F5344CB8AC3E}">
        <p14:creationId xmlns:p14="http://schemas.microsoft.com/office/powerpoint/2010/main" val="1248184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DEEA-1C9C-E047-7B42-BEF089823EBD}"/>
              </a:ext>
            </a:extLst>
          </p:cNvPr>
          <p:cNvSpPr>
            <a:spLocks noGrp="1"/>
          </p:cNvSpPr>
          <p:nvPr>
            <p:ph type="title"/>
          </p:nvPr>
        </p:nvSpPr>
        <p:spPr/>
        <p:txBody>
          <a:bodyPr/>
          <a:lstStyle/>
          <a:p>
            <a:r>
              <a:rPr lang="en-US" dirty="0"/>
              <a:t>Further Updates are to be done:</a:t>
            </a:r>
            <a:endParaRPr lang="en-IN" dirty="0"/>
          </a:p>
        </p:txBody>
      </p:sp>
      <p:sp>
        <p:nvSpPr>
          <p:cNvPr id="3" name="Content Placeholder 2">
            <a:extLst>
              <a:ext uri="{FF2B5EF4-FFF2-40B4-BE49-F238E27FC236}">
                <a16:creationId xmlns:a16="http://schemas.microsoft.com/office/drawing/2014/main" id="{4803B988-4A13-C509-0063-63CEE1D585FC}"/>
              </a:ext>
            </a:extLst>
          </p:cNvPr>
          <p:cNvSpPr>
            <a:spLocks noGrp="1"/>
          </p:cNvSpPr>
          <p:nvPr>
            <p:ph idx="1"/>
          </p:nvPr>
        </p:nvSpPr>
        <p:spPr>
          <a:xfrm>
            <a:off x="1848433" y="2689190"/>
            <a:ext cx="8915400" cy="1280890"/>
          </a:xfrm>
        </p:spPr>
        <p:txBody>
          <a:bodyPr>
            <a:normAutofit/>
          </a:bodyPr>
          <a:lstStyle/>
          <a:p>
            <a:pPr marL="0" indent="0" algn="ctr">
              <a:buNone/>
            </a:pPr>
            <a:r>
              <a:rPr lang="en-US" sz="6600" dirty="0"/>
              <a:t>Thank You </a:t>
            </a:r>
            <a:endParaRPr lang="en-IN" sz="6600" dirty="0"/>
          </a:p>
        </p:txBody>
      </p:sp>
    </p:spTree>
    <p:extLst>
      <p:ext uri="{BB962C8B-B14F-4D97-AF65-F5344CB8AC3E}">
        <p14:creationId xmlns:p14="http://schemas.microsoft.com/office/powerpoint/2010/main" val="17017658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796</TotalTime>
  <Words>2929</Words>
  <Application>Microsoft Office PowerPoint</Application>
  <PresentationFormat>Widescreen</PresentationFormat>
  <Paragraphs>253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Cambria Math</vt:lpstr>
      <vt:lpstr>Century Gothic</vt:lpstr>
      <vt:lpstr>Times New Roman</vt:lpstr>
      <vt:lpstr>Wingdings 3</vt:lpstr>
      <vt:lpstr>Wisp</vt:lpstr>
      <vt:lpstr>DESIGN AND DEVELOPMENT OF HYDRAULIC SOFT ACTUATOR FOR SDOF</vt:lpstr>
      <vt:lpstr>History: </vt:lpstr>
      <vt:lpstr>Technology centers: </vt:lpstr>
      <vt:lpstr>Humanoid Robots:</vt:lpstr>
      <vt:lpstr>Introduction:</vt:lpstr>
      <vt:lpstr>Problem Statement:</vt:lpstr>
      <vt:lpstr>Literature Survey:</vt:lpstr>
      <vt:lpstr>Literature Survey:</vt:lpstr>
      <vt:lpstr>Literature Survey:</vt:lpstr>
      <vt:lpstr>Literature Survey:</vt:lpstr>
      <vt:lpstr>Literature Survey:</vt:lpstr>
      <vt:lpstr>Literature Survey:</vt:lpstr>
      <vt:lpstr>Literature Survey:</vt:lpstr>
      <vt:lpstr>Derivation For Pressure and Force Relation:</vt:lpstr>
      <vt:lpstr>Derivation For Pressure and Force Relation:</vt:lpstr>
      <vt:lpstr>Derivation For Pressure and Force Relation:</vt:lpstr>
      <vt:lpstr>Derivation For Pressure and Force Relation:</vt:lpstr>
      <vt:lpstr>PowerPoint Presentation</vt:lpstr>
      <vt:lpstr>Calculation and Dimensions for McKibben Muscle:</vt:lpstr>
      <vt:lpstr>CAD Model of McKibben Muscle:</vt:lpstr>
      <vt:lpstr>CAD Model of McKibben Muscle:</vt:lpstr>
      <vt:lpstr>CAD Model of McKibben Muscle:</vt:lpstr>
      <vt:lpstr>CAD Model of McKibben Muscle:</vt:lpstr>
      <vt:lpstr>Further Updates are to be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HYDRAULIC SOFT ACTUATOR</dc:title>
  <dc:creator>SHIVDAS PRASAD SHANKAR</dc:creator>
  <cp:lastModifiedBy>Suraj Varma</cp:lastModifiedBy>
  <cp:revision>23</cp:revision>
  <dcterms:created xsi:type="dcterms:W3CDTF">2026-08-07T06:11:39Z</dcterms:created>
  <dcterms:modified xsi:type="dcterms:W3CDTF">2026-08-23T18:24:37Z</dcterms:modified>
</cp:coreProperties>
</file>