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67" r:id="rId5"/>
    <p:sldId id="268" r:id="rId6"/>
    <p:sldId id="269" r:id="rId7"/>
    <p:sldId id="270" r:id="rId8"/>
    <p:sldId id="271" r:id="rId9"/>
    <p:sldId id="259" r:id="rId10"/>
    <p:sldId id="260" r:id="rId11"/>
    <p:sldId id="261" r:id="rId12"/>
    <p:sldId id="262" r:id="rId13"/>
    <p:sldId id="263" r:id="rId14"/>
    <p:sldId id="264" r:id="rId15"/>
    <p:sldId id="266" r:id="rId16"/>
    <p:sldId id="272"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p:scale>
          <a:sx n="66" d="100"/>
          <a:sy n="66" d="100"/>
        </p:scale>
        <p:origin x="1282" y="41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presProps" Target="presProps.xml" /><Relationship Id="rId3" Type="http://schemas.openxmlformats.org/officeDocument/2006/relationships/slide" Target="slides/slide2.xml" /><Relationship Id="rId21" Type="http://schemas.openxmlformats.org/officeDocument/2006/relationships/tableStyles" Target="tableStyles.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theme" Target="theme/them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slide" Target="slides/slide14.xml" /><Relationship Id="rId10" Type="http://schemas.openxmlformats.org/officeDocument/2006/relationships/slide" Target="slides/slide9.xml" /><Relationship Id="rId19" Type="http://schemas.openxmlformats.org/officeDocument/2006/relationships/viewProps" Target="viewProps.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8/12/2026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8/12/2026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8/12/2026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8/12/2026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8/12/2026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8/12/2026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8/12/2026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8/12/2026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8/12/2026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17" Type="http://schemas.openxmlformats.org/officeDocument/2006/relationships/theme" Target="../theme/theme1.xml" /><Relationship Id="rId2" Type="http://schemas.openxmlformats.org/officeDocument/2006/relationships/slideLayout" Target="../slideLayouts/slideLayout2.xml" /><Relationship Id="rId16" Type="http://schemas.openxmlformats.org/officeDocument/2006/relationships/slideLayout" Target="../slideLayouts/slideLayout16.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5" Type="http://schemas.openxmlformats.org/officeDocument/2006/relationships/slideLayout" Target="../slideLayouts/slideLayout1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157"/>
            <a:ext cx="2356674" cy="6853096"/>
            <a:chOff x="6627813" y="195610"/>
            <a:chExt cx="1952625" cy="5678141"/>
          </a:xfrm>
        </p:grpSpPr>
        <p:sp>
          <p:nvSpPr>
            <p:cNvPr id="11" name="Freeform 27"/>
            <p:cNvSpPr/>
            <p:nvPr/>
          </p:nvSpPr>
          <p:spPr bwMode="auto">
            <a:xfrm>
              <a:off x="6627813" y="195610"/>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8/12/2026</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2" Type="http://schemas.openxmlformats.org/officeDocument/2006/relationships/image" Target="../media/image1.jpg" /><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3" Type="http://schemas.openxmlformats.org/officeDocument/2006/relationships/image" Target="../media/image4.png" /><Relationship Id="rId2" Type="http://schemas.openxmlformats.org/officeDocument/2006/relationships/image" Target="../media/image3.png" /><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3" Type="http://schemas.openxmlformats.org/officeDocument/2006/relationships/image" Target="../media/image6.png" /><Relationship Id="rId2" Type="http://schemas.openxmlformats.org/officeDocument/2006/relationships/image" Target="../media/image5.png" /><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2" Type="http://schemas.openxmlformats.org/officeDocument/2006/relationships/image" Target="../media/image7.png" /><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latin typeface="Times New Roman" panose="02020603050405020304" pitchFamily="18" charset="0"/>
                <a:cs typeface="Times New Roman" panose="02020603050405020304" pitchFamily="18" charset="0"/>
              </a:rPr>
              <a:t>HYDRAULIC SOFT ACTUATOR</a:t>
            </a:r>
            <a:endParaRPr lang="en-IN"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p:txBody>
          <a:bodyPr/>
          <a:lstStyle/>
          <a:p>
            <a:r>
              <a:rPr lang="en-US" dirty="0">
                <a:latin typeface="Times New Roman" panose="02020603050405020304" pitchFamily="18" charset="0"/>
                <a:cs typeface="Times New Roman" panose="02020603050405020304" pitchFamily="18" charset="0"/>
              </a:rPr>
              <a:t>- Under guidance of Sc. </a:t>
            </a:r>
            <a:r>
              <a:rPr lang="en-US" dirty="0" err="1">
                <a:latin typeface="Times New Roman" panose="02020603050405020304" pitchFamily="18" charset="0"/>
                <a:cs typeface="Times New Roman" panose="02020603050405020304" pitchFamily="18" charset="0"/>
              </a:rPr>
              <a:t>Shivdas</a:t>
            </a:r>
            <a:r>
              <a:rPr lang="en-US" dirty="0">
                <a:latin typeface="Times New Roman" panose="02020603050405020304" pitchFamily="18" charset="0"/>
                <a:cs typeface="Times New Roman" panose="02020603050405020304" pitchFamily="18" charset="0"/>
              </a:rPr>
              <a:t> Prasad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670578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36962" y="632422"/>
            <a:ext cx="8911687" cy="1280890"/>
          </a:xfrm>
        </p:spPr>
        <p:txBody>
          <a:bodyPr/>
          <a:lstStyle/>
          <a:p>
            <a:r>
              <a:rPr lang="en-US" dirty="0">
                <a:latin typeface="Times New Roman" panose="02020603050405020304" pitchFamily="18" charset="0"/>
                <a:cs typeface="Times New Roman" panose="02020603050405020304" pitchFamily="18" charset="0"/>
              </a:rPr>
              <a:t>Introduction:</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476547" y="1543395"/>
            <a:ext cx="9028098" cy="5016025"/>
          </a:xfrm>
        </p:spPr>
        <p:txBody>
          <a:bodyPr>
            <a:normAutofit/>
          </a:bodyPr>
          <a:lstStyle/>
          <a:p>
            <a:pPr algn="just"/>
            <a:r>
              <a:rPr lang="en-US" sz="1600" dirty="0">
                <a:latin typeface="Times New Roman" panose="02020603050405020304" pitchFamily="18" charset="0"/>
                <a:cs typeface="Times New Roman" panose="02020603050405020304" pitchFamily="18" charset="0"/>
              </a:rPr>
              <a:t>Soft robotics has become an important area of robotics because compliant structures can deform continuously, adapt to irregular surfaces, and distribute contact forces during interaction. These properties are especially useful for handling delicate objects, operating in uncertain environments, and interacting safely with the human body, where compliance is a basic design requirement rather than an added feature.</a:t>
            </a:r>
          </a:p>
          <a:p>
            <a:pPr algn="just"/>
            <a:r>
              <a:rPr lang="en-US" sz="1600" dirty="0">
                <a:latin typeface="Times New Roman" panose="02020603050405020304" pitchFamily="18" charset="0"/>
                <a:cs typeface="Times New Roman" panose="02020603050405020304" pitchFamily="18" charset="0"/>
              </a:rPr>
              <a:t>In these systems, the actuator is central to performance because it not only produces motion but also influences the load path, deformation mode, stiffness distribution, and contact behavior of the robot.</a:t>
            </a:r>
          </a:p>
          <a:p>
            <a:pPr algn="just"/>
            <a:r>
              <a:rPr lang="en-US" sz="1600" dirty="0">
                <a:latin typeface="Times New Roman" panose="02020603050405020304" pitchFamily="18" charset="0"/>
                <a:cs typeface="Times New Roman" panose="02020603050405020304" pitchFamily="18" charset="0"/>
              </a:rPr>
              <a:t>First we discuss about Pneumatic Soft Actuator (PAM), like PAM is a soft actuator which has great potential in the field of bio-inspired robotics.</a:t>
            </a:r>
          </a:p>
          <a:p>
            <a:pPr algn="just"/>
            <a:r>
              <a:rPr lang="en-US" sz="1600" dirty="0">
                <a:latin typeface="Times New Roman" panose="02020603050405020304" pitchFamily="18" charset="0"/>
                <a:cs typeface="Times New Roman" panose="02020603050405020304" pitchFamily="18" charset="0"/>
              </a:rPr>
              <a:t>But PAM have lots of limitations such less loading capacity, losses, leakages, etc.</a:t>
            </a:r>
          </a:p>
          <a:p>
            <a:pPr algn="just"/>
            <a:r>
              <a:rPr lang="en-US" sz="1600" dirty="0">
                <a:latin typeface="Times New Roman" panose="02020603050405020304" pitchFamily="18" charset="0"/>
                <a:cs typeface="Times New Roman" panose="02020603050405020304" pitchFamily="18" charset="0"/>
              </a:rPr>
              <a:t>So for that we are going to discussed about Designing and Modeling of Hydraulic Soft Actuator.</a:t>
            </a:r>
          </a:p>
          <a:p>
            <a:pPr algn="just"/>
            <a:r>
              <a:rPr lang="en-US" sz="1600" dirty="0">
                <a:latin typeface="Times New Roman" panose="02020603050405020304" pitchFamily="18" charset="0"/>
                <a:cs typeface="Times New Roman" panose="02020603050405020304" pitchFamily="18" charset="0"/>
              </a:rPr>
              <a:t>And we have to design for 5kg of lift.</a:t>
            </a:r>
          </a:p>
        </p:txBody>
      </p:sp>
    </p:spTree>
    <p:extLst>
      <p:ext uri="{BB962C8B-B14F-4D97-AF65-F5344CB8AC3E}">
        <p14:creationId xmlns:p14="http://schemas.microsoft.com/office/powerpoint/2010/main" val="16015481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2124" y="689428"/>
            <a:ext cx="8911687" cy="623082"/>
          </a:xfrm>
        </p:spPr>
        <p:txBody>
          <a:bodyPr>
            <a:normAutofit fontScale="90000"/>
          </a:bodyPr>
          <a:lstStyle/>
          <a:p>
            <a:r>
              <a:rPr lang="en-US" dirty="0">
                <a:latin typeface="Times New Roman" panose="02020603050405020304" pitchFamily="18" charset="0"/>
                <a:cs typeface="Times New Roman" panose="02020603050405020304" pitchFamily="18" charset="0"/>
              </a:rPr>
              <a:t>Problem Statement:</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438384" y="1386366"/>
            <a:ext cx="8814334" cy="1300850"/>
          </a:xfrm>
        </p:spPr>
        <p:txBody>
          <a:bodyPr/>
          <a:lstStyle/>
          <a:p>
            <a:pPr algn="just"/>
            <a:r>
              <a:rPr lang="en-US" sz="1600" dirty="0">
                <a:latin typeface="Times New Roman" panose="02020603050405020304" pitchFamily="18" charset="0"/>
                <a:cs typeface="Times New Roman" panose="02020603050405020304" pitchFamily="18" charset="0"/>
              </a:rPr>
              <a:t>To design and develop a single-degree-of-freedom robotic elbow joint using a hydraulic McKibben muscle actuator in an antagonistic biceps-triceps configuration, capable of lifting a minimum 5 kg load while providing the required joint torque, motion, and structural safety.</a:t>
            </a:r>
          </a:p>
        </p:txBody>
      </p:sp>
      <p:sp>
        <p:nvSpPr>
          <p:cNvPr id="4" name="Title 1">
            <a:extLst>
              <a:ext uri="{FF2B5EF4-FFF2-40B4-BE49-F238E27FC236}">
                <a16:creationId xmlns:a16="http://schemas.microsoft.com/office/drawing/2014/main" id="{41CFEC92-EEB1-CB3B-B8D5-3567E0A526AF}"/>
              </a:ext>
            </a:extLst>
          </p:cNvPr>
          <p:cNvSpPr txBox="1">
            <a:spLocks/>
          </p:cNvSpPr>
          <p:nvPr/>
        </p:nvSpPr>
        <p:spPr>
          <a:xfrm>
            <a:off x="1752124" y="2375675"/>
            <a:ext cx="2126295" cy="623082"/>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dirty="0">
                <a:latin typeface="Times New Roman" panose="02020603050405020304" pitchFamily="18" charset="0"/>
                <a:cs typeface="Times New Roman" panose="02020603050405020304" pitchFamily="18" charset="0"/>
              </a:rPr>
              <a:t>Objective:</a:t>
            </a:r>
            <a:endParaRPr lang="en-IN" sz="3200" dirty="0">
              <a:latin typeface="Times New Roman" panose="02020603050405020304" pitchFamily="18" charset="0"/>
              <a:cs typeface="Times New Roman" panose="02020603050405020304" pitchFamily="18" charset="0"/>
            </a:endParaRPr>
          </a:p>
        </p:txBody>
      </p:sp>
      <p:sp>
        <p:nvSpPr>
          <p:cNvPr id="5" name="Content Placeholder 2">
            <a:extLst>
              <a:ext uri="{FF2B5EF4-FFF2-40B4-BE49-F238E27FC236}">
                <a16:creationId xmlns:a16="http://schemas.microsoft.com/office/drawing/2014/main" id="{3D7FDE61-FB3C-0298-EDF8-A52535F19A7C}"/>
              </a:ext>
            </a:extLst>
          </p:cNvPr>
          <p:cNvSpPr txBox="1">
            <a:spLocks/>
          </p:cNvSpPr>
          <p:nvPr/>
        </p:nvSpPr>
        <p:spPr>
          <a:xfrm>
            <a:off x="2387044" y="2927197"/>
            <a:ext cx="4047963" cy="2590036"/>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R="0" lvl="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study the working principle and characteristics of hydraulic McKibben muscle actuators for robotic applications. </a:t>
            </a:r>
          </a:p>
          <a:p>
            <a:pPr marR="0" lvl="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design a single-DOF robotic elbow joint using a biceps-triceps type McKibben actuator arrangement for a minimum 5 kg load. </a:t>
            </a:r>
          </a:p>
          <a:p>
            <a:pPr marR="0" lvl="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analyze the required joint torque, actuator force, pressure, and braided sheath parameters. </a:t>
            </a:r>
          </a:p>
        </p:txBody>
      </p:sp>
      <p:pic>
        <p:nvPicPr>
          <p:cNvPr id="8" name="Picture 7">
            <a:extLst>
              <a:ext uri="{FF2B5EF4-FFF2-40B4-BE49-F238E27FC236}">
                <a16:creationId xmlns:a16="http://schemas.microsoft.com/office/drawing/2014/main" id="{05F2152F-2FE7-7DC4-A638-D7E7EBD816A3}"/>
              </a:ext>
            </a:extLst>
          </p:cNvPr>
          <p:cNvPicPr>
            <a:picLocks noChangeAspect="1"/>
          </p:cNvPicPr>
          <p:nvPr/>
        </p:nvPicPr>
        <p:blipFill>
          <a:blip r:embed="rId2"/>
          <a:srcRect l="5818" t="23636" r="4542"/>
          <a:stretch/>
        </p:blipFill>
        <p:spPr>
          <a:xfrm>
            <a:off x="6667018" y="2417490"/>
            <a:ext cx="4994168" cy="3751082"/>
          </a:xfrm>
          <a:prstGeom prst="rect">
            <a:avLst/>
          </a:prstGeom>
        </p:spPr>
      </p:pic>
    </p:spTree>
    <p:extLst>
      <p:ext uri="{BB962C8B-B14F-4D97-AF65-F5344CB8AC3E}">
        <p14:creationId xmlns:p14="http://schemas.microsoft.com/office/powerpoint/2010/main" val="1083796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B534A-ED3F-CB0D-6BDD-C0DE08BD8DCC}"/>
              </a:ext>
            </a:extLst>
          </p:cNvPr>
          <p:cNvSpPr>
            <a:spLocks noGrp="1"/>
          </p:cNvSpPr>
          <p:nvPr>
            <p:ph type="title"/>
          </p:nvPr>
        </p:nvSpPr>
        <p:spPr>
          <a:xfrm>
            <a:off x="1725170" y="624110"/>
            <a:ext cx="8911687" cy="719498"/>
          </a:xfrm>
        </p:spPr>
        <p:txBody>
          <a:bodyPr/>
          <a:lstStyle/>
          <a:p>
            <a:r>
              <a:rPr lang="en-US" dirty="0">
                <a:latin typeface="Times New Roman" panose="02020603050405020304" pitchFamily="18" charset="0"/>
                <a:cs typeface="Times New Roman" panose="02020603050405020304" pitchFamily="18" charset="0"/>
              </a:rPr>
              <a:t>Literature Survey:</a:t>
            </a:r>
            <a:endParaRPr lang="en-IN" dirty="0">
              <a:latin typeface="Times New Roman" panose="02020603050405020304" pitchFamily="18" charset="0"/>
              <a:cs typeface="Times New Roman" panose="02020603050405020304" pitchFamily="18" charset="0"/>
            </a:endParaRPr>
          </a:p>
        </p:txBody>
      </p:sp>
      <p:graphicFrame>
        <p:nvGraphicFramePr>
          <p:cNvPr id="7" name="Table 6">
            <a:extLst>
              <a:ext uri="{FF2B5EF4-FFF2-40B4-BE49-F238E27FC236}">
                <a16:creationId xmlns:a16="http://schemas.microsoft.com/office/drawing/2014/main" id="{62F9848D-E8EC-3847-59E5-3C01C4742080}"/>
              </a:ext>
            </a:extLst>
          </p:cNvPr>
          <p:cNvGraphicFramePr>
            <a:graphicFrameLocks noGrp="1"/>
          </p:cNvGraphicFramePr>
          <p:nvPr>
            <p:extLst>
              <p:ext uri="{D42A27DB-BD31-4B8C-83A1-F6EECF244321}">
                <p14:modId xmlns:p14="http://schemas.microsoft.com/office/powerpoint/2010/main" val="2910135284"/>
              </p:ext>
            </p:extLst>
          </p:nvPr>
        </p:nvGraphicFramePr>
        <p:xfrm>
          <a:off x="1851949" y="1440322"/>
          <a:ext cx="9259747" cy="4026878"/>
        </p:xfrm>
        <a:graphic>
          <a:graphicData uri="http://schemas.openxmlformats.org/drawingml/2006/table">
            <a:tbl>
              <a:tblPr/>
              <a:tblGrid>
                <a:gridCol w="590310">
                  <a:extLst>
                    <a:ext uri="{9D8B030D-6E8A-4147-A177-3AD203B41FA5}">
                      <a16:colId xmlns:a16="http://schemas.microsoft.com/office/drawing/2014/main" val="3535979394"/>
                    </a:ext>
                  </a:extLst>
                </a:gridCol>
                <a:gridCol w="1342663">
                  <a:extLst>
                    <a:ext uri="{9D8B030D-6E8A-4147-A177-3AD203B41FA5}">
                      <a16:colId xmlns:a16="http://schemas.microsoft.com/office/drawing/2014/main" val="2803354011"/>
                    </a:ext>
                  </a:extLst>
                </a:gridCol>
                <a:gridCol w="2035490">
                  <a:extLst>
                    <a:ext uri="{9D8B030D-6E8A-4147-A177-3AD203B41FA5}">
                      <a16:colId xmlns:a16="http://schemas.microsoft.com/office/drawing/2014/main" val="2357653448"/>
                    </a:ext>
                  </a:extLst>
                </a:gridCol>
                <a:gridCol w="1322821">
                  <a:extLst>
                    <a:ext uri="{9D8B030D-6E8A-4147-A177-3AD203B41FA5}">
                      <a16:colId xmlns:a16="http://schemas.microsoft.com/office/drawing/2014/main" val="2307216443"/>
                    </a:ext>
                  </a:extLst>
                </a:gridCol>
                <a:gridCol w="1322821">
                  <a:extLst>
                    <a:ext uri="{9D8B030D-6E8A-4147-A177-3AD203B41FA5}">
                      <a16:colId xmlns:a16="http://schemas.microsoft.com/office/drawing/2014/main" val="1220081335"/>
                    </a:ext>
                  </a:extLst>
                </a:gridCol>
                <a:gridCol w="1322821">
                  <a:extLst>
                    <a:ext uri="{9D8B030D-6E8A-4147-A177-3AD203B41FA5}">
                      <a16:colId xmlns:a16="http://schemas.microsoft.com/office/drawing/2014/main" val="1503943532"/>
                    </a:ext>
                  </a:extLst>
                </a:gridCol>
                <a:gridCol w="1322821">
                  <a:extLst>
                    <a:ext uri="{9D8B030D-6E8A-4147-A177-3AD203B41FA5}">
                      <a16:colId xmlns:a16="http://schemas.microsoft.com/office/drawing/2014/main" val="2451333525"/>
                    </a:ext>
                  </a:extLst>
                </a:gridCol>
              </a:tblGrid>
              <a:tr h="0">
                <a:tc>
                  <a:txBody>
                    <a:bodyPr/>
                    <a:lstStyle/>
                    <a:p>
                      <a:r>
                        <a:rPr lang="en-IN" sz="1400">
                          <a:latin typeface="Times New Roman" panose="02020603050405020304" pitchFamily="18" charset="0"/>
                          <a:cs typeface="Times New Roman" panose="02020603050405020304" pitchFamily="18" charset="0"/>
                        </a:rPr>
                        <a:t>Year</a:t>
                      </a:r>
                    </a:p>
                  </a:txBody>
                  <a:tcPr marL="33215" marR="33215" marT="16608" marB="166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latin typeface="Times New Roman" panose="02020603050405020304" pitchFamily="18" charset="0"/>
                          <a:cs typeface="Times New Roman" panose="02020603050405020304" pitchFamily="18" charset="0"/>
                        </a:rPr>
                        <a:t>Author(s)</a:t>
                      </a:r>
                    </a:p>
                  </a:txBody>
                  <a:tcPr marL="33215" marR="33215" marT="16608" marB="166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latin typeface="Times New Roman" panose="02020603050405020304" pitchFamily="18" charset="0"/>
                          <a:cs typeface="Times New Roman" panose="02020603050405020304" pitchFamily="18" charset="0"/>
                        </a:rPr>
                        <a:t>Research Paper / Topic</a:t>
                      </a:r>
                    </a:p>
                  </a:txBody>
                  <a:tcPr marL="33215" marR="33215" marT="16608" marB="166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latin typeface="Times New Roman" panose="02020603050405020304" pitchFamily="18" charset="0"/>
                          <a:cs typeface="Times New Roman" panose="02020603050405020304" pitchFamily="18" charset="0"/>
                        </a:rPr>
                        <a:t>Publication</a:t>
                      </a:r>
                    </a:p>
                  </a:txBody>
                  <a:tcPr marL="33215" marR="33215" marT="16608" marB="166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latin typeface="Times New Roman" panose="02020603050405020304" pitchFamily="18" charset="0"/>
                          <a:cs typeface="Times New Roman" panose="02020603050405020304" pitchFamily="18" charset="0"/>
                        </a:rPr>
                        <a:t>Key Finding</a:t>
                      </a:r>
                    </a:p>
                  </a:txBody>
                  <a:tcPr marL="33215" marR="33215" marT="16608" marB="166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latin typeface="Times New Roman" panose="02020603050405020304" pitchFamily="18" charset="0"/>
                          <a:cs typeface="Times New Roman" panose="02020603050405020304" pitchFamily="18" charset="0"/>
                        </a:rPr>
                        <a:t>Limitation</a:t>
                      </a:r>
                    </a:p>
                  </a:txBody>
                  <a:tcPr marL="33215" marR="33215" marT="16608" marB="166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latin typeface="Times New Roman" panose="02020603050405020304" pitchFamily="18" charset="0"/>
                          <a:cs typeface="Times New Roman" panose="02020603050405020304" pitchFamily="18" charset="0"/>
                        </a:rPr>
                        <a:t>Relevance</a:t>
                      </a:r>
                    </a:p>
                  </a:txBody>
                  <a:tcPr marL="33215" marR="33215" marT="16608" marB="166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95632231"/>
                  </a:ext>
                </a:extLst>
              </a:tr>
              <a:tr h="1826846">
                <a:tc>
                  <a:txBody>
                    <a:bodyPr/>
                    <a:lstStyle/>
                    <a:p>
                      <a:r>
                        <a:rPr lang="en-IN" sz="1400">
                          <a:latin typeface="Times New Roman" panose="02020603050405020304" pitchFamily="18" charset="0"/>
                          <a:cs typeface="Times New Roman" panose="02020603050405020304" pitchFamily="18" charset="0"/>
                        </a:rPr>
                        <a:t>2022</a:t>
                      </a:r>
                    </a:p>
                  </a:txBody>
                  <a:tcPr marL="33215" marR="33215" marT="16608" marB="166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it-IT" sz="1400" dirty="0">
                          <a:latin typeface="Times New Roman" panose="02020603050405020304" pitchFamily="18" charset="0"/>
                          <a:cs typeface="Times New Roman" panose="02020603050405020304" pitchFamily="18" charset="0"/>
                        </a:rPr>
                        <a:t>M. G. Antonelli et al.</a:t>
                      </a:r>
                    </a:p>
                  </a:txBody>
                  <a:tcPr marL="33215" marR="33215" marT="16608" marB="166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Times New Roman" panose="02020603050405020304" pitchFamily="18" charset="0"/>
                          <a:cs typeface="Times New Roman" panose="02020603050405020304" pitchFamily="18" charset="0"/>
                        </a:rPr>
                        <a:t>Design and Characterization of a McKibben Pneumatic Muscle Prototype with an Embedded Capacitive Length Transducer</a:t>
                      </a:r>
                    </a:p>
                  </a:txBody>
                  <a:tcPr marL="33215" marR="33215" marT="16608" marB="166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latin typeface="Times New Roman" panose="02020603050405020304" pitchFamily="18" charset="0"/>
                          <a:cs typeface="Times New Roman" panose="02020603050405020304" pitchFamily="18" charset="0"/>
                        </a:rPr>
                        <a:t>Machines, MDPI</a:t>
                      </a:r>
                    </a:p>
                  </a:txBody>
                  <a:tcPr marL="33215" marR="33215" marT="16608" marB="166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Times New Roman" panose="02020603050405020304" pitchFamily="18" charset="0"/>
                          <a:cs typeface="Times New Roman" panose="02020603050405020304" pitchFamily="18" charset="0"/>
                        </a:rPr>
                        <a:t>Developed an embedded capacitive sensor capable of measuring muscle-length changes below 1 mm.</a:t>
                      </a:r>
                    </a:p>
                  </a:txBody>
                  <a:tcPr marL="33215" marR="33215" marT="16608" marB="166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latin typeface="Times New Roman" panose="02020603050405020304" pitchFamily="18" charset="0"/>
                          <a:cs typeface="Times New Roman" panose="02020603050405020304" pitchFamily="18" charset="0"/>
                        </a:rPr>
                        <a:t>Requires a specialized embedded sensing arrangement.</a:t>
                      </a:r>
                    </a:p>
                  </a:txBody>
                  <a:tcPr marL="33215" marR="33215" marT="16608" marB="166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latin typeface="Times New Roman" panose="02020603050405020304" pitchFamily="18" charset="0"/>
                          <a:cs typeface="Times New Roman" panose="02020603050405020304" pitchFamily="18" charset="0"/>
                        </a:rPr>
                        <a:t>Useful for future actuator displacement measurement and feedback.</a:t>
                      </a:r>
                    </a:p>
                  </a:txBody>
                  <a:tcPr marL="33215" marR="33215" marT="16608" marB="166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29449609"/>
                  </a:ext>
                </a:extLst>
              </a:tr>
              <a:tr h="1727200">
                <a:tc>
                  <a:txBody>
                    <a:bodyPr/>
                    <a:lstStyle/>
                    <a:p>
                      <a:r>
                        <a:rPr lang="en-IN" sz="1400">
                          <a:latin typeface="Times New Roman" panose="02020603050405020304" pitchFamily="18" charset="0"/>
                          <a:cs typeface="Times New Roman" panose="02020603050405020304" pitchFamily="18" charset="0"/>
                        </a:rPr>
                        <a:t>2018/2019</a:t>
                      </a:r>
                    </a:p>
                  </a:txBody>
                  <a:tcPr marL="33215" marR="33215" marT="16608" marB="166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latin typeface="Times New Roman" panose="02020603050405020304" pitchFamily="18" charset="0"/>
                          <a:cs typeface="Times New Roman" panose="02020603050405020304" pitchFamily="18" charset="0"/>
                        </a:rPr>
                        <a:t>T. Hassan et al.</a:t>
                      </a:r>
                    </a:p>
                  </a:txBody>
                  <a:tcPr marL="33215" marR="33215" marT="16608" marB="166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latin typeface="Times New Roman" panose="02020603050405020304" pitchFamily="18" charset="0"/>
                          <a:cs typeface="Times New Roman" panose="02020603050405020304" pitchFamily="18" charset="0"/>
                        </a:rPr>
                        <a:t>Finite Element Modeling and Design of a Pneumatic Braided Muscle Actuator with Multifunctional Capabilities</a:t>
                      </a:r>
                    </a:p>
                  </a:txBody>
                  <a:tcPr marL="33215" marR="33215" marT="16608" marB="166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latin typeface="Times New Roman" panose="02020603050405020304" pitchFamily="18" charset="0"/>
                          <a:cs typeface="Times New Roman" panose="02020603050405020304" pitchFamily="18" charset="0"/>
                        </a:rPr>
                        <a:t>IEEE/ASME Transactions on Mechatronics</a:t>
                      </a:r>
                    </a:p>
                  </a:txBody>
                  <a:tcPr marL="33215" marR="33215" marT="16608" marB="166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latin typeface="Times New Roman" panose="02020603050405020304" pitchFamily="18" charset="0"/>
                          <a:cs typeface="Times New Roman" panose="02020603050405020304" pitchFamily="18" charset="0"/>
                        </a:rPr>
                        <a:t>Developed a bidirectional braided actuator with more than 40% stroke and demonstrated it in a 1-DOF variable-stiffness joint.</a:t>
                      </a:r>
                    </a:p>
                  </a:txBody>
                  <a:tcPr marL="33215" marR="33215" marT="16608" marB="166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latin typeface="Times New Roman" panose="02020603050405020304" pitchFamily="18" charset="0"/>
                          <a:cs typeface="Times New Roman" panose="02020603050405020304" pitchFamily="18" charset="0"/>
                        </a:rPr>
                        <a:t>More complex sheath configuration and pneumatic operation.</a:t>
                      </a:r>
                    </a:p>
                  </a:txBody>
                  <a:tcPr marL="33215" marR="33215" marT="16608" marB="166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Times New Roman" panose="02020603050405020304" pitchFamily="18" charset="0"/>
                          <a:cs typeface="Times New Roman" panose="02020603050405020304" pitchFamily="18" charset="0"/>
                        </a:rPr>
                        <a:t>Highly relevant to our 1-DOF robotic elbow and antagonistic actuator concept.</a:t>
                      </a:r>
                    </a:p>
                  </a:txBody>
                  <a:tcPr marL="33215" marR="33215" marT="16608" marB="166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00359614"/>
                  </a:ext>
                </a:extLst>
              </a:tr>
            </a:tbl>
          </a:graphicData>
        </a:graphic>
      </p:graphicFrame>
    </p:spTree>
    <p:extLst>
      <p:ext uri="{BB962C8B-B14F-4D97-AF65-F5344CB8AC3E}">
        <p14:creationId xmlns:p14="http://schemas.microsoft.com/office/powerpoint/2010/main" val="35049347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B534A-ED3F-CB0D-6BDD-C0DE08BD8DCC}"/>
              </a:ext>
            </a:extLst>
          </p:cNvPr>
          <p:cNvSpPr>
            <a:spLocks noGrp="1"/>
          </p:cNvSpPr>
          <p:nvPr>
            <p:ph type="title"/>
          </p:nvPr>
        </p:nvSpPr>
        <p:spPr>
          <a:xfrm>
            <a:off x="1725170" y="624110"/>
            <a:ext cx="8911687" cy="719498"/>
          </a:xfrm>
        </p:spPr>
        <p:txBody>
          <a:bodyPr/>
          <a:lstStyle/>
          <a:p>
            <a:r>
              <a:rPr lang="en-US" dirty="0">
                <a:latin typeface="Times New Roman" panose="02020603050405020304" pitchFamily="18" charset="0"/>
                <a:cs typeface="Times New Roman" panose="02020603050405020304" pitchFamily="18" charset="0"/>
              </a:rPr>
              <a:t>Literature Survey:</a:t>
            </a:r>
            <a:endParaRPr lang="en-IN" dirty="0">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6CEE0453-256F-3E3E-50F4-CA484AC6F77D}"/>
              </a:ext>
            </a:extLst>
          </p:cNvPr>
          <p:cNvGraphicFramePr>
            <a:graphicFrameLocks noGrp="1"/>
          </p:cNvGraphicFramePr>
          <p:nvPr>
            <p:extLst>
              <p:ext uri="{D42A27DB-BD31-4B8C-83A1-F6EECF244321}">
                <p14:modId xmlns:p14="http://schemas.microsoft.com/office/powerpoint/2010/main" val="2519129497"/>
              </p:ext>
            </p:extLst>
          </p:nvPr>
        </p:nvGraphicFramePr>
        <p:xfrm>
          <a:off x="1908930" y="1343608"/>
          <a:ext cx="8936548" cy="4584712"/>
        </p:xfrm>
        <a:graphic>
          <a:graphicData uri="http://schemas.openxmlformats.org/drawingml/2006/table">
            <a:tbl>
              <a:tblPr/>
              <a:tblGrid>
                <a:gridCol w="463880">
                  <a:extLst>
                    <a:ext uri="{9D8B030D-6E8A-4147-A177-3AD203B41FA5}">
                      <a16:colId xmlns:a16="http://schemas.microsoft.com/office/drawing/2014/main" val="1395131405"/>
                    </a:ext>
                  </a:extLst>
                </a:gridCol>
                <a:gridCol w="1192193">
                  <a:extLst>
                    <a:ext uri="{9D8B030D-6E8A-4147-A177-3AD203B41FA5}">
                      <a16:colId xmlns:a16="http://schemas.microsoft.com/office/drawing/2014/main" val="1793049266"/>
                    </a:ext>
                  </a:extLst>
                </a:gridCol>
                <a:gridCol w="1818380">
                  <a:extLst>
                    <a:ext uri="{9D8B030D-6E8A-4147-A177-3AD203B41FA5}">
                      <a16:colId xmlns:a16="http://schemas.microsoft.com/office/drawing/2014/main" val="805150502"/>
                    </a:ext>
                  </a:extLst>
                </a:gridCol>
                <a:gridCol w="1376232">
                  <a:extLst>
                    <a:ext uri="{9D8B030D-6E8A-4147-A177-3AD203B41FA5}">
                      <a16:colId xmlns:a16="http://schemas.microsoft.com/office/drawing/2014/main" val="2502743979"/>
                    </a:ext>
                  </a:extLst>
                </a:gridCol>
                <a:gridCol w="1504709">
                  <a:extLst>
                    <a:ext uri="{9D8B030D-6E8A-4147-A177-3AD203B41FA5}">
                      <a16:colId xmlns:a16="http://schemas.microsoft.com/office/drawing/2014/main" val="3367861143"/>
                    </a:ext>
                  </a:extLst>
                </a:gridCol>
                <a:gridCol w="1388962">
                  <a:extLst>
                    <a:ext uri="{9D8B030D-6E8A-4147-A177-3AD203B41FA5}">
                      <a16:colId xmlns:a16="http://schemas.microsoft.com/office/drawing/2014/main" val="1976370255"/>
                    </a:ext>
                  </a:extLst>
                </a:gridCol>
                <a:gridCol w="1192192">
                  <a:extLst>
                    <a:ext uri="{9D8B030D-6E8A-4147-A177-3AD203B41FA5}">
                      <a16:colId xmlns:a16="http://schemas.microsoft.com/office/drawing/2014/main" val="1564934690"/>
                    </a:ext>
                  </a:extLst>
                </a:gridCol>
              </a:tblGrid>
              <a:tr h="369445">
                <a:tc>
                  <a:txBody>
                    <a:bodyPr/>
                    <a:lstStyle/>
                    <a:p>
                      <a:r>
                        <a:rPr lang="en-IN" sz="1400">
                          <a:latin typeface="Times New Roman" panose="02020603050405020304" pitchFamily="18" charset="0"/>
                          <a:cs typeface="Times New Roman" panose="02020603050405020304" pitchFamily="18" charset="0"/>
                        </a:rPr>
                        <a:t>Year</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dirty="0">
                          <a:latin typeface="Times New Roman" panose="02020603050405020304" pitchFamily="18" charset="0"/>
                          <a:cs typeface="Times New Roman" panose="02020603050405020304" pitchFamily="18" charset="0"/>
                        </a:rPr>
                        <a:t>Author(s)</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latin typeface="Times New Roman" panose="02020603050405020304" pitchFamily="18" charset="0"/>
                          <a:cs typeface="Times New Roman" panose="02020603050405020304" pitchFamily="18" charset="0"/>
                        </a:rPr>
                        <a:t>Research Paper / Topic</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latin typeface="Times New Roman" panose="02020603050405020304" pitchFamily="18" charset="0"/>
                          <a:cs typeface="Times New Roman" panose="02020603050405020304" pitchFamily="18" charset="0"/>
                        </a:rPr>
                        <a:t>Publication</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latin typeface="Times New Roman" panose="02020603050405020304" pitchFamily="18" charset="0"/>
                          <a:cs typeface="Times New Roman" panose="02020603050405020304" pitchFamily="18" charset="0"/>
                        </a:rPr>
                        <a:t>Key Finding</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latin typeface="Times New Roman" panose="02020603050405020304" pitchFamily="18" charset="0"/>
                          <a:cs typeface="Times New Roman" panose="02020603050405020304" pitchFamily="18" charset="0"/>
                        </a:rPr>
                        <a:t>Limitation</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latin typeface="Times New Roman" panose="02020603050405020304" pitchFamily="18" charset="0"/>
                          <a:cs typeface="Times New Roman" panose="02020603050405020304" pitchFamily="18" charset="0"/>
                        </a:rPr>
                        <a:t>Relevance</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7103169"/>
                  </a:ext>
                </a:extLst>
              </a:tr>
              <a:tr h="1903754">
                <a:tc>
                  <a:txBody>
                    <a:bodyPr/>
                    <a:lstStyle/>
                    <a:p>
                      <a:r>
                        <a:rPr lang="en-IN" sz="1400">
                          <a:latin typeface="Times New Roman" panose="02020603050405020304" pitchFamily="18" charset="0"/>
                          <a:cs typeface="Times New Roman" panose="02020603050405020304" pitchFamily="18" charset="0"/>
                        </a:rPr>
                        <a:t>2018</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it-IT" sz="1400" dirty="0">
                          <a:latin typeface="Times New Roman" panose="02020603050405020304" pitchFamily="18" charset="0"/>
                          <a:cs typeface="Times New Roman" panose="02020603050405020304" pitchFamily="18" charset="0"/>
                        </a:rPr>
                        <a:t>M. G. Antonelli et al.</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Times New Roman" panose="02020603050405020304" pitchFamily="18" charset="0"/>
                          <a:cs typeface="Times New Roman" panose="02020603050405020304" pitchFamily="18" charset="0"/>
                        </a:rPr>
                        <a:t>An Analytical Formula for Designing McKibben Pneumatic Muscles</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Times New Roman" panose="02020603050405020304" pitchFamily="18" charset="0"/>
                          <a:cs typeface="Times New Roman" panose="02020603050405020304" pitchFamily="18" charset="0"/>
                        </a:rPr>
                        <a:t>International Journal of Mechanical Engineering and Technology</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latin typeface="Times New Roman" panose="02020603050405020304" pitchFamily="18" charset="0"/>
                          <a:cs typeface="Times New Roman" panose="02020603050405020304" pitchFamily="18" charset="0"/>
                        </a:rPr>
                        <a:t>Developed an analytical force formula based on pressure, geometry, and contraction using FEM results.</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latin typeface="Times New Roman" panose="02020603050405020304" pitchFamily="18" charset="0"/>
                          <a:cs typeface="Times New Roman" panose="02020603050405020304" pitchFamily="18" charset="0"/>
                        </a:rPr>
                        <a:t>Valid only within the investigated parameter ranges.</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latin typeface="Times New Roman" panose="02020603050405020304" pitchFamily="18" charset="0"/>
                          <a:cs typeface="Times New Roman" panose="02020603050405020304" pitchFamily="18" charset="0"/>
                        </a:rPr>
                        <a:t>Useful for preliminary sizing of our actuator.</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04634041"/>
                  </a:ext>
                </a:extLst>
              </a:tr>
              <a:tr h="2311513">
                <a:tc>
                  <a:txBody>
                    <a:bodyPr/>
                    <a:lstStyle/>
                    <a:p>
                      <a:r>
                        <a:rPr lang="en-IN" sz="1400">
                          <a:latin typeface="Times New Roman" panose="02020603050405020304" pitchFamily="18" charset="0"/>
                          <a:cs typeface="Times New Roman" panose="02020603050405020304" pitchFamily="18" charset="0"/>
                        </a:rPr>
                        <a:t>2017</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it-IT" sz="1400">
                          <a:latin typeface="Times New Roman" panose="02020603050405020304" pitchFamily="18" charset="0"/>
                          <a:cs typeface="Times New Roman" panose="02020603050405020304" pitchFamily="18" charset="0"/>
                        </a:rPr>
                        <a:t>M. G. Antonelli et al.</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latin typeface="Times New Roman" panose="02020603050405020304" pitchFamily="18" charset="0"/>
                          <a:cs typeface="Times New Roman" panose="02020603050405020304" pitchFamily="18" charset="0"/>
                        </a:rPr>
                        <a:t>Numerical Modelling and Experimental Validation of a McKibben Pneumatic Muscle Actuator</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latin typeface="Times New Roman" panose="02020603050405020304" pitchFamily="18" charset="0"/>
                          <a:cs typeface="Times New Roman" panose="02020603050405020304" pitchFamily="18" charset="0"/>
                        </a:rPr>
                        <a:t>Journal of Intelligent Material Systems and Structures</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latin typeface="Times New Roman" panose="02020603050405020304" pitchFamily="18" charset="0"/>
                          <a:cs typeface="Times New Roman" panose="02020603050405020304" pitchFamily="18" charset="0"/>
                        </a:rPr>
                        <a:t>Developed nonlinear FEM considering hyperelastic tube behaviour and validated it experimentally.</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latin typeface="Times New Roman" panose="02020603050405020304" pitchFamily="18" charset="0"/>
                          <a:cs typeface="Times New Roman" panose="02020603050405020304" pitchFamily="18" charset="0"/>
                        </a:rPr>
                        <a:t>Thread friction and initial tube-braid gap were not modelled.</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Times New Roman" panose="02020603050405020304" pitchFamily="18" charset="0"/>
                          <a:cs typeface="Times New Roman" panose="02020603050405020304" pitchFamily="18" charset="0"/>
                        </a:rPr>
                        <a:t>Provides a basis for nonlinear FEM and experimental validation.</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41946841"/>
                  </a:ext>
                </a:extLst>
              </a:tr>
            </a:tbl>
          </a:graphicData>
        </a:graphic>
      </p:graphicFrame>
    </p:spTree>
    <p:extLst>
      <p:ext uri="{BB962C8B-B14F-4D97-AF65-F5344CB8AC3E}">
        <p14:creationId xmlns:p14="http://schemas.microsoft.com/office/powerpoint/2010/main" val="40626773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B534A-ED3F-CB0D-6BDD-C0DE08BD8DCC}"/>
              </a:ext>
            </a:extLst>
          </p:cNvPr>
          <p:cNvSpPr>
            <a:spLocks noGrp="1"/>
          </p:cNvSpPr>
          <p:nvPr>
            <p:ph type="title"/>
          </p:nvPr>
        </p:nvSpPr>
        <p:spPr>
          <a:xfrm>
            <a:off x="1725170" y="624110"/>
            <a:ext cx="8911687" cy="719498"/>
          </a:xfrm>
        </p:spPr>
        <p:txBody>
          <a:bodyPr/>
          <a:lstStyle/>
          <a:p>
            <a:r>
              <a:rPr lang="en-US" dirty="0">
                <a:latin typeface="Times New Roman" panose="02020603050405020304" pitchFamily="18" charset="0"/>
                <a:cs typeface="Times New Roman" panose="02020603050405020304" pitchFamily="18" charset="0"/>
              </a:rPr>
              <a:t>Literature Survey:</a:t>
            </a:r>
            <a:endParaRPr lang="en-IN"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7C44D4ED-5969-B395-520C-E52DFDFE96C1}"/>
              </a:ext>
            </a:extLst>
          </p:cNvPr>
          <p:cNvGraphicFramePr>
            <a:graphicFrameLocks noGrp="1"/>
          </p:cNvGraphicFramePr>
          <p:nvPr>
            <p:extLst>
              <p:ext uri="{D42A27DB-BD31-4B8C-83A1-F6EECF244321}">
                <p14:modId xmlns:p14="http://schemas.microsoft.com/office/powerpoint/2010/main" val="3132320945"/>
              </p:ext>
            </p:extLst>
          </p:nvPr>
        </p:nvGraphicFramePr>
        <p:xfrm>
          <a:off x="1932971" y="1343608"/>
          <a:ext cx="8911686" cy="4710742"/>
        </p:xfrm>
        <a:graphic>
          <a:graphicData uri="http://schemas.openxmlformats.org/drawingml/2006/table">
            <a:tbl>
              <a:tblPr/>
              <a:tblGrid>
                <a:gridCol w="567161">
                  <a:extLst>
                    <a:ext uri="{9D8B030D-6E8A-4147-A177-3AD203B41FA5}">
                      <a16:colId xmlns:a16="http://schemas.microsoft.com/office/drawing/2014/main" val="1462864271"/>
                    </a:ext>
                  </a:extLst>
                </a:gridCol>
                <a:gridCol w="1192192">
                  <a:extLst>
                    <a:ext uri="{9D8B030D-6E8A-4147-A177-3AD203B41FA5}">
                      <a16:colId xmlns:a16="http://schemas.microsoft.com/office/drawing/2014/main" val="3406782331"/>
                    </a:ext>
                  </a:extLst>
                </a:gridCol>
                <a:gridCol w="2059941">
                  <a:extLst>
                    <a:ext uri="{9D8B030D-6E8A-4147-A177-3AD203B41FA5}">
                      <a16:colId xmlns:a16="http://schemas.microsoft.com/office/drawing/2014/main" val="4125801229"/>
                    </a:ext>
                  </a:extLst>
                </a:gridCol>
                <a:gridCol w="1099948">
                  <a:extLst>
                    <a:ext uri="{9D8B030D-6E8A-4147-A177-3AD203B41FA5}">
                      <a16:colId xmlns:a16="http://schemas.microsoft.com/office/drawing/2014/main" val="1724235165"/>
                    </a:ext>
                  </a:extLst>
                </a:gridCol>
                <a:gridCol w="1446248">
                  <a:extLst>
                    <a:ext uri="{9D8B030D-6E8A-4147-A177-3AD203B41FA5}">
                      <a16:colId xmlns:a16="http://schemas.microsoft.com/office/drawing/2014/main" val="833784191"/>
                    </a:ext>
                  </a:extLst>
                </a:gridCol>
                <a:gridCol w="1273098">
                  <a:extLst>
                    <a:ext uri="{9D8B030D-6E8A-4147-A177-3AD203B41FA5}">
                      <a16:colId xmlns:a16="http://schemas.microsoft.com/office/drawing/2014/main" val="3686952323"/>
                    </a:ext>
                  </a:extLst>
                </a:gridCol>
                <a:gridCol w="1273098">
                  <a:extLst>
                    <a:ext uri="{9D8B030D-6E8A-4147-A177-3AD203B41FA5}">
                      <a16:colId xmlns:a16="http://schemas.microsoft.com/office/drawing/2014/main" val="2689067491"/>
                    </a:ext>
                  </a:extLst>
                </a:gridCol>
              </a:tblGrid>
              <a:tr h="346296">
                <a:tc>
                  <a:txBody>
                    <a:bodyPr/>
                    <a:lstStyle/>
                    <a:p>
                      <a:r>
                        <a:rPr lang="en-IN" sz="1400" dirty="0">
                          <a:latin typeface="Times New Roman" panose="02020603050405020304" pitchFamily="18" charset="0"/>
                          <a:cs typeface="Times New Roman" panose="02020603050405020304" pitchFamily="18" charset="0"/>
                        </a:rPr>
                        <a:t>Year</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latin typeface="Times New Roman" panose="02020603050405020304" pitchFamily="18" charset="0"/>
                          <a:cs typeface="Times New Roman" panose="02020603050405020304" pitchFamily="18" charset="0"/>
                        </a:rPr>
                        <a:t>Author(s)</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latin typeface="Times New Roman" panose="02020603050405020304" pitchFamily="18" charset="0"/>
                          <a:cs typeface="Times New Roman" panose="02020603050405020304" pitchFamily="18" charset="0"/>
                        </a:rPr>
                        <a:t>Research Paper / Topic</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latin typeface="Times New Roman" panose="02020603050405020304" pitchFamily="18" charset="0"/>
                          <a:cs typeface="Times New Roman" panose="02020603050405020304" pitchFamily="18" charset="0"/>
                        </a:rPr>
                        <a:t>Publication</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latin typeface="Times New Roman" panose="02020603050405020304" pitchFamily="18" charset="0"/>
                          <a:cs typeface="Times New Roman" panose="02020603050405020304" pitchFamily="18" charset="0"/>
                        </a:rPr>
                        <a:t>Key Finding</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latin typeface="Times New Roman" panose="02020603050405020304" pitchFamily="18" charset="0"/>
                          <a:cs typeface="Times New Roman" panose="02020603050405020304" pitchFamily="18" charset="0"/>
                        </a:rPr>
                        <a:t>Limitation</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latin typeface="Times New Roman" panose="02020603050405020304" pitchFamily="18" charset="0"/>
                          <a:cs typeface="Times New Roman" panose="02020603050405020304" pitchFamily="18" charset="0"/>
                        </a:rPr>
                        <a:t>Relevance</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10444861"/>
                  </a:ext>
                </a:extLst>
              </a:tr>
              <a:tr h="2418849">
                <a:tc>
                  <a:txBody>
                    <a:bodyPr/>
                    <a:lstStyle/>
                    <a:p>
                      <a:r>
                        <a:rPr lang="en-IN" sz="1400" dirty="0">
                          <a:latin typeface="Times New Roman" panose="02020603050405020304" pitchFamily="18" charset="0"/>
                          <a:cs typeface="Times New Roman" panose="02020603050405020304" pitchFamily="18" charset="0"/>
                        </a:rPr>
                        <a:t>2017</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latin typeface="Times New Roman" panose="02020603050405020304" pitchFamily="18" charset="0"/>
                          <a:cs typeface="Times New Roman" panose="02020603050405020304" pitchFamily="18" charset="0"/>
                        </a:rPr>
                        <a:t>A. K. P. Ashwin, A. Ghosal</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Times New Roman" panose="02020603050405020304" pitchFamily="18" charset="0"/>
                          <a:cs typeface="Times New Roman" panose="02020603050405020304" pitchFamily="18" charset="0"/>
                        </a:rPr>
                        <a:t>Mathematical Model for Pressure-Deformation Relationship of Miniaturized McKibben Actuators</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latin typeface="Times New Roman" panose="02020603050405020304" pitchFamily="18" charset="0"/>
                          <a:cs typeface="Times New Roman" panose="02020603050405020304" pitchFamily="18" charset="0"/>
                        </a:rPr>
                        <a:t>iNaCoMM 2017</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latin typeface="Times New Roman" panose="02020603050405020304" pitchFamily="18" charset="0"/>
                          <a:cs typeface="Times New Roman" panose="02020603050405020304" pitchFamily="18" charset="0"/>
                        </a:rPr>
                        <a:t>Developed a pressure-deformation model with less than 10% standard error and predicted the locking angle near 54.7°.</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latin typeface="Times New Roman" panose="02020603050405020304" pitchFamily="18" charset="0"/>
                          <a:cs typeface="Times New Roman" panose="02020603050405020304" pitchFamily="18" charset="0"/>
                        </a:rPr>
                        <a:t>Focused on miniaturized actuators and specific modelling assumptions.</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latin typeface="Times New Roman" panose="02020603050405020304" pitchFamily="18" charset="0"/>
                          <a:cs typeface="Times New Roman" panose="02020603050405020304" pitchFamily="18" charset="0"/>
                        </a:rPr>
                        <a:t>Useful for understanding pressure, deformation, and braid-angle relationships.</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29947300"/>
                  </a:ext>
                </a:extLst>
              </a:tr>
              <a:tr h="1945597">
                <a:tc>
                  <a:txBody>
                    <a:bodyPr/>
                    <a:lstStyle/>
                    <a:p>
                      <a:r>
                        <a:rPr lang="en-IN" sz="1400">
                          <a:latin typeface="Times New Roman" panose="02020603050405020304" pitchFamily="18" charset="0"/>
                          <a:cs typeface="Times New Roman" panose="02020603050405020304" pitchFamily="18" charset="0"/>
                        </a:rPr>
                        <a:t>2014</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latin typeface="Times New Roman" panose="02020603050405020304" pitchFamily="18" charset="0"/>
                          <a:cs typeface="Times New Roman" panose="02020603050405020304" pitchFamily="18" charset="0"/>
                        </a:rPr>
                        <a:t>T. Nozaki, T. Noritsugu</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latin typeface="Times New Roman" panose="02020603050405020304" pitchFamily="18" charset="0"/>
                          <a:cs typeface="Times New Roman" panose="02020603050405020304" pitchFamily="18" charset="0"/>
                        </a:rPr>
                        <a:t>Motion Analysis of McKibben Type Pneumatic Rubber Artificial Muscle with Finite Element Method</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latin typeface="Times New Roman" panose="02020603050405020304" pitchFamily="18" charset="0"/>
                          <a:cs typeface="Times New Roman" panose="02020603050405020304" pitchFamily="18" charset="0"/>
                        </a:rPr>
                        <a:t>International Journal of Automation Technology</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latin typeface="Times New Roman" panose="02020603050405020304" pitchFamily="18" charset="0"/>
                          <a:cs typeface="Times New Roman" panose="02020603050405020304" pitchFamily="18" charset="0"/>
                        </a:rPr>
                        <a:t>Developed a 3D FEM model and investigated the influence of braid angle on actuator motion.</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latin typeface="Times New Roman" panose="02020603050405020304" pitchFamily="18" charset="0"/>
                          <a:cs typeface="Times New Roman" panose="02020603050405020304" pitchFamily="18" charset="0"/>
                        </a:rPr>
                        <a:t>Friction between tube, fibers, and fiber strands was not directly modelled.</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Times New Roman" panose="02020603050405020304" pitchFamily="18" charset="0"/>
                          <a:cs typeface="Times New Roman" panose="02020603050405020304" pitchFamily="18" charset="0"/>
                        </a:rPr>
                        <a:t>Useful for braid-angle analysis and FEA methodology.</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83205130"/>
                  </a:ext>
                </a:extLst>
              </a:tr>
            </a:tbl>
          </a:graphicData>
        </a:graphic>
      </p:graphicFrame>
    </p:spTree>
    <p:extLst>
      <p:ext uri="{BB962C8B-B14F-4D97-AF65-F5344CB8AC3E}">
        <p14:creationId xmlns:p14="http://schemas.microsoft.com/office/powerpoint/2010/main" val="28199905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B534A-ED3F-CB0D-6BDD-C0DE08BD8DCC}"/>
              </a:ext>
            </a:extLst>
          </p:cNvPr>
          <p:cNvSpPr>
            <a:spLocks noGrp="1"/>
          </p:cNvSpPr>
          <p:nvPr>
            <p:ph type="title"/>
          </p:nvPr>
        </p:nvSpPr>
        <p:spPr>
          <a:xfrm>
            <a:off x="1725170" y="624110"/>
            <a:ext cx="8911687" cy="719498"/>
          </a:xfrm>
        </p:spPr>
        <p:txBody>
          <a:bodyPr/>
          <a:lstStyle/>
          <a:p>
            <a:r>
              <a:rPr lang="en-US" dirty="0">
                <a:latin typeface="Times New Roman" panose="02020603050405020304" pitchFamily="18" charset="0"/>
                <a:cs typeface="Times New Roman" panose="02020603050405020304" pitchFamily="18" charset="0"/>
              </a:rPr>
              <a:t>Literature Survey:</a:t>
            </a:r>
            <a:endParaRPr lang="en-IN" dirty="0">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1C1422C1-6785-B615-4ED0-F9729F877233}"/>
              </a:ext>
            </a:extLst>
          </p:cNvPr>
          <p:cNvGraphicFramePr>
            <a:graphicFrameLocks noGrp="1"/>
          </p:cNvGraphicFramePr>
          <p:nvPr>
            <p:extLst>
              <p:ext uri="{D42A27DB-BD31-4B8C-83A1-F6EECF244321}">
                <p14:modId xmlns:p14="http://schemas.microsoft.com/office/powerpoint/2010/main" val="3306966281"/>
              </p:ext>
            </p:extLst>
          </p:nvPr>
        </p:nvGraphicFramePr>
        <p:xfrm>
          <a:off x="1909822" y="1343608"/>
          <a:ext cx="8911686" cy="4783775"/>
        </p:xfrm>
        <a:graphic>
          <a:graphicData uri="http://schemas.openxmlformats.org/drawingml/2006/table">
            <a:tbl>
              <a:tblPr/>
              <a:tblGrid>
                <a:gridCol w="520862">
                  <a:extLst>
                    <a:ext uri="{9D8B030D-6E8A-4147-A177-3AD203B41FA5}">
                      <a16:colId xmlns:a16="http://schemas.microsoft.com/office/drawing/2014/main" val="3688885732"/>
                    </a:ext>
                  </a:extLst>
                </a:gridCol>
                <a:gridCol w="1226916">
                  <a:extLst>
                    <a:ext uri="{9D8B030D-6E8A-4147-A177-3AD203B41FA5}">
                      <a16:colId xmlns:a16="http://schemas.microsoft.com/office/drawing/2014/main" val="398880205"/>
                    </a:ext>
                  </a:extLst>
                </a:gridCol>
                <a:gridCol w="1828800">
                  <a:extLst>
                    <a:ext uri="{9D8B030D-6E8A-4147-A177-3AD203B41FA5}">
                      <a16:colId xmlns:a16="http://schemas.microsoft.com/office/drawing/2014/main" val="4090413387"/>
                    </a:ext>
                  </a:extLst>
                </a:gridCol>
                <a:gridCol w="1157468">
                  <a:extLst>
                    <a:ext uri="{9D8B030D-6E8A-4147-A177-3AD203B41FA5}">
                      <a16:colId xmlns:a16="http://schemas.microsoft.com/office/drawing/2014/main" val="4039513427"/>
                    </a:ext>
                  </a:extLst>
                </a:gridCol>
                <a:gridCol w="1631444">
                  <a:extLst>
                    <a:ext uri="{9D8B030D-6E8A-4147-A177-3AD203B41FA5}">
                      <a16:colId xmlns:a16="http://schemas.microsoft.com/office/drawing/2014/main" val="2474392903"/>
                    </a:ext>
                  </a:extLst>
                </a:gridCol>
                <a:gridCol w="1273098">
                  <a:extLst>
                    <a:ext uri="{9D8B030D-6E8A-4147-A177-3AD203B41FA5}">
                      <a16:colId xmlns:a16="http://schemas.microsoft.com/office/drawing/2014/main" val="4033813967"/>
                    </a:ext>
                  </a:extLst>
                </a:gridCol>
                <a:gridCol w="1273098">
                  <a:extLst>
                    <a:ext uri="{9D8B030D-6E8A-4147-A177-3AD203B41FA5}">
                      <a16:colId xmlns:a16="http://schemas.microsoft.com/office/drawing/2014/main" val="3385375379"/>
                    </a:ext>
                  </a:extLst>
                </a:gridCol>
              </a:tblGrid>
              <a:tr h="346296">
                <a:tc>
                  <a:txBody>
                    <a:bodyPr/>
                    <a:lstStyle/>
                    <a:p>
                      <a:r>
                        <a:rPr lang="en-IN" sz="1400" dirty="0">
                          <a:latin typeface="Times New Roman" panose="02020603050405020304" pitchFamily="18" charset="0"/>
                          <a:cs typeface="Times New Roman" panose="02020603050405020304" pitchFamily="18" charset="0"/>
                        </a:rPr>
                        <a:t>Year</a:t>
                      </a:r>
                    </a:p>
                  </a:txBody>
                  <a:tcPr marL="35983" marR="35983" marT="17992" marB="179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latin typeface="Times New Roman" panose="02020603050405020304" pitchFamily="18" charset="0"/>
                          <a:cs typeface="Times New Roman" panose="02020603050405020304" pitchFamily="18" charset="0"/>
                        </a:rPr>
                        <a:t>Author(s)</a:t>
                      </a:r>
                    </a:p>
                  </a:txBody>
                  <a:tcPr marL="35983" marR="35983" marT="17992" marB="179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latin typeface="Times New Roman" panose="02020603050405020304" pitchFamily="18" charset="0"/>
                          <a:cs typeface="Times New Roman" panose="02020603050405020304" pitchFamily="18" charset="0"/>
                        </a:rPr>
                        <a:t>Research Paper / Topic</a:t>
                      </a:r>
                    </a:p>
                  </a:txBody>
                  <a:tcPr marL="35983" marR="35983" marT="17992" marB="179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latin typeface="Times New Roman" panose="02020603050405020304" pitchFamily="18" charset="0"/>
                          <a:cs typeface="Times New Roman" panose="02020603050405020304" pitchFamily="18" charset="0"/>
                        </a:rPr>
                        <a:t>Publication</a:t>
                      </a:r>
                    </a:p>
                  </a:txBody>
                  <a:tcPr marL="35983" marR="35983" marT="17992" marB="179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latin typeface="Times New Roman" panose="02020603050405020304" pitchFamily="18" charset="0"/>
                          <a:cs typeface="Times New Roman" panose="02020603050405020304" pitchFamily="18" charset="0"/>
                        </a:rPr>
                        <a:t>Key Finding</a:t>
                      </a:r>
                    </a:p>
                  </a:txBody>
                  <a:tcPr marL="35983" marR="35983" marT="17992" marB="179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latin typeface="Times New Roman" panose="02020603050405020304" pitchFamily="18" charset="0"/>
                          <a:cs typeface="Times New Roman" panose="02020603050405020304" pitchFamily="18" charset="0"/>
                        </a:rPr>
                        <a:t>Limitation</a:t>
                      </a:r>
                    </a:p>
                  </a:txBody>
                  <a:tcPr marL="35983" marR="35983" marT="17992" marB="179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latin typeface="Times New Roman" panose="02020603050405020304" pitchFamily="18" charset="0"/>
                          <a:cs typeface="Times New Roman" panose="02020603050405020304" pitchFamily="18" charset="0"/>
                        </a:rPr>
                        <a:t>Relevance</a:t>
                      </a:r>
                    </a:p>
                  </a:txBody>
                  <a:tcPr marL="35983" marR="35983" marT="17992" marB="179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73631198"/>
                  </a:ext>
                </a:extLst>
              </a:tr>
              <a:tr h="1947057">
                <a:tc>
                  <a:txBody>
                    <a:bodyPr/>
                    <a:lstStyle/>
                    <a:p>
                      <a:r>
                        <a:rPr lang="en-IN" sz="1400" dirty="0">
                          <a:latin typeface="Times New Roman" panose="02020603050405020304" pitchFamily="18" charset="0"/>
                          <a:cs typeface="Times New Roman" panose="02020603050405020304" pitchFamily="18" charset="0"/>
                        </a:rPr>
                        <a:t>2013</a:t>
                      </a:r>
                    </a:p>
                  </a:txBody>
                  <a:tcPr marL="35983" marR="35983" marT="17992" marB="179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pt-BR" sz="1400">
                          <a:latin typeface="Times New Roman" panose="02020603050405020304" pitchFamily="18" charset="0"/>
                          <a:cs typeface="Times New Roman" panose="02020603050405020304" pitchFamily="18" charset="0"/>
                        </a:rPr>
                        <a:t>I. da Paz Lopes, W. Scaff, O. Horikawa</a:t>
                      </a:r>
                    </a:p>
                  </a:txBody>
                  <a:tcPr marL="35983" marR="35983" marT="17992" marB="179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Times New Roman" panose="02020603050405020304" pitchFamily="18" charset="0"/>
                          <a:cs typeface="Times New Roman" panose="02020603050405020304" pitchFamily="18" charset="0"/>
                        </a:rPr>
                        <a:t>Development A Nonconducting Manipulator, McKibben Pneumatic Artificial Muscle</a:t>
                      </a:r>
                    </a:p>
                  </a:txBody>
                  <a:tcPr marL="35983" marR="35983" marT="17992" marB="179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latin typeface="Times New Roman" panose="02020603050405020304" pitchFamily="18" charset="0"/>
                          <a:cs typeface="Times New Roman" panose="02020603050405020304" pitchFamily="18" charset="0"/>
                        </a:rPr>
                        <a:t>COBEM 2013</a:t>
                      </a:r>
                    </a:p>
                  </a:txBody>
                  <a:tcPr marL="35983" marR="35983" marT="17992" marB="179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latin typeface="Times New Roman" panose="02020603050405020304" pitchFamily="18" charset="0"/>
                          <a:cs typeface="Times New Roman" panose="02020603050405020304" pitchFamily="18" charset="0"/>
                        </a:rPr>
                        <a:t>Developed and experimentally tested a nonconducting McKibben actuator for a robotic manipulator.</a:t>
                      </a:r>
                    </a:p>
                  </a:txBody>
                  <a:tcPr marL="35983" marR="35983" marT="17992" marB="179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latin typeface="Times New Roman" panose="02020603050405020304" pitchFamily="18" charset="0"/>
                          <a:cs typeface="Times New Roman" panose="02020603050405020304" pitchFamily="18" charset="0"/>
                        </a:rPr>
                        <a:t>Relatively low force and force reduction was observed, possibly due to leakage.</a:t>
                      </a:r>
                    </a:p>
                  </a:txBody>
                  <a:tcPr marL="35983" marR="35983" marT="17992" marB="179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latin typeface="Times New Roman" panose="02020603050405020304" pitchFamily="18" charset="0"/>
                          <a:cs typeface="Times New Roman" panose="02020603050405020304" pitchFamily="18" charset="0"/>
                        </a:rPr>
                        <a:t>Useful for actuator fabrication and robotic integration.</a:t>
                      </a:r>
                    </a:p>
                  </a:txBody>
                  <a:tcPr marL="35983" marR="35983" marT="17992" marB="179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41380532"/>
                  </a:ext>
                </a:extLst>
              </a:tr>
              <a:tr h="2490422">
                <a:tc>
                  <a:txBody>
                    <a:bodyPr/>
                    <a:lstStyle/>
                    <a:p>
                      <a:r>
                        <a:rPr lang="en-IN" sz="1400">
                          <a:latin typeface="Times New Roman" panose="02020603050405020304" pitchFamily="18" charset="0"/>
                          <a:cs typeface="Times New Roman" panose="02020603050405020304" pitchFamily="18" charset="0"/>
                        </a:rPr>
                        <a:t>2012</a:t>
                      </a:r>
                    </a:p>
                  </a:txBody>
                  <a:tcPr marL="35983" marR="35983" marT="17992" marB="179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it-IT" sz="1400">
                          <a:latin typeface="Times New Roman" panose="02020603050405020304" pitchFamily="18" charset="0"/>
                          <a:cs typeface="Times New Roman" panose="02020603050405020304" pitchFamily="18" charset="0"/>
                        </a:rPr>
                        <a:t>K. Iwata, K. Suzumori, S. Wakimoto</a:t>
                      </a:r>
                    </a:p>
                  </a:txBody>
                  <a:tcPr marL="35983" marR="35983" marT="17992" marB="179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latin typeface="Times New Roman" panose="02020603050405020304" pitchFamily="18" charset="0"/>
                          <a:cs typeface="Times New Roman" panose="02020603050405020304" pitchFamily="18" charset="0"/>
                        </a:rPr>
                        <a:t>A Method of Designing and Fabricating McKibben Muscles Driven by 7 MPa Hydraulics</a:t>
                      </a:r>
                    </a:p>
                  </a:txBody>
                  <a:tcPr marL="35983" marR="35983" marT="17992" marB="179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latin typeface="Times New Roman" panose="02020603050405020304" pitchFamily="18" charset="0"/>
                          <a:cs typeface="Times New Roman" panose="02020603050405020304" pitchFamily="18" charset="0"/>
                        </a:rPr>
                        <a:t>International Journal of Automation Technology</a:t>
                      </a:r>
                    </a:p>
                  </a:txBody>
                  <a:tcPr marL="35983" marR="35983" marT="17992" marB="179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latin typeface="Times New Roman" panose="02020603050405020304" pitchFamily="18" charset="0"/>
                          <a:cs typeface="Times New Roman" panose="02020603050405020304" pitchFamily="18" charset="0"/>
                        </a:rPr>
                        <a:t>Developed a hydraulic McKibben muscle and achieved about 8 kN contraction force at 7 MPa. FEM was used to optimize the sleeve angle.</a:t>
                      </a:r>
                    </a:p>
                  </a:txBody>
                  <a:tcPr marL="35983" marR="35983" marT="17992" marB="179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latin typeface="Times New Roman" panose="02020603050405020304" pitchFamily="18" charset="0"/>
                          <a:cs typeface="Times New Roman" panose="02020603050405020304" pitchFamily="18" charset="0"/>
                        </a:rPr>
                        <a:t>Focused on high-pressure hydraulic operation.</a:t>
                      </a:r>
                    </a:p>
                  </a:txBody>
                  <a:tcPr marL="35983" marR="35983" marT="17992" marB="179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Times New Roman" panose="02020603050405020304" pitchFamily="18" charset="0"/>
                          <a:cs typeface="Times New Roman" panose="02020603050405020304" pitchFamily="18" charset="0"/>
                        </a:rPr>
                        <a:t>The most directly relevant paper to our hydraulic McKibben actuator and sheath design.</a:t>
                      </a:r>
                    </a:p>
                  </a:txBody>
                  <a:tcPr marL="35983" marR="35983" marT="17992" marB="179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08711894"/>
                  </a:ext>
                </a:extLst>
              </a:tr>
            </a:tbl>
          </a:graphicData>
        </a:graphic>
      </p:graphicFrame>
    </p:spTree>
    <p:extLst>
      <p:ext uri="{BB962C8B-B14F-4D97-AF65-F5344CB8AC3E}">
        <p14:creationId xmlns:p14="http://schemas.microsoft.com/office/powerpoint/2010/main" val="20065067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B534A-ED3F-CB0D-6BDD-C0DE08BD8DCC}"/>
              </a:ext>
            </a:extLst>
          </p:cNvPr>
          <p:cNvSpPr>
            <a:spLocks noGrp="1"/>
          </p:cNvSpPr>
          <p:nvPr>
            <p:ph type="title"/>
          </p:nvPr>
        </p:nvSpPr>
        <p:spPr>
          <a:xfrm>
            <a:off x="1725170" y="624110"/>
            <a:ext cx="8911687" cy="719498"/>
          </a:xfrm>
        </p:spPr>
        <p:txBody>
          <a:bodyPr/>
          <a:lstStyle/>
          <a:p>
            <a:r>
              <a:rPr lang="en-US" dirty="0">
                <a:latin typeface="Times New Roman" panose="02020603050405020304" pitchFamily="18" charset="0"/>
                <a:cs typeface="Times New Roman" panose="02020603050405020304" pitchFamily="18" charset="0"/>
              </a:rPr>
              <a:t>Literature Survey:</a:t>
            </a:r>
            <a:endParaRPr lang="en-IN"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71751E34-5D14-B7D8-9B3A-1F49608FB0B4}"/>
              </a:ext>
            </a:extLst>
          </p:cNvPr>
          <p:cNvGraphicFramePr>
            <a:graphicFrameLocks noGrp="1"/>
          </p:cNvGraphicFramePr>
          <p:nvPr>
            <p:extLst>
              <p:ext uri="{D42A27DB-BD31-4B8C-83A1-F6EECF244321}">
                <p14:modId xmlns:p14="http://schemas.microsoft.com/office/powerpoint/2010/main" val="2384069646"/>
              </p:ext>
            </p:extLst>
          </p:nvPr>
        </p:nvGraphicFramePr>
        <p:xfrm>
          <a:off x="1895071" y="1343608"/>
          <a:ext cx="9125765" cy="2873215"/>
        </p:xfrm>
        <a:graphic>
          <a:graphicData uri="http://schemas.openxmlformats.org/drawingml/2006/table">
            <a:tbl>
              <a:tblPr/>
              <a:tblGrid>
                <a:gridCol w="628210">
                  <a:extLst>
                    <a:ext uri="{9D8B030D-6E8A-4147-A177-3AD203B41FA5}">
                      <a16:colId xmlns:a16="http://schemas.microsoft.com/office/drawing/2014/main" val="3483630056"/>
                    </a:ext>
                  </a:extLst>
                </a:gridCol>
                <a:gridCol w="1493134">
                  <a:extLst>
                    <a:ext uri="{9D8B030D-6E8A-4147-A177-3AD203B41FA5}">
                      <a16:colId xmlns:a16="http://schemas.microsoft.com/office/drawing/2014/main" val="2542295024"/>
                    </a:ext>
                  </a:extLst>
                </a:gridCol>
                <a:gridCol w="2268638">
                  <a:extLst>
                    <a:ext uri="{9D8B030D-6E8A-4147-A177-3AD203B41FA5}">
                      <a16:colId xmlns:a16="http://schemas.microsoft.com/office/drawing/2014/main" val="2101507461"/>
                    </a:ext>
                  </a:extLst>
                </a:gridCol>
                <a:gridCol w="1169043">
                  <a:extLst>
                    <a:ext uri="{9D8B030D-6E8A-4147-A177-3AD203B41FA5}">
                      <a16:colId xmlns:a16="http://schemas.microsoft.com/office/drawing/2014/main" val="2619754582"/>
                    </a:ext>
                  </a:extLst>
                </a:gridCol>
                <a:gridCol w="1117666">
                  <a:extLst>
                    <a:ext uri="{9D8B030D-6E8A-4147-A177-3AD203B41FA5}">
                      <a16:colId xmlns:a16="http://schemas.microsoft.com/office/drawing/2014/main" val="614454482"/>
                    </a:ext>
                  </a:extLst>
                </a:gridCol>
                <a:gridCol w="1224537">
                  <a:extLst>
                    <a:ext uri="{9D8B030D-6E8A-4147-A177-3AD203B41FA5}">
                      <a16:colId xmlns:a16="http://schemas.microsoft.com/office/drawing/2014/main" val="3601833249"/>
                    </a:ext>
                  </a:extLst>
                </a:gridCol>
                <a:gridCol w="1224537">
                  <a:extLst>
                    <a:ext uri="{9D8B030D-6E8A-4147-A177-3AD203B41FA5}">
                      <a16:colId xmlns:a16="http://schemas.microsoft.com/office/drawing/2014/main" val="1893046620"/>
                    </a:ext>
                  </a:extLst>
                </a:gridCol>
              </a:tblGrid>
              <a:tr h="438893">
                <a:tc>
                  <a:txBody>
                    <a:bodyPr/>
                    <a:lstStyle/>
                    <a:p>
                      <a:r>
                        <a:rPr lang="en-IN" sz="1400" dirty="0"/>
                        <a:t>Year</a:t>
                      </a:r>
                    </a:p>
                  </a:txBody>
                  <a:tcPr marL="82685" marR="82685" marT="41343" marB="413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t>Author(s)</a:t>
                      </a:r>
                    </a:p>
                  </a:txBody>
                  <a:tcPr marL="82685" marR="82685" marT="41343" marB="413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dirty="0"/>
                        <a:t>Research Paper / Topic</a:t>
                      </a:r>
                    </a:p>
                  </a:txBody>
                  <a:tcPr marL="82685" marR="82685" marT="41343" marB="413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t>Publication</a:t>
                      </a:r>
                    </a:p>
                  </a:txBody>
                  <a:tcPr marL="82685" marR="82685" marT="41343" marB="413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t>Key Finding</a:t>
                      </a:r>
                    </a:p>
                  </a:txBody>
                  <a:tcPr marL="82685" marR="82685" marT="41343" marB="413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t>Limitation</a:t>
                      </a:r>
                    </a:p>
                  </a:txBody>
                  <a:tcPr marL="82685" marR="82685" marT="41343" marB="413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t>Relevance</a:t>
                      </a:r>
                    </a:p>
                  </a:txBody>
                  <a:tcPr marL="82685" marR="82685" marT="41343" marB="413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98756730"/>
                  </a:ext>
                </a:extLst>
              </a:tr>
              <a:tr h="2363809">
                <a:tc>
                  <a:txBody>
                    <a:bodyPr/>
                    <a:lstStyle/>
                    <a:p>
                      <a:r>
                        <a:rPr lang="en-IN" sz="1400" dirty="0"/>
                        <a:t>2005</a:t>
                      </a:r>
                    </a:p>
                  </a:txBody>
                  <a:tcPr marL="82685" marR="82685" marT="41343" marB="413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t>R. Ramasamy et al.</a:t>
                      </a:r>
                    </a:p>
                  </a:txBody>
                  <a:tcPr marL="82685" marR="82685" marT="41343" marB="413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t>An Application of Finite Element Modelling to Pneumatic Artificial Muscle</a:t>
                      </a:r>
                    </a:p>
                  </a:txBody>
                  <a:tcPr marL="82685" marR="82685" marT="41343" marB="413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t>American Journal of Applied Sciences</a:t>
                      </a:r>
                    </a:p>
                  </a:txBody>
                  <a:tcPr marL="82685" marR="82685" marT="41343" marB="413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t>Established FEM-based analysis for studying PAM deformation and force behaviour.</a:t>
                      </a:r>
                    </a:p>
                  </a:txBody>
                  <a:tcPr marL="82685" marR="82685" marT="41343" marB="413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t>General PAM modelling with limited detailed McKibben-specific nonlinear analysis.</a:t>
                      </a:r>
                    </a:p>
                  </a:txBody>
                  <a:tcPr marL="82685" marR="82685" marT="41343" marB="413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t>Provides the basic FEM foundation for our actuator analysis.</a:t>
                      </a:r>
                    </a:p>
                  </a:txBody>
                  <a:tcPr marL="82685" marR="82685" marT="41343" marB="413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17919430"/>
                  </a:ext>
                </a:extLst>
              </a:tr>
            </a:tbl>
          </a:graphicData>
        </a:graphic>
      </p:graphicFrame>
    </p:spTree>
    <p:extLst>
      <p:ext uri="{BB962C8B-B14F-4D97-AF65-F5344CB8AC3E}">
        <p14:creationId xmlns:p14="http://schemas.microsoft.com/office/powerpoint/2010/main" val="24346345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B534A-ED3F-CB0D-6BDD-C0DE08BD8DCC}"/>
              </a:ext>
            </a:extLst>
          </p:cNvPr>
          <p:cNvSpPr>
            <a:spLocks noGrp="1"/>
          </p:cNvSpPr>
          <p:nvPr>
            <p:ph type="title"/>
          </p:nvPr>
        </p:nvSpPr>
        <p:spPr>
          <a:xfrm>
            <a:off x="1725170" y="624110"/>
            <a:ext cx="8911687" cy="719498"/>
          </a:xfrm>
        </p:spPr>
        <p:txBody>
          <a:bodyPr/>
          <a:lstStyle/>
          <a:p>
            <a:r>
              <a:rPr lang="en-US" dirty="0">
                <a:latin typeface="Times New Roman" panose="02020603050405020304" pitchFamily="18" charset="0"/>
                <a:cs typeface="Times New Roman" panose="02020603050405020304" pitchFamily="18" charset="0"/>
              </a:rPr>
              <a:t>Literature Survey:</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63CA829-8474-3BAA-B992-41D05D3FB742}"/>
              </a:ext>
            </a:extLst>
          </p:cNvPr>
          <p:cNvSpPr>
            <a:spLocks noGrp="1"/>
          </p:cNvSpPr>
          <p:nvPr>
            <p:ph idx="1"/>
          </p:nvPr>
        </p:nvSpPr>
        <p:spPr>
          <a:xfrm>
            <a:off x="2626534" y="1433804"/>
            <a:ext cx="8990077" cy="4267200"/>
          </a:xfrm>
        </p:spPr>
        <p:txBody>
          <a:bodyPr>
            <a:normAutofit lnSpcReduction="10000"/>
          </a:bodyPr>
          <a:lstStyle/>
          <a:p>
            <a:pPr algn="just"/>
            <a:r>
              <a:rPr lang="en-US" dirty="0">
                <a:latin typeface="Times New Roman" panose="02020603050405020304" pitchFamily="18" charset="0"/>
                <a:cs typeface="Times New Roman" panose="02020603050405020304" pitchFamily="18" charset="0"/>
              </a:rPr>
              <a:t>Previous studies on McKibben artificial muscles have mainly focused on understanding their working principle, mathematical modeling, and the influence of braid geometry on actuator performance. Analytical and experimental studies have established relationships between internal pressure, braid angle, contraction, actuator dimensions, and generated force. The literature also shows that the braided sheath plays a major role in converting radial expansion of the bladder into axial contraction. Finite Element Analysis has therefore been widely used to study deformation, stress distribution, and the effect of braid angle before fabrication. </a:t>
            </a:r>
          </a:p>
          <a:p>
            <a:pPr algn="just"/>
            <a:r>
              <a:rPr lang="en-US" dirty="0">
                <a:latin typeface="Times New Roman" panose="02020603050405020304" pitchFamily="18" charset="0"/>
                <a:cs typeface="Times New Roman" panose="02020603050405020304" pitchFamily="18" charset="0"/>
              </a:rPr>
              <a:t>Further studies have focused on improving the design and functionality of McKibben actuators. FEM-based investigations have been used for design optimization, while analytical models have been developed for predicting force and pressure-contraction behavior. Researchers have also investigated multifunctional braided muscles capable of bidirectional motion and variable stiffness. These studies demonstrate that actuator geometry, braid configuration, and material properties strongly influence the final performance of the muscle.</a:t>
            </a:r>
          </a:p>
        </p:txBody>
      </p:sp>
    </p:spTree>
    <p:extLst>
      <p:ext uri="{BB962C8B-B14F-4D97-AF65-F5344CB8AC3E}">
        <p14:creationId xmlns:p14="http://schemas.microsoft.com/office/powerpoint/2010/main" val="30280653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B534A-ED3F-CB0D-6BDD-C0DE08BD8DCC}"/>
              </a:ext>
            </a:extLst>
          </p:cNvPr>
          <p:cNvSpPr>
            <a:spLocks noGrp="1"/>
          </p:cNvSpPr>
          <p:nvPr>
            <p:ph type="title"/>
          </p:nvPr>
        </p:nvSpPr>
        <p:spPr>
          <a:xfrm>
            <a:off x="1725170" y="624110"/>
            <a:ext cx="8911687" cy="719498"/>
          </a:xfrm>
        </p:spPr>
        <p:txBody>
          <a:bodyPr/>
          <a:lstStyle/>
          <a:p>
            <a:r>
              <a:rPr lang="en-US" dirty="0">
                <a:latin typeface="Times New Roman" panose="02020603050405020304" pitchFamily="18" charset="0"/>
                <a:cs typeface="Times New Roman" panose="02020603050405020304" pitchFamily="18" charset="0"/>
              </a:rPr>
              <a:t>Literature Survey:</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63CA829-8474-3BAA-B992-41D05D3FB742}"/>
              </a:ext>
            </a:extLst>
          </p:cNvPr>
          <p:cNvSpPr>
            <a:spLocks noGrp="1"/>
          </p:cNvSpPr>
          <p:nvPr>
            <p:ph idx="1"/>
          </p:nvPr>
        </p:nvSpPr>
        <p:spPr>
          <a:xfrm>
            <a:off x="2626534" y="1433804"/>
            <a:ext cx="8990077" cy="4267200"/>
          </a:xfrm>
        </p:spPr>
        <p:txBody>
          <a:bodyPr>
            <a:normAutofit/>
          </a:bodyPr>
          <a:lstStyle/>
          <a:p>
            <a:pPr algn="just"/>
            <a:r>
              <a:rPr lang="en-US" dirty="0">
                <a:latin typeface="Times New Roman" panose="02020603050405020304" pitchFamily="18" charset="0"/>
                <a:cs typeface="Times New Roman" panose="02020603050405020304" pitchFamily="18" charset="0"/>
              </a:rPr>
              <a:t>For high-force applications, hydraulic actuation has also been investigated as an alternative to conventional pneumatic McKibben muscles. The hydraulic McKibben study by Iwata et al. demonstrated operation at pressures up to 7 MPa and investigated the design and fabrication of the braided muscle using FEM-based sleeve optimization. The reviewed hydraulic soft-actuator literature further identifies high force capability as an important advantage, while also highlighting challenges such as nonlinear deformation, hysteresis, leakage, and the need for systematic design methods.</a:t>
            </a:r>
          </a:p>
          <a:p>
            <a:pPr algn="just"/>
            <a:r>
              <a:rPr lang="en-US" dirty="0">
                <a:latin typeface="Times New Roman" panose="02020603050405020304" pitchFamily="18" charset="0"/>
                <a:cs typeface="Times New Roman" panose="02020603050405020304" pitchFamily="18" charset="0"/>
              </a:rPr>
              <a:t>Research Gap: Based on the reviewed literature, the present work focuses on applying a hydraulic McKibben muscle in a single-DOF robotic elbow joint using a biceps-triceps type arrangement, designed to lift a minimum 5 kg load. There is practical validation can also be done.</a:t>
            </a:r>
          </a:p>
        </p:txBody>
      </p:sp>
    </p:spTree>
    <p:extLst>
      <p:ext uri="{BB962C8B-B14F-4D97-AF65-F5344CB8AC3E}">
        <p14:creationId xmlns:p14="http://schemas.microsoft.com/office/powerpoint/2010/main" val="38824920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7E9AE-9871-6B83-F520-829F3936D0E9}"/>
              </a:ext>
            </a:extLst>
          </p:cNvPr>
          <p:cNvSpPr>
            <a:spLocks noGrp="1"/>
          </p:cNvSpPr>
          <p:nvPr>
            <p:ph type="title"/>
          </p:nvPr>
        </p:nvSpPr>
        <p:spPr>
          <a:xfrm>
            <a:off x="1586194" y="605448"/>
            <a:ext cx="10002384" cy="1280890"/>
          </a:xfrm>
        </p:spPr>
        <p:txBody>
          <a:bodyPr/>
          <a:lstStyle/>
          <a:p>
            <a:r>
              <a:rPr lang="en-US" dirty="0"/>
              <a:t>Derivation For Pressure and Force Relation:</a:t>
            </a:r>
            <a:endParaRPr lang="en-IN" dirty="0"/>
          </a:p>
        </p:txBody>
      </p:sp>
      <p:sp>
        <p:nvSpPr>
          <p:cNvPr id="3" name="Content Placeholder 2">
            <a:extLst>
              <a:ext uri="{FF2B5EF4-FFF2-40B4-BE49-F238E27FC236}">
                <a16:creationId xmlns:a16="http://schemas.microsoft.com/office/drawing/2014/main" id="{2F78D876-251E-85C5-6A7D-BE0697549C31}"/>
              </a:ext>
            </a:extLst>
          </p:cNvPr>
          <p:cNvSpPr>
            <a:spLocks noGrp="1"/>
          </p:cNvSpPr>
          <p:nvPr>
            <p:ph idx="1"/>
          </p:nvPr>
        </p:nvSpPr>
        <p:spPr>
          <a:xfrm>
            <a:off x="6454147" y="1461795"/>
            <a:ext cx="4867954" cy="4435151"/>
          </a:xfrm>
        </p:spPr>
        <p:txBody>
          <a:bodyPr/>
          <a:lstStyle/>
          <a:p>
            <a:pPr algn="just"/>
            <a:r>
              <a:rPr lang="en-US" sz="1600" dirty="0">
                <a:latin typeface="Times New Roman" panose="02020603050405020304" pitchFamily="18" charset="0"/>
                <a:cs typeface="Times New Roman" panose="02020603050405020304" pitchFamily="18" charset="0"/>
              </a:rPr>
              <a:t>In a first approach toward the model of a McKibben type PAM, losses are not considered and thus, the gas enters the PAM and expands, generating a traction force and a work. To generate the volume increase, the gas performs a work input (Win) that can be described.</a:t>
            </a:r>
          </a:p>
          <a:p>
            <a:pPr marL="800100" lvl="2" indent="0">
              <a:spcBef>
                <a:spcPts val="600"/>
              </a:spcBef>
              <a:buNone/>
            </a:pPr>
            <a:r>
              <a:rPr lang="it-IT" sz="1800" dirty="0">
                <a:latin typeface="Times New Roman" panose="02020603050405020304" pitchFamily="18" charset="0"/>
                <a:cs typeface="Times New Roman" panose="02020603050405020304" pitchFamily="18" charset="0"/>
              </a:rPr>
              <a:t>dW</a:t>
            </a:r>
            <a:r>
              <a:rPr lang="it-IT" sz="1000" dirty="0">
                <a:latin typeface="Times New Roman" panose="02020603050405020304" pitchFamily="18" charset="0"/>
                <a:cs typeface="Times New Roman" panose="02020603050405020304" pitchFamily="18" charset="0"/>
              </a:rPr>
              <a:t>in</a:t>
            </a:r>
            <a:r>
              <a:rPr lang="it-IT" sz="1800" dirty="0">
                <a:latin typeface="Times New Roman" panose="02020603050405020304" pitchFamily="18" charset="0"/>
                <a:cs typeface="Times New Roman" panose="02020603050405020304" pitchFamily="18" charset="0"/>
              </a:rPr>
              <a:t> = ∫(P − P</a:t>
            </a:r>
            <a:r>
              <a:rPr lang="it-IT" sz="1000" dirty="0">
                <a:latin typeface="Times New Roman" panose="02020603050405020304" pitchFamily="18" charset="0"/>
                <a:cs typeface="Times New Roman" panose="02020603050405020304" pitchFamily="18" charset="0"/>
              </a:rPr>
              <a:t>ex</a:t>
            </a:r>
            <a:r>
              <a:rPr lang="it-IT" sz="1800" dirty="0">
                <a:latin typeface="Times New Roman" panose="02020603050405020304" pitchFamily="18" charset="0"/>
                <a:cs typeface="Times New Roman" panose="02020603050405020304" pitchFamily="18" charset="0"/>
              </a:rPr>
              <a:t> )dl</a:t>
            </a:r>
            <a:r>
              <a:rPr lang="it-IT" sz="1000" dirty="0">
                <a:latin typeface="Times New Roman" panose="02020603050405020304" pitchFamily="18" charset="0"/>
                <a:cs typeface="Times New Roman" panose="02020603050405020304" pitchFamily="18" charset="0"/>
              </a:rPr>
              <a:t>i</a:t>
            </a:r>
            <a:r>
              <a:rPr lang="it-IT" sz="1800" dirty="0">
                <a:latin typeface="Times New Roman" panose="02020603050405020304" pitchFamily="18" charset="0"/>
                <a:cs typeface="Times New Roman" panose="02020603050405020304" pitchFamily="18" charset="0"/>
              </a:rPr>
              <a:t>.dS</a:t>
            </a:r>
            <a:r>
              <a:rPr lang="it-IT" sz="1000" dirty="0">
                <a:latin typeface="Times New Roman" panose="02020603050405020304" pitchFamily="18" charset="0"/>
                <a:cs typeface="Times New Roman" panose="02020603050405020304" pitchFamily="18" charset="0"/>
              </a:rPr>
              <a:t>i</a:t>
            </a:r>
          </a:p>
          <a:p>
            <a:pPr marL="800100" lvl="2" indent="0">
              <a:spcBef>
                <a:spcPts val="600"/>
              </a:spcBef>
              <a:buNone/>
            </a:pPr>
            <a:r>
              <a:rPr lang="it-IT" sz="1800" dirty="0">
                <a:latin typeface="Times New Roman" panose="02020603050405020304" pitchFamily="18" charset="0"/>
                <a:cs typeface="Times New Roman" panose="02020603050405020304" pitchFamily="18" charset="0"/>
              </a:rPr>
              <a:t>	  = (P − P</a:t>
            </a:r>
            <a:r>
              <a:rPr lang="it-IT" sz="1000" dirty="0">
                <a:latin typeface="Times New Roman" panose="02020603050405020304" pitchFamily="18" charset="0"/>
                <a:cs typeface="Times New Roman" panose="02020603050405020304" pitchFamily="18" charset="0"/>
              </a:rPr>
              <a:t>ex</a:t>
            </a:r>
            <a:r>
              <a:rPr lang="it-IT" sz="1800" dirty="0">
                <a:latin typeface="Times New Roman" panose="02020603050405020304" pitchFamily="18" charset="0"/>
                <a:cs typeface="Times New Roman" panose="02020603050405020304" pitchFamily="18" charset="0"/>
              </a:rPr>
              <a:t>) ∫dl</a:t>
            </a:r>
            <a:r>
              <a:rPr lang="it-IT" sz="1000" dirty="0">
                <a:latin typeface="Times New Roman" panose="02020603050405020304" pitchFamily="18" charset="0"/>
                <a:cs typeface="Times New Roman" panose="02020603050405020304" pitchFamily="18" charset="0"/>
              </a:rPr>
              <a:t>i</a:t>
            </a:r>
            <a:r>
              <a:rPr lang="it-IT" sz="1800" dirty="0">
                <a:latin typeface="Times New Roman" panose="02020603050405020304" pitchFamily="18" charset="0"/>
                <a:cs typeface="Times New Roman" panose="02020603050405020304" pitchFamily="18" charset="0"/>
              </a:rPr>
              <a:t>.dS</a:t>
            </a:r>
            <a:r>
              <a:rPr lang="it-IT" sz="1000" dirty="0">
                <a:latin typeface="Times New Roman" panose="02020603050405020304" pitchFamily="18" charset="0"/>
                <a:cs typeface="Times New Roman" panose="02020603050405020304" pitchFamily="18" charset="0"/>
              </a:rPr>
              <a:t>i</a:t>
            </a:r>
          </a:p>
          <a:p>
            <a:pPr marL="800100" lvl="2" indent="0">
              <a:spcBef>
                <a:spcPts val="600"/>
              </a:spcBef>
              <a:buNone/>
            </a:pPr>
            <a:r>
              <a:rPr lang="it-IT" sz="1800" dirty="0">
                <a:latin typeface="Times New Roman" panose="02020603050405020304" pitchFamily="18" charset="0"/>
                <a:cs typeface="Times New Roman" panose="02020603050405020304" pitchFamily="18" charset="0"/>
              </a:rPr>
              <a:t>dW</a:t>
            </a:r>
            <a:r>
              <a:rPr lang="it-IT" sz="1000" dirty="0">
                <a:latin typeface="Times New Roman" panose="02020603050405020304" pitchFamily="18" charset="0"/>
                <a:cs typeface="Times New Roman" panose="02020603050405020304" pitchFamily="18" charset="0"/>
              </a:rPr>
              <a:t>in</a:t>
            </a:r>
            <a:r>
              <a:rPr lang="it-IT" sz="1800" dirty="0">
                <a:latin typeface="Times New Roman" panose="02020603050405020304" pitchFamily="18" charset="0"/>
                <a:cs typeface="Times New Roman" panose="02020603050405020304" pitchFamily="18" charset="0"/>
              </a:rPr>
              <a:t> = P’dV</a:t>
            </a:r>
          </a:p>
          <a:p>
            <a:pPr marL="800100" lvl="2" indent="0">
              <a:spcBef>
                <a:spcPts val="600"/>
              </a:spcBef>
              <a:buNone/>
            </a:pPr>
            <a:r>
              <a:rPr lang="it-IT" sz="1600" dirty="0">
                <a:latin typeface="Times New Roman" panose="02020603050405020304" pitchFamily="18" charset="0"/>
                <a:cs typeface="Times New Roman" panose="02020603050405020304" pitchFamily="18" charset="0"/>
              </a:rPr>
              <a:t>Where, Pex = External Force,</a:t>
            </a:r>
          </a:p>
          <a:p>
            <a:pPr marL="1257300" lvl="3" indent="0">
              <a:spcBef>
                <a:spcPts val="600"/>
              </a:spcBef>
              <a:buNone/>
            </a:pPr>
            <a:r>
              <a:rPr lang="it-IT" sz="1600" dirty="0">
                <a:latin typeface="Times New Roman" panose="02020603050405020304" pitchFamily="18" charset="0"/>
                <a:cs typeface="Times New Roman" panose="02020603050405020304" pitchFamily="18" charset="0"/>
              </a:rPr>
              <a:t>P  = Absolute Pressure</a:t>
            </a:r>
          </a:p>
          <a:p>
            <a:pPr marL="1257300" lvl="3" indent="0">
              <a:spcBef>
                <a:spcPts val="600"/>
              </a:spcBef>
              <a:buNone/>
            </a:pPr>
            <a:r>
              <a:rPr lang="it-IT" sz="1600" dirty="0">
                <a:latin typeface="Times New Roman" panose="02020603050405020304" pitchFamily="18" charset="0"/>
                <a:cs typeface="Times New Roman" panose="02020603050405020304" pitchFamily="18" charset="0"/>
              </a:rPr>
              <a:t>P’ = Relative Pressure</a:t>
            </a:r>
            <a:endParaRPr lang="en-IN" sz="16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EB96A2CF-ABC7-FE87-AD0E-A0AC0718E268}"/>
              </a:ext>
            </a:extLst>
          </p:cNvPr>
          <p:cNvPicPr>
            <a:picLocks noChangeAspect="1"/>
          </p:cNvPicPr>
          <p:nvPr/>
        </p:nvPicPr>
        <p:blipFill>
          <a:blip r:embed="rId2"/>
          <a:stretch>
            <a:fillRect/>
          </a:stretch>
        </p:blipFill>
        <p:spPr>
          <a:xfrm>
            <a:off x="1340531" y="1886338"/>
            <a:ext cx="4867954" cy="3810532"/>
          </a:xfrm>
          <a:prstGeom prst="rect">
            <a:avLst/>
          </a:prstGeom>
        </p:spPr>
      </p:pic>
    </p:spTree>
    <p:extLst>
      <p:ext uri="{BB962C8B-B14F-4D97-AF65-F5344CB8AC3E}">
        <p14:creationId xmlns:p14="http://schemas.microsoft.com/office/powerpoint/2010/main" val="9034094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7E9AE-9871-6B83-F520-829F3936D0E9}"/>
              </a:ext>
            </a:extLst>
          </p:cNvPr>
          <p:cNvSpPr>
            <a:spLocks noGrp="1"/>
          </p:cNvSpPr>
          <p:nvPr>
            <p:ph type="title"/>
          </p:nvPr>
        </p:nvSpPr>
        <p:spPr>
          <a:xfrm>
            <a:off x="1586194" y="605448"/>
            <a:ext cx="10002384" cy="672846"/>
          </a:xfrm>
        </p:spPr>
        <p:txBody>
          <a:bodyPr/>
          <a:lstStyle/>
          <a:p>
            <a:r>
              <a:rPr lang="en-US" dirty="0">
                <a:latin typeface="Times New Roman" panose="02020603050405020304" pitchFamily="18" charset="0"/>
                <a:cs typeface="Times New Roman" panose="02020603050405020304" pitchFamily="18" charset="0"/>
              </a:rPr>
              <a:t>Derivation For Pressure and Force Relation:</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F78D876-251E-85C5-6A7D-BE0697549C31}"/>
              </a:ext>
            </a:extLst>
          </p:cNvPr>
          <p:cNvSpPr>
            <a:spLocks noGrp="1"/>
          </p:cNvSpPr>
          <p:nvPr>
            <p:ph idx="1"/>
          </p:nvPr>
        </p:nvSpPr>
        <p:spPr>
          <a:xfrm>
            <a:off x="2056837" y="1480457"/>
            <a:ext cx="7656329" cy="4435151"/>
          </a:xfrm>
        </p:spPr>
        <p:txBody>
          <a:bodyPr>
            <a:normAutofit/>
          </a:bodyPr>
          <a:lstStyle/>
          <a:p>
            <a:pPr algn="just"/>
            <a:r>
              <a:rPr lang="en-US" sz="1600" dirty="0">
                <a:latin typeface="Times New Roman" panose="02020603050405020304" pitchFamily="18" charset="0"/>
                <a:cs typeface="Times New Roman" panose="02020603050405020304" pitchFamily="18" charset="0"/>
              </a:rPr>
              <a:t>As the pressure performs work by volume expansion and it is assumed that the system has no loss, all the work is converted into traction and can be expressed by </a:t>
            </a:r>
            <a:r>
              <a:rPr lang="en-US" sz="1600" dirty="0" err="1">
                <a:latin typeface="Times New Roman" panose="02020603050405020304" pitchFamily="18" charset="0"/>
                <a:cs typeface="Times New Roman" panose="02020603050405020304" pitchFamily="18" charset="0"/>
              </a:rPr>
              <a:t>W</a:t>
            </a:r>
            <a:r>
              <a:rPr lang="en-US" sz="1200" dirty="0" err="1">
                <a:latin typeface="Times New Roman" panose="02020603050405020304" pitchFamily="18" charset="0"/>
                <a:cs typeface="Times New Roman" panose="02020603050405020304" pitchFamily="18" charset="0"/>
              </a:rPr>
              <a:t>out</a:t>
            </a:r>
            <a:r>
              <a:rPr lang="en-US" sz="1600" dirty="0">
                <a:latin typeface="Times New Roman" panose="02020603050405020304" pitchFamily="18" charset="0"/>
                <a:cs typeface="Times New Roman" panose="02020603050405020304" pitchFamily="18" charset="0"/>
              </a:rPr>
              <a:t>, </a:t>
            </a:r>
          </a:p>
          <a:p>
            <a:pPr marL="0" indent="0">
              <a:buNone/>
            </a:pPr>
            <a:r>
              <a:rPr lang="it-IT" sz="1600" dirty="0">
                <a:latin typeface="Times New Roman" panose="02020603050405020304" pitchFamily="18" charset="0"/>
                <a:cs typeface="Times New Roman" panose="02020603050405020304" pitchFamily="18" charset="0"/>
              </a:rPr>
              <a:t>		dW</a:t>
            </a:r>
            <a:r>
              <a:rPr lang="it-IT" sz="1200" dirty="0">
                <a:latin typeface="Times New Roman" panose="02020603050405020304" pitchFamily="18" charset="0"/>
                <a:cs typeface="Times New Roman" panose="02020603050405020304" pitchFamily="18" charset="0"/>
              </a:rPr>
              <a:t>out</a:t>
            </a:r>
            <a:r>
              <a:rPr lang="it-IT" sz="1600" dirty="0">
                <a:latin typeface="Times New Roman" panose="02020603050405020304" pitchFamily="18" charset="0"/>
                <a:cs typeface="Times New Roman" panose="02020603050405020304" pitchFamily="18" charset="0"/>
              </a:rPr>
              <a:t> = -FdL</a:t>
            </a:r>
          </a:p>
          <a:p>
            <a:pPr marL="800100" lvl="2" indent="0">
              <a:spcBef>
                <a:spcPts val="600"/>
              </a:spcBef>
              <a:buNone/>
            </a:pPr>
            <a:r>
              <a:rPr lang="it-IT" sz="1600"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 Where, F is the axial tension and dL is the displacement.</a:t>
            </a:r>
          </a:p>
          <a:p>
            <a:pPr marL="800100" lvl="2" indent="0">
              <a:spcBef>
                <a:spcPts val="600"/>
              </a:spcBef>
              <a:buNone/>
            </a:pPr>
            <a:r>
              <a:rPr lang="en-US" sz="1600" dirty="0">
                <a:latin typeface="Times New Roman" panose="02020603050405020304" pitchFamily="18" charset="0"/>
                <a:cs typeface="Times New Roman" panose="02020603050405020304" pitchFamily="18" charset="0"/>
              </a:rPr>
              <a:t>The Conservation of Energy gives:</a:t>
            </a:r>
          </a:p>
          <a:p>
            <a:pPr marL="800100" lvl="2" indent="0">
              <a:spcBef>
                <a:spcPts val="600"/>
              </a:spcBef>
              <a:buNone/>
            </a:pPr>
            <a:r>
              <a:rPr lang="it-IT" sz="1600" dirty="0">
                <a:latin typeface="Times New Roman" panose="02020603050405020304" pitchFamily="18" charset="0"/>
                <a:cs typeface="Times New Roman" panose="02020603050405020304" pitchFamily="18" charset="0"/>
              </a:rPr>
              <a:t>		dW</a:t>
            </a:r>
            <a:r>
              <a:rPr lang="it-IT" sz="900" dirty="0">
                <a:latin typeface="Times New Roman" panose="02020603050405020304" pitchFamily="18" charset="0"/>
                <a:cs typeface="Times New Roman" panose="02020603050405020304" pitchFamily="18" charset="0"/>
              </a:rPr>
              <a:t>in</a:t>
            </a:r>
            <a:r>
              <a:rPr lang="en-US" sz="160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 </a:t>
            </a:r>
            <a:r>
              <a:rPr lang="it-IT" sz="1800" dirty="0">
                <a:latin typeface="Times New Roman" panose="02020603050405020304" pitchFamily="18" charset="0"/>
                <a:cs typeface="Times New Roman" panose="02020603050405020304" pitchFamily="18" charset="0"/>
              </a:rPr>
              <a:t>d</a:t>
            </a:r>
            <a:r>
              <a:rPr lang="it-IT" sz="1600" dirty="0">
                <a:latin typeface="Times New Roman" panose="02020603050405020304" pitchFamily="18" charset="0"/>
                <a:cs typeface="Times New Roman" panose="02020603050405020304" pitchFamily="18" charset="0"/>
              </a:rPr>
              <a:t>W</a:t>
            </a:r>
            <a:r>
              <a:rPr lang="it-IT" sz="1200" dirty="0">
                <a:latin typeface="Times New Roman" panose="02020603050405020304" pitchFamily="18" charset="0"/>
                <a:cs typeface="Times New Roman" panose="02020603050405020304" pitchFamily="18" charset="0"/>
              </a:rPr>
              <a:t>out</a:t>
            </a:r>
            <a:endParaRPr lang="en-US" dirty="0">
              <a:latin typeface="Times New Roman" panose="02020603050405020304" pitchFamily="18" charset="0"/>
              <a:cs typeface="Times New Roman" panose="02020603050405020304" pitchFamily="18" charset="0"/>
            </a:endParaRPr>
          </a:p>
          <a:p>
            <a:pPr marL="800100" lvl="2" indent="0">
              <a:spcBef>
                <a:spcPts val="600"/>
              </a:spcBef>
              <a:buNone/>
            </a:pPr>
            <a:r>
              <a:rPr lang="it-IT" sz="1600" dirty="0">
                <a:latin typeface="Times New Roman" panose="02020603050405020304" pitchFamily="18" charset="0"/>
                <a:cs typeface="Times New Roman" panose="02020603050405020304" pitchFamily="18" charset="0"/>
              </a:rPr>
              <a:t>P’dV = -FdL</a:t>
            </a:r>
          </a:p>
          <a:p>
            <a:pPr marL="800100" lvl="2" indent="0">
              <a:spcBef>
                <a:spcPts val="600"/>
              </a:spcBef>
              <a:buNone/>
            </a:pPr>
            <a:r>
              <a:rPr lang="it-IT" sz="1600" dirty="0">
                <a:latin typeface="Times New Roman" panose="02020603050405020304" pitchFamily="18" charset="0"/>
                <a:cs typeface="Times New Roman" panose="02020603050405020304" pitchFamily="18" charset="0"/>
              </a:rPr>
              <a:t>F = - (P’ dV)/dL ........................ (1)</a:t>
            </a:r>
            <a:endParaRPr lang="en-IN" sz="1600" dirty="0">
              <a:latin typeface="Times New Roman" panose="02020603050405020304" pitchFamily="18" charset="0"/>
              <a:cs typeface="Times New Roman" panose="02020603050405020304" pitchFamily="18" charset="0"/>
            </a:endParaRPr>
          </a:p>
          <a:p>
            <a:pPr marL="285750" algn="just">
              <a:spcBef>
                <a:spcPts val="600"/>
              </a:spcBef>
            </a:pPr>
            <a:r>
              <a:rPr lang="en-US" sz="1600" dirty="0">
                <a:latin typeface="Times New Roman" panose="02020603050405020304" pitchFamily="18" charset="0"/>
                <a:cs typeface="Times New Roman" panose="02020603050405020304" pitchFamily="18" charset="0"/>
              </a:rPr>
              <a:t>With the strength defined in terms of the volume change, just missing define the volume variation permitted by the mesh. The variation stops when volume reaches its maximum. At this moment, the muscle reaches the largest contraction.</a:t>
            </a:r>
            <a:endParaRPr lang="en-IN" sz="1600" dirty="0">
              <a:latin typeface="Times New Roman" panose="02020603050405020304" pitchFamily="18" charset="0"/>
              <a:cs typeface="Times New Roman" panose="02020603050405020304" pitchFamily="18" charset="0"/>
            </a:endParaRPr>
          </a:p>
          <a:p>
            <a:pPr marL="285750">
              <a:spcBef>
                <a:spcPts val="600"/>
              </a:spcBef>
            </a:pPr>
            <a:endParaRPr lang="it-IT"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63059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7E9AE-9871-6B83-F520-829F3936D0E9}"/>
              </a:ext>
            </a:extLst>
          </p:cNvPr>
          <p:cNvSpPr>
            <a:spLocks noGrp="1"/>
          </p:cNvSpPr>
          <p:nvPr>
            <p:ph type="title"/>
          </p:nvPr>
        </p:nvSpPr>
        <p:spPr>
          <a:xfrm>
            <a:off x="1586194" y="605448"/>
            <a:ext cx="10002384" cy="679059"/>
          </a:xfrm>
        </p:spPr>
        <p:txBody>
          <a:bodyPr/>
          <a:lstStyle/>
          <a:p>
            <a:r>
              <a:rPr lang="en-US" dirty="0">
                <a:latin typeface="Times New Roman" panose="02020603050405020304" pitchFamily="18" charset="0"/>
                <a:cs typeface="Times New Roman" panose="02020603050405020304" pitchFamily="18" charset="0"/>
              </a:rPr>
              <a:t>Derivation For Pressure and Force Relation:</a:t>
            </a:r>
            <a:endParaRPr lang="en-IN"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F78D876-251E-85C5-6A7D-BE0697549C31}"/>
                  </a:ext>
                </a:extLst>
              </p:cNvPr>
              <p:cNvSpPr>
                <a:spLocks noGrp="1"/>
              </p:cNvSpPr>
              <p:nvPr>
                <p:ph idx="1"/>
              </p:nvPr>
            </p:nvSpPr>
            <p:spPr>
              <a:xfrm>
                <a:off x="5847657" y="1265842"/>
                <a:ext cx="4901208" cy="5321566"/>
              </a:xfrm>
            </p:spPr>
            <p:txBody>
              <a:bodyPr>
                <a:normAutofit lnSpcReduction="10000"/>
              </a:bodyPr>
              <a:lstStyle/>
              <a:p>
                <a:pPr algn="just"/>
                <a:r>
                  <a:rPr lang="en-US" sz="1600" dirty="0">
                    <a:latin typeface="Times New Roman" panose="02020603050405020304" pitchFamily="18" charset="0"/>
                    <a:cs typeface="Times New Roman" panose="02020603050405020304" pitchFamily="18" charset="0"/>
                  </a:rPr>
                  <a:t>Observing Fig.3, it is possible to make the length (L) and diameter (D) as a function of the angle (θ). This angle is one formed between the mesh and the axial length of the muscle. The length of fiber can be named b and n is the number of turns of the fiber around the muscle. Using b and n, it is possible to set the length and the diameter of the muscle.</a:t>
                </a:r>
              </a:p>
              <a:p>
                <a:pPr marL="0" indent="0" algn="just">
                  <a:buNone/>
                </a:pPr>
                <a:r>
                  <a:rPr lang="en-US" sz="1600" b="0" dirty="0">
                    <a:cs typeface="Times New Roman" panose="02020603050405020304" pitchFamily="18" charset="0"/>
                    <a:sym typeface="Symbol" panose="05050102010706020507" pitchFamily="18" charset="2"/>
                  </a:rPr>
                  <a:t>		</a:t>
                </a:r>
                <a14:m>
                  <m:oMath xmlns:m="http://schemas.openxmlformats.org/officeDocument/2006/math">
                    <m:r>
                      <a:rPr lang="en-US" sz="1600" b="0" i="1" smtClean="0">
                        <a:latin typeface="Cambria Math" panose="02040503050406030204" pitchFamily="18" charset="0"/>
                        <a:cs typeface="Times New Roman" panose="02020603050405020304" pitchFamily="18" charset="0"/>
                        <a:sym typeface="Symbol" panose="05050102010706020507" pitchFamily="18" charset="2"/>
                      </a:rPr>
                      <m:t>𝑐𝑜𝑠</m:t>
                    </m:r>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 </m:t>
                    </m:r>
                    <m:f>
                      <m:fPr>
                        <m:ctrlP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fPr>
                      <m:num>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𝐿</m:t>
                        </m:r>
                      </m:num>
                      <m:den>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𝑏</m:t>
                        </m:r>
                      </m:den>
                    </m:f>
                  </m:oMath>
                </a14:m>
                <a:r>
                  <a:rPr lang="en-IN" sz="1600" dirty="0">
                    <a:latin typeface="Times New Roman" panose="02020603050405020304" pitchFamily="18" charset="0"/>
                    <a:cs typeface="Times New Roman" panose="02020603050405020304" pitchFamily="18" charset="0"/>
                    <a:sym typeface="Symbol" panose="05050102010706020507" pitchFamily="18" charset="2"/>
                  </a:rPr>
                  <a:t>  …………………………... (1)</a:t>
                </a:r>
              </a:p>
              <a:p>
                <a:pPr marL="800100" lvl="2" indent="0" algn="just">
                  <a:spcBef>
                    <a:spcPts val="600"/>
                  </a:spcBef>
                  <a:buNone/>
                </a:pPr>
                <a14:m>
                  <m:oMath xmlns:m="http://schemas.openxmlformats.org/officeDocument/2006/math">
                    <m:r>
                      <a:rPr lang="en-IN" sz="1600" i="1" dirty="0" smtClean="0">
                        <a:latin typeface="Cambria Math" panose="02040503050406030204" pitchFamily="18" charset="0"/>
                        <a:cs typeface="Times New Roman" panose="02020603050405020304" pitchFamily="18" charset="0"/>
                        <a:sym typeface="Symbol" panose="05050102010706020507" pitchFamily="18" charset="2"/>
                      </a:rPr>
                      <m:t>	</m:t>
                    </m:r>
                    <m:r>
                      <a:rPr lang="en-IN" sz="1600" i="1" dirty="0" smtClean="0">
                        <a:latin typeface="Cambria Math" panose="02040503050406030204" pitchFamily="18" charset="0"/>
                        <a:cs typeface="Times New Roman" panose="02020603050405020304" pitchFamily="18" charset="0"/>
                        <a:sym typeface="Symbol" panose="05050102010706020507" pitchFamily="18" charset="2"/>
                      </a:rPr>
                      <m:t>𝐿</m:t>
                    </m:r>
                    <m:r>
                      <a:rPr lang="en-IN" sz="1600" i="1" dirty="0" smtClean="0">
                        <a:latin typeface="Cambria Math" panose="02040503050406030204" pitchFamily="18" charset="0"/>
                        <a:cs typeface="Times New Roman" panose="02020603050405020304" pitchFamily="18" charset="0"/>
                        <a:sym typeface="Symbol" panose="05050102010706020507" pitchFamily="18" charset="2"/>
                      </a:rPr>
                      <m:t> = </m:t>
                    </m:r>
                    <m:r>
                      <a:rPr lang="en-IN" sz="1600" i="1" dirty="0">
                        <a:latin typeface="Cambria Math" panose="02040503050406030204" pitchFamily="18" charset="0"/>
                        <a:cs typeface="Times New Roman" panose="02020603050405020304" pitchFamily="18" charset="0"/>
                        <a:sym typeface="Symbol" panose="05050102010706020507" pitchFamily="18" charset="2"/>
                      </a:rPr>
                      <m:t>𝑏</m:t>
                    </m:r>
                    <m:r>
                      <a:rPr lang="en-IN" sz="1600" i="1" dirty="0">
                        <a:latin typeface="Cambria Math" panose="02040503050406030204" pitchFamily="18" charset="0"/>
                        <a:cs typeface="Times New Roman" panose="02020603050405020304" pitchFamily="18" charset="0"/>
                      </a:rPr>
                      <m:t> </m:t>
                    </m:r>
                    <m:r>
                      <m:rPr>
                        <m:sty m:val="p"/>
                      </m:rPr>
                      <a:rPr lang="en-IN" sz="1600" i="1" dirty="0">
                        <a:latin typeface="Cambria Math" panose="02040503050406030204" pitchFamily="18" charset="0"/>
                        <a:cs typeface="Times New Roman" panose="02020603050405020304" pitchFamily="18" charset="0"/>
                      </a:rPr>
                      <m:t>cos</m:t>
                    </m:r>
                    <m:r>
                      <a:rPr lang="en-IN" sz="1600" i="1" dirty="0">
                        <a:latin typeface="Cambria Math" panose="02040503050406030204" pitchFamily="18" charset="0"/>
                        <a:cs typeface="Times New Roman" panose="02020603050405020304" pitchFamily="18" charset="0"/>
                        <a:sym typeface="Symbol" panose="05050102010706020507" pitchFamily="18" charset="2"/>
                      </a:rPr>
                      <m:t> </m:t>
                    </m:r>
                  </m:oMath>
                </a14:m>
                <a:r>
                  <a:rPr lang="en-IN" sz="1600" dirty="0">
                    <a:latin typeface="Times New Roman" panose="02020603050405020304" pitchFamily="18" charset="0"/>
                    <a:cs typeface="Times New Roman" panose="02020603050405020304" pitchFamily="18" charset="0"/>
                    <a:sym typeface="Symbol" panose="05050102010706020507" pitchFamily="18" charset="2"/>
                  </a:rPr>
                  <a:t>….……………………..… (2)</a:t>
                </a:r>
              </a:p>
              <a:p>
                <a:pPr marL="800100" lvl="2" indent="0" algn="just">
                  <a:spcBef>
                    <a:spcPts val="600"/>
                  </a:spcBef>
                  <a:buNone/>
                </a:pPr>
                <a:r>
                  <a:rPr lang="en-IN" sz="1600" dirty="0">
                    <a:cs typeface="Times New Roman" panose="02020603050405020304" pitchFamily="18" charset="0"/>
                    <a:sym typeface="Symbol" panose="05050102010706020507" pitchFamily="18" charset="2"/>
                  </a:rPr>
                  <a:t>	</a:t>
                </a:r>
                <a14:m>
                  <m:oMath xmlns:m="http://schemas.openxmlformats.org/officeDocument/2006/math">
                    <m:r>
                      <m:rPr>
                        <m:sty m:val="p"/>
                      </m:rPr>
                      <a:rPr lang="en-IN" sz="1600" i="1" dirty="0">
                        <a:latin typeface="Cambria Math" panose="02040503050406030204" pitchFamily="18" charset="0"/>
                        <a:cs typeface="Times New Roman" panose="02020603050405020304" pitchFamily="18" charset="0"/>
                        <a:sym typeface="Symbol" panose="05050102010706020507" pitchFamily="18" charset="2"/>
                      </a:rPr>
                      <m:t>s</m:t>
                    </m:r>
                    <m:r>
                      <a:rPr lang="en-US" sz="1600" b="0" i="1" dirty="0" smtClean="0">
                        <a:latin typeface="Cambria Math" panose="02040503050406030204" pitchFamily="18" charset="0"/>
                        <a:cs typeface="Times New Roman" panose="02020603050405020304" pitchFamily="18" charset="0"/>
                        <a:sym typeface="Symbol" panose="05050102010706020507" pitchFamily="18" charset="2"/>
                      </a:rPr>
                      <m:t>𝑖𝑛</m:t>
                    </m:r>
                    <m:r>
                      <a:rPr lang="en-US" sz="1600" b="0" i="1" dirty="0"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r>
                      <a:rPr lang="en-IN" sz="1600" i="1" dirty="0">
                        <a:latin typeface="Cambria Math" panose="02040503050406030204" pitchFamily="18" charset="0"/>
                        <a:cs typeface="Times New Roman" panose="02020603050405020304" pitchFamily="18" charset="0"/>
                        <a:sym typeface="Symbol" panose="05050102010706020507" pitchFamily="18" charset="2"/>
                      </a:rPr>
                      <m:t> =</m:t>
                    </m:r>
                    <m:f>
                      <m:fPr>
                        <m:ctrlPr>
                          <a:rPr lang="en-US" sz="1600" i="1" dirty="0">
                            <a:latin typeface="Cambria Math" panose="02040503050406030204" pitchFamily="18" charset="0"/>
                            <a:cs typeface="Times New Roman" panose="02020603050405020304" pitchFamily="18" charset="0"/>
                            <a:sym typeface="Symbol" panose="05050102010706020507" pitchFamily="18" charset="2"/>
                          </a:rPr>
                        </m:ctrlPr>
                      </m:fPr>
                      <m:num>
                        <m:r>
                          <a:rPr lang="en-US" sz="1600" i="1" dirty="0">
                            <a:latin typeface="Cambria Math" panose="02040503050406030204" pitchFamily="18" charset="0"/>
                            <a:cs typeface="Times New Roman" panose="02020603050405020304" pitchFamily="18" charset="0"/>
                            <a:sym typeface="Symbol" panose="05050102010706020507" pitchFamily="18" charset="2"/>
                          </a:rPr>
                          <m:t>𝐷𝑛</m:t>
                        </m:r>
                        <m:r>
                          <a:rPr lang="en-US" sz="1600" i="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𝜋</m:t>
                        </m:r>
                      </m:num>
                      <m:den>
                        <m:r>
                          <a:rPr lang="en-US" sz="1600" b="0" i="1" dirty="0"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𝑏</m:t>
                        </m:r>
                      </m:den>
                    </m:f>
                  </m:oMath>
                </a14:m>
                <a:endParaRPr lang="en-IN" sz="1600" dirty="0">
                  <a:latin typeface="Times New Roman" panose="02020603050405020304" pitchFamily="18" charset="0"/>
                  <a:cs typeface="Times New Roman" panose="02020603050405020304" pitchFamily="18" charset="0"/>
                  <a:sym typeface="Symbol" panose="05050102010706020507" pitchFamily="18" charset="2"/>
                </a:endParaRPr>
              </a:p>
              <a:p>
                <a:pPr marL="800100" lvl="2" indent="0" algn="just">
                  <a:spcBef>
                    <a:spcPts val="600"/>
                  </a:spcBef>
                  <a:buNone/>
                </a:pPr>
                <a:r>
                  <a:rPr lang="en-US" sz="1600" b="0" dirty="0">
                    <a:cs typeface="Times New Roman" panose="02020603050405020304" pitchFamily="18" charset="0"/>
                    <a:sym typeface="Symbol" panose="05050102010706020507" pitchFamily="18" charset="2"/>
                  </a:rPr>
                  <a:t>	</a:t>
                </a:r>
                <a14:m>
                  <m:oMath xmlns:m="http://schemas.openxmlformats.org/officeDocument/2006/math">
                    <m:r>
                      <a:rPr lang="en-US" sz="1600" b="0" i="1" smtClean="0">
                        <a:latin typeface="Cambria Math" panose="02040503050406030204" pitchFamily="18" charset="0"/>
                        <a:cs typeface="Times New Roman" panose="02020603050405020304" pitchFamily="18" charset="0"/>
                        <a:sym typeface="Symbol" panose="05050102010706020507" pitchFamily="18" charset="2"/>
                      </a:rPr>
                      <m:t>𝐷</m:t>
                    </m:r>
                    <m:r>
                      <a:rPr lang="en-US" sz="1600" b="0" i="1" smtClean="0">
                        <a:latin typeface="Cambria Math" panose="02040503050406030204" pitchFamily="18" charset="0"/>
                        <a:cs typeface="Times New Roman" panose="02020603050405020304" pitchFamily="18" charset="0"/>
                        <a:sym typeface="Symbol" panose="05050102010706020507" pitchFamily="18" charset="2"/>
                      </a:rPr>
                      <m:t>= </m:t>
                    </m:r>
                    <m:f>
                      <m:fPr>
                        <m:ctrlPr>
                          <a:rPr lang="en-US" sz="1600" b="0" i="1" smtClean="0">
                            <a:latin typeface="Cambria Math" panose="02040503050406030204" pitchFamily="18" charset="0"/>
                            <a:cs typeface="Times New Roman" panose="02020603050405020304" pitchFamily="18" charset="0"/>
                            <a:sym typeface="Symbol" panose="05050102010706020507" pitchFamily="18" charset="2"/>
                          </a:rPr>
                        </m:ctrlPr>
                      </m:fPr>
                      <m:num>
                        <m:r>
                          <a:rPr lang="en-US" sz="1600" b="0" i="1" smtClean="0">
                            <a:latin typeface="Cambria Math" panose="02040503050406030204" pitchFamily="18" charset="0"/>
                            <a:cs typeface="Times New Roman" panose="02020603050405020304" pitchFamily="18" charset="0"/>
                            <a:sym typeface="Symbol" panose="05050102010706020507" pitchFamily="18" charset="2"/>
                          </a:rPr>
                          <m:t>𝑏𝑠𝑖𝑛</m:t>
                        </m:r>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num>
                      <m:den>
                        <m:r>
                          <a:rPr lang="en-US" sz="1600" b="0" i="1" smtClean="0">
                            <a:latin typeface="Cambria Math" panose="02040503050406030204" pitchFamily="18" charset="0"/>
                            <a:cs typeface="Times New Roman" panose="02020603050405020304" pitchFamily="18" charset="0"/>
                            <a:sym typeface="Symbol" panose="05050102010706020507" pitchFamily="18" charset="2"/>
                          </a:rPr>
                          <m:t>𝑛</m:t>
                        </m:r>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𝜋</m:t>
                        </m:r>
                      </m:den>
                    </m:f>
                  </m:oMath>
                </a14:m>
                <a:r>
                  <a:rPr lang="en-IN" sz="1600" dirty="0">
                    <a:latin typeface="Times New Roman" panose="02020603050405020304" pitchFamily="18" charset="0"/>
                    <a:cs typeface="Times New Roman" panose="02020603050405020304" pitchFamily="18" charset="0"/>
                    <a:sym typeface="Symbol" panose="05050102010706020507" pitchFamily="18" charset="2"/>
                  </a:rPr>
                  <a:t> …………….…….………. (3)</a:t>
                </a:r>
              </a:p>
              <a:p>
                <a:pPr marL="0" indent="0" algn="just">
                  <a:spcBef>
                    <a:spcPts val="600"/>
                  </a:spcBef>
                  <a:buNone/>
                </a:pPr>
                <a:r>
                  <a:rPr lang="en-IN" sz="1600" dirty="0">
                    <a:latin typeface="Times New Roman" panose="02020603050405020304" pitchFamily="18" charset="0"/>
                    <a:cs typeface="Times New Roman" panose="02020603050405020304" pitchFamily="18" charset="0"/>
                    <a:sym typeface="Symbol" panose="05050102010706020507" pitchFamily="18" charset="2"/>
                  </a:rPr>
                  <a:t>Making the Volume equation as function of the diameter and D &amp; length L.</a:t>
                </a:r>
              </a:p>
              <a:p>
                <a:pPr marL="400050" lvl="1" indent="0" algn="just">
                  <a:spcBef>
                    <a:spcPts val="600"/>
                  </a:spcBef>
                  <a:buNone/>
                </a:pPr>
                <a14:m>
                  <m:oMathPara xmlns:m="http://schemas.openxmlformats.org/officeDocument/2006/math">
                    <m:oMath>
                      <m:r>
                        <a:rPr lang="en-US" b="0" i="1" smtClean="0">
                          <a:latin typeface="Cambria Math" panose="02040503050406030204" pitchFamily="18" charset="0"/>
                          <a:cs typeface="Times New Roman" panose="02020603050405020304" pitchFamily="18" charset="0"/>
                          <a:sym typeface="Symbol" panose="05050102010706020507" pitchFamily="18" charset="2"/>
                        </a:rPr>
                        <m:t>𝑉</m:t>
                      </m:r>
                      <m:r>
                        <a:rPr lang="en-US" b="0" i="1" smtClean="0">
                          <a:latin typeface="Cambria Math" panose="02040503050406030204" pitchFamily="18" charset="0"/>
                          <a:cs typeface="Times New Roman" panose="02020603050405020304" pitchFamily="18" charset="0"/>
                          <a:sym typeface="Symbol" panose="05050102010706020507" pitchFamily="18" charset="2"/>
                        </a:rPr>
                        <m:t>= </m:t>
                      </m:r>
                      <m:f>
                        <m:fPr>
                          <m:ctrlPr>
                            <a:rPr lang="en-US" b="0" i="1" smtClean="0">
                              <a:latin typeface="Cambria Math" panose="02040503050406030204" pitchFamily="18" charset="0"/>
                              <a:cs typeface="Times New Roman" panose="02020603050405020304" pitchFamily="18" charset="0"/>
                              <a:sym typeface="Symbol" panose="05050102010706020507" pitchFamily="18" charset="2"/>
                            </a:rPr>
                          </m:ctrlPr>
                        </m:fPr>
                        <m:num>
                          <m:r>
                            <a:rPr lang="en-US" b="0" i="1" smtClean="0">
                              <a:latin typeface="Cambria Math" panose="02040503050406030204" pitchFamily="18" charset="0"/>
                              <a:cs typeface="Times New Roman" panose="02020603050405020304" pitchFamily="18" charset="0"/>
                              <a:sym typeface="Symbol" panose="05050102010706020507" pitchFamily="18" charset="2"/>
                            </a:rPr>
                            <m:t>1</m:t>
                          </m:r>
                        </m:num>
                        <m:den>
                          <m:r>
                            <a:rPr lang="en-US" b="0" i="1" smtClean="0">
                              <a:latin typeface="Cambria Math" panose="02040503050406030204" pitchFamily="18" charset="0"/>
                              <a:cs typeface="Times New Roman" panose="02020603050405020304" pitchFamily="18" charset="0"/>
                              <a:sym typeface="Symbol" panose="05050102010706020507" pitchFamily="18" charset="2"/>
                            </a:rPr>
                            <m:t>4</m:t>
                          </m:r>
                        </m:den>
                      </m:f>
                      <m:r>
                        <a:rPr lang="en-US" b="0" i="1" smtClean="0">
                          <a:latin typeface="Cambria Math" panose="02040503050406030204" pitchFamily="18" charset="0"/>
                          <a:cs typeface="Times New Roman" panose="02020603050405020304" pitchFamily="18" charset="0"/>
                          <a:sym typeface="Symbol" panose="05050102010706020507" pitchFamily="18" charset="2"/>
                        </a:rPr>
                        <m:t>∗</m:t>
                      </m:r>
                      <m:r>
                        <a:rPr lang="en-US"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𝜋</m:t>
                      </m:r>
                      <m:sSup>
                        <m:sSupPr>
                          <m:ctrlPr>
                            <a:rPr lang="en-US"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sSupPr>
                        <m:e>
                          <m:r>
                            <a:rPr lang="en-US"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𝐷</m:t>
                          </m:r>
                        </m:e>
                        <m:sup>
                          <m:r>
                            <a:rPr lang="en-US"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2</m:t>
                          </m:r>
                        </m:sup>
                      </m:sSup>
                      <m:r>
                        <a:rPr lang="en-US"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𝐿</m:t>
                      </m:r>
                    </m:oMath>
                  </m:oMathPara>
                </a14:m>
                <a:endParaRPr lang="en-IN" dirty="0">
                  <a:latin typeface="Times New Roman" panose="02020603050405020304" pitchFamily="18" charset="0"/>
                  <a:cs typeface="Times New Roman" panose="02020603050405020304" pitchFamily="18" charset="0"/>
                  <a:sym typeface="Symbol" panose="05050102010706020507" pitchFamily="18" charset="2"/>
                </a:endParaRPr>
              </a:p>
              <a:p>
                <a:pPr marL="400050" lvl="1" indent="0" algn="just">
                  <a:spcBef>
                    <a:spcPts val="600"/>
                  </a:spcBef>
                  <a:buNone/>
                </a:pPr>
                <a:r>
                  <a:rPr lang="en-IN" dirty="0">
                    <a:latin typeface="Times New Roman" panose="02020603050405020304" pitchFamily="18" charset="0"/>
                    <a:cs typeface="Times New Roman" panose="02020603050405020304" pitchFamily="18" charset="0"/>
                    <a:sym typeface="Symbol" panose="05050102010706020507" pitchFamily="18" charset="2"/>
                  </a:rPr>
                  <a:t>By substituting D &amp; L in </a:t>
                </a:r>
                <a:r>
                  <a:rPr lang="en-IN" dirty="0" err="1">
                    <a:latin typeface="Times New Roman" panose="02020603050405020304" pitchFamily="18" charset="0"/>
                    <a:cs typeface="Times New Roman" panose="02020603050405020304" pitchFamily="18" charset="0"/>
                    <a:sym typeface="Symbol" panose="05050102010706020507" pitchFamily="18" charset="2"/>
                  </a:rPr>
                  <a:t>eq</a:t>
                </a:r>
                <a:r>
                  <a:rPr lang="en-IN" dirty="0">
                    <a:latin typeface="Times New Roman" panose="02020603050405020304" pitchFamily="18" charset="0"/>
                    <a:cs typeface="Times New Roman" panose="02020603050405020304" pitchFamily="18" charset="0"/>
                    <a:sym typeface="Symbol" panose="05050102010706020507" pitchFamily="18" charset="2"/>
                  </a:rPr>
                  <a:t> 4</a:t>
                </a:r>
              </a:p>
              <a:p>
                <a:pPr marL="400050" lvl="1" indent="0" algn="just">
                  <a:spcBef>
                    <a:spcPts val="600"/>
                  </a:spcBef>
                  <a:buNone/>
                </a:pPr>
                <a:r>
                  <a:rPr lang="en-IN" dirty="0">
                    <a:latin typeface="Times New Roman" panose="02020603050405020304" pitchFamily="18" charset="0"/>
                    <a:cs typeface="Times New Roman" panose="02020603050405020304" pitchFamily="18" charset="0"/>
                    <a:sym typeface="Symbol" panose="05050102010706020507" pitchFamily="18" charset="2"/>
                  </a:rPr>
                  <a:t>We get, 										</a:t>
                </a:r>
                <a14:m>
                  <m:oMath xmlns:m="http://schemas.openxmlformats.org/officeDocument/2006/math">
                    <m:r>
                      <a:rPr lang="en-US" sz="1800" b="0" i="1" smtClean="0">
                        <a:latin typeface="Cambria Math" panose="02040503050406030204" pitchFamily="18" charset="0"/>
                        <a:cs typeface="Times New Roman" panose="02020603050405020304" pitchFamily="18" charset="0"/>
                        <a:sym typeface="Symbol" panose="05050102010706020507" pitchFamily="18" charset="2"/>
                      </a:rPr>
                      <m:t>𝑉</m:t>
                    </m:r>
                    <m:r>
                      <a:rPr lang="en-US" sz="1800" b="0" i="1" smtClean="0">
                        <a:latin typeface="Cambria Math" panose="02040503050406030204" pitchFamily="18" charset="0"/>
                        <a:cs typeface="Times New Roman" panose="02020603050405020304" pitchFamily="18" charset="0"/>
                        <a:sym typeface="Symbol" panose="05050102010706020507" pitchFamily="18" charset="2"/>
                      </a:rPr>
                      <m:t>= </m:t>
                    </m:r>
                    <m:f>
                      <m:fPr>
                        <m:ctrlPr>
                          <a:rPr lang="en-US" sz="1800" b="0" i="1" smtClean="0">
                            <a:latin typeface="Cambria Math" panose="02040503050406030204" pitchFamily="18" charset="0"/>
                            <a:cs typeface="Times New Roman" panose="02020603050405020304" pitchFamily="18" charset="0"/>
                            <a:sym typeface="Symbol" panose="05050102010706020507" pitchFamily="18" charset="2"/>
                          </a:rPr>
                        </m:ctrlPr>
                      </m:fPr>
                      <m:num>
                        <m:sSup>
                          <m:sSupPr>
                            <m:ctrlPr>
                              <a:rPr lang="en-US" sz="1800" b="0" i="1" smtClean="0">
                                <a:latin typeface="Cambria Math" panose="02040503050406030204" pitchFamily="18" charset="0"/>
                                <a:cs typeface="Times New Roman" panose="02020603050405020304" pitchFamily="18" charset="0"/>
                                <a:sym typeface="Symbol" panose="05050102010706020507" pitchFamily="18" charset="2"/>
                              </a:rPr>
                            </m:ctrlPr>
                          </m:sSupPr>
                          <m:e>
                            <m:r>
                              <a:rPr lang="en-US" sz="1800" b="0" i="1" smtClean="0">
                                <a:latin typeface="Cambria Math" panose="02040503050406030204" pitchFamily="18" charset="0"/>
                                <a:cs typeface="Times New Roman" panose="02020603050405020304" pitchFamily="18" charset="0"/>
                                <a:sym typeface="Symbol" panose="05050102010706020507" pitchFamily="18" charset="2"/>
                              </a:rPr>
                              <m:t>𝑏</m:t>
                            </m:r>
                          </m:e>
                          <m:sup>
                            <m:r>
                              <a:rPr lang="en-US" sz="1800" b="0" i="1" smtClean="0">
                                <a:latin typeface="Cambria Math" panose="02040503050406030204" pitchFamily="18" charset="0"/>
                                <a:cs typeface="Times New Roman" panose="02020603050405020304" pitchFamily="18" charset="0"/>
                                <a:sym typeface="Symbol" panose="05050102010706020507" pitchFamily="18" charset="2"/>
                              </a:rPr>
                              <m:t>3</m:t>
                            </m:r>
                          </m:sup>
                        </m:sSup>
                      </m:num>
                      <m:den>
                        <m:r>
                          <a:rPr lang="en-US" sz="1800" b="0" i="1" smtClean="0">
                            <a:latin typeface="Cambria Math" panose="02040503050406030204" pitchFamily="18" charset="0"/>
                            <a:cs typeface="Times New Roman" panose="02020603050405020304" pitchFamily="18" charset="0"/>
                            <a:sym typeface="Symbol" panose="05050102010706020507" pitchFamily="18" charset="2"/>
                          </a:rPr>
                          <m:t>4</m:t>
                        </m:r>
                        <m:r>
                          <a:rPr lang="en-US" sz="18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𝜋</m:t>
                        </m:r>
                        <m:sSup>
                          <m:sSupPr>
                            <m:ctrlPr>
                              <a:rPr lang="en-US" sz="18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sSupPr>
                          <m:e>
                            <m:r>
                              <a:rPr lang="en-US" sz="18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𝑛</m:t>
                            </m:r>
                          </m:e>
                          <m:sup>
                            <m:r>
                              <a:rPr lang="en-US" sz="18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2</m:t>
                            </m:r>
                          </m:sup>
                        </m:sSup>
                      </m:den>
                    </m:f>
                    <m:r>
                      <a:rPr lang="en-US" sz="1800" b="0" i="1" smtClean="0">
                        <a:latin typeface="Cambria Math" panose="02040503050406030204" pitchFamily="18" charset="0"/>
                        <a:cs typeface="Times New Roman" panose="02020603050405020304" pitchFamily="18" charset="0"/>
                        <a:sym typeface="Symbol" panose="05050102010706020507" pitchFamily="18" charset="2"/>
                      </a:rPr>
                      <m:t> ∗</m:t>
                    </m:r>
                    <m:d>
                      <m:dPr>
                        <m:begChr m:val="["/>
                        <m:endChr m:val="]"/>
                        <m:ctrlPr>
                          <a:rPr lang="en-US" sz="1800" b="0" i="1" smtClean="0">
                            <a:latin typeface="Cambria Math" panose="02040503050406030204" pitchFamily="18" charset="0"/>
                            <a:cs typeface="Times New Roman" panose="02020603050405020304" pitchFamily="18" charset="0"/>
                            <a:sym typeface="Symbol" panose="05050102010706020507" pitchFamily="18" charset="2"/>
                          </a:rPr>
                        </m:ctrlPr>
                      </m:dPr>
                      <m:e>
                        <m:sSup>
                          <m:sSupPr>
                            <m:ctrlPr>
                              <a:rPr lang="en-US" sz="1800" b="0" i="1" smtClean="0">
                                <a:latin typeface="Cambria Math" panose="02040503050406030204" pitchFamily="18" charset="0"/>
                                <a:cs typeface="Times New Roman" panose="02020603050405020304" pitchFamily="18" charset="0"/>
                                <a:sym typeface="Symbol" panose="05050102010706020507" pitchFamily="18" charset="2"/>
                              </a:rPr>
                            </m:ctrlPr>
                          </m:sSupPr>
                          <m:e>
                            <m:r>
                              <a:rPr lang="en-US" sz="1800" b="0" i="1" smtClean="0">
                                <a:latin typeface="Cambria Math" panose="02040503050406030204" pitchFamily="18" charset="0"/>
                                <a:cs typeface="Times New Roman" panose="02020603050405020304" pitchFamily="18" charset="0"/>
                                <a:sym typeface="Symbol" panose="05050102010706020507" pitchFamily="18" charset="2"/>
                              </a:rPr>
                              <m:t>𝑠𝑖𝑛</m:t>
                            </m:r>
                          </m:e>
                          <m:sup>
                            <m:r>
                              <a:rPr lang="en-US" sz="1800" b="0" i="1" smtClean="0">
                                <a:latin typeface="Cambria Math" panose="02040503050406030204" pitchFamily="18" charset="0"/>
                                <a:cs typeface="Times New Roman" panose="02020603050405020304" pitchFamily="18" charset="0"/>
                                <a:sym typeface="Symbol" panose="05050102010706020507" pitchFamily="18" charset="2"/>
                              </a:rPr>
                              <m:t>2</m:t>
                            </m:r>
                          </m:sup>
                        </m:sSup>
                        <m:r>
                          <a:rPr lang="en-US" sz="18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r>
                          <a:rPr lang="en-US" sz="18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m:t>
                        </m:r>
                        <m:r>
                          <a:rPr lang="en-US" sz="18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𝑐𝑜𝑠</m:t>
                        </m:r>
                        <m:r>
                          <a:rPr lang="en-US" sz="18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e>
                    </m:d>
                  </m:oMath>
                </a14:m>
                <a:r>
                  <a:rPr lang="en-IN" dirty="0">
                    <a:latin typeface="Times New Roman" panose="02020603050405020304" pitchFamily="18" charset="0"/>
                    <a:cs typeface="Times New Roman" panose="02020603050405020304" pitchFamily="18" charset="0"/>
                    <a:sym typeface="Symbol" panose="05050102010706020507" pitchFamily="18" charset="2"/>
                  </a:rPr>
                  <a:t>……... (5)</a:t>
                </a:r>
                <a:endParaRPr lang="en-IN" dirty="0">
                  <a:latin typeface="Times New Roman" panose="02020603050405020304" pitchFamily="18"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2F78D876-251E-85C5-6A7D-BE0697549C31}"/>
                  </a:ext>
                </a:extLst>
              </p:cNvPr>
              <p:cNvSpPr>
                <a:spLocks noGrp="1" noRot="1" noChangeAspect="1" noMove="1" noResize="1" noEditPoints="1" noAdjustHandles="1" noChangeArrowheads="1" noChangeShapeType="1" noTextEdit="1"/>
              </p:cNvSpPr>
              <p:nvPr>
                <p:ph idx="1"/>
              </p:nvPr>
            </p:nvSpPr>
            <p:spPr>
              <a:xfrm>
                <a:off x="5847657" y="1265842"/>
                <a:ext cx="4901208" cy="5321566"/>
              </a:xfrm>
              <a:blipFill>
                <a:blip r:embed="rId2"/>
                <a:stretch>
                  <a:fillRect l="-622" t="-802" r="-746"/>
                </a:stretch>
              </a:blipFill>
            </p:spPr>
            <p:txBody>
              <a:bodyPr/>
              <a:lstStyle/>
              <a:p>
                <a:r>
                  <a:rPr lang="en-IN">
                    <a:noFill/>
                  </a:rPr>
                  <a:t> </a:t>
                </a:r>
              </a:p>
            </p:txBody>
          </p:sp>
        </mc:Fallback>
      </mc:AlternateContent>
      <p:pic>
        <p:nvPicPr>
          <p:cNvPr id="6" name="Picture 5">
            <a:extLst>
              <a:ext uri="{FF2B5EF4-FFF2-40B4-BE49-F238E27FC236}">
                <a16:creationId xmlns:a16="http://schemas.microsoft.com/office/drawing/2014/main" id="{8F6AF55C-D360-B5B1-F395-00C5DEB2A5E5}"/>
              </a:ext>
            </a:extLst>
          </p:cNvPr>
          <p:cNvPicPr>
            <a:picLocks noChangeAspect="1"/>
          </p:cNvPicPr>
          <p:nvPr/>
        </p:nvPicPr>
        <p:blipFill>
          <a:blip r:embed="rId3"/>
          <a:stretch>
            <a:fillRect/>
          </a:stretch>
        </p:blipFill>
        <p:spPr>
          <a:xfrm>
            <a:off x="1052059" y="1461794"/>
            <a:ext cx="4572129" cy="3138197"/>
          </a:xfrm>
          <a:prstGeom prst="rect">
            <a:avLst/>
          </a:prstGeom>
        </p:spPr>
      </p:pic>
    </p:spTree>
    <p:extLst>
      <p:ext uri="{BB962C8B-B14F-4D97-AF65-F5344CB8AC3E}">
        <p14:creationId xmlns:p14="http://schemas.microsoft.com/office/powerpoint/2010/main" val="3327274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7E9AE-9871-6B83-F520-829F3936D0E9}"/>
              </a:ext>
            </a:extLst>
          </p:cNvPr>
          <p:cNvSpPr>
            <a:spLocks noGrp="1"/>
          </p:cNvSpPr>
          <p:nvPr>
            <p:ph type="title"/>
          </p:nvPr>
        </p:nvSpPr>
        <p:spPr>
          <a:xfrm>
            <a:off x="1586194" y="605448"/>
            <a:ext cx="10002384" cy="679059"/>
          </a:xfrm>
        </p:spPr>
        <p:txBody>
          <a:bodyPr/>
          <a:lstStyle/>
          <a:p>
            <a:r>
              <a:rPr lang="en-US" dirty="0">
                <a:latin typeface="Times New Roman" panose="02020603050405020304" pitchFamily="18" charset="0"/>
                <a:cs typeface="Times New Roman" panose="02020603050405020304" pitchFamily="18" charset="0"/>
              </a:rPr>
              <a:t>Derivation For Pressure and Force Relation:</a:t>
            </a:r>
            <a:endParaRPr lang="en-IN"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F78D876-251E-85C5-6A7D-BE0697549C31}"/>
                  </a:ext>
                </a:extLst>
              </p:cNvPr>
              <p:cNvSpPr>
                <a:spLocks noGrp="1"/>
              </p:cNvSpPr>
              <p:nvPr>
                <p:ph idx="1"/>
              </p:nvPr>
            </p:nvSpPr>
            <p:spPr>
              <a:xfrm>
                <a:off x="6373281" y="1393475"/>
                <a:ext cx="5433054" cy="5106956"/>
              </a:xfrm>
            </p:spPr>
            <p:txBody>
              <a:bodyPr>
                <a:normAutofit fontScale="92500" lnSpcReduction="10000"/>
              </a:bodyPr>
              <a:lstStyle/>
              <a:p>
                <a:pPr marL="0" indent="0" algn="just">
                  <a:buNone/>
                </a:pPr>
                <a:r>
                  <a:rPr lang="en-US" sz="1600" dirty="0">
                    <a:latin typeface="Times New Roman" panose="02020603050405020304" pitchFamily="18" charset="0"/>
                    <a:cs typeface="Times New Roman" panose="02020603050405020304" pitchFamily="18" charset="0"/>
                  </a:rPr>
                  <a:t>Adopting contraction (ε) and applying Eq.9, it is possible to reach to required formulation (</a:t>
                </a:r>
                <a:r>
                  <a:rPr lang="en-US" sz="1600" dirty="0" err="1">
                    <a:latin typeface="Times New Roman" panose="02020603050405020304" pitchFamily="18" charset="0"/>
                    <a:cs typeface="Times New Roman" panose="02020603050405020304" pitchFamily="18" charset="0"/>
                  </a:rPr>
                  <a:t>Daerden</a:t>
                </a:r>
                <a:r>
                  <a:rPr lang="en-US" sz="1600" dirty="0">
                    <a:latin typeface="Times New Roman" panose="02020603050405020304" pitchFamily="18" charset="0"/>
                    <a:cs typeface="Times New Roman" panose="02020603050405020304" pitchFamily="18" charset="0"/>
                  </a:rPr>
                  <a:t> and </a:t>
                </a:r>
                <a:r>
                  <a:rPr lang="en-US" sz="1600" dirty="0" err="1">
                    <a:latin typeface="Times New Roman" panose="02020603050405020304" pitchFamily="18" charset="0"/>
                    <a:cs typeface="Times New Roman" panose="02020603050405020304" pitchFamily="18" charset="0"/>
                  </a:rPr>
                  <a:t>Lefeber</a:t>
                </a:r>
                <a:r>
                  <a:rPr lang="en-US" sz="1600" dirty="0">
                    <a:latin typeface="Times New Roman" panose="02020603050405020304" pitchFamily="18" charset="0"/>
                    <a:cs typeface="Times New Roman" panose="02020603050405020304" pitchFamily="18" charset="0"/>
                  </a:rPr>
                  <a:t>, 2000).</a:t>
                </a:r>
              </a:p>
              <a:p>
                <a:pPr marL="0" indent="0" algn="just">
                  <a:buNone/>
                </a:pPr>
                <a:r>
                  <a:rPr lang="en-IN" sz="1600" dirty="0">
                    <a:latin typeface="Times New Roman" panose="02020603050405020304" pitchFamily="18" charset="0"/>
                    <a:cs typeface="Times New Roman" panose="02020603050405020304" pitchFamily="18" charset="0"/>
                  </a:rPr>
                  <a:t>	</a:t>
                </a:r>
                <a:r>
                  <a:rPr lang="en-US" sz="1600" b="0" dirty="0">
                    <a:cs typeface="Times New Roman" panose="02020603050405020304" pitchFamily="18" charset="0"/>
                    <a:sym typeface="Symbol" panose="05050102010706020507" pitchFamily="18" charset="2"/>
                  </a:rPr>
                  <a:t> </a:t>
                </a:r>
                <a14:m>
                  <m:oMath xmlns:m="http://schemas.openxmlformats.org/officeDocument/2006/math">
                    <m:r>
                      <a:rPr lang="en-US" sz="1600" b="0" i="1" smtClean="0">
                        <a:latin typeface="Cambria Math" panose="02040503050406030204" pitchFamily="18" charset="0"/>
                        <a:cs typeface="Times New Roman" panose="02020603050405020304" pitchFamily="18" charset="0"/>
                        <a:sym typeface="Symbol" panose="05050102010706020507" pitchFamily="18" charset="2"/>
                      </a:rPr>
                      <m:t>𝐷</m:t>
                    </m:r>
                    <m:r>
                      <a:rPr lang="en-US" sz="1600" b="0" i="1" smtClean="0">
                        <a:latin typeface="Cambria Math" panose="02040503050406030204" pitchFamily="18" charset="0"/>
                        <a:cs typeface="Times New Roman" panose="02020603050405020304" pitchFamily="18" charset="0"/>
                        <a:sym typeface="Symbol" panose="05050102010706020507" pitchFamily="18" charset="2"/>
                      </a:rPr>
                      <m:t>= </m:t>
                    </m:r>
                    <m:f>
                      <m:fPr>
                        <m:ctrlPr>
                          <a:rPr lang="en-US" sz="1600" b="0" i="1" smtClean="0">
                            <a:latin typeface="Cambria Math" panose="02040503050406030204" pitchFamily="18" charset="0"/>
                            <a:cs typeface="Times New Roman" panose="02020603050405020304" pitchFamily="18" charset="0"/>
                            <a:sym typeface="Symbol" panose="05050102010706020507" pitchFamily="18" charset="2"/>
                          </a:rPr>
                        </m:ctrlPr>
                      </m:fPr>
                      <m:num>
                        <m:r>
                          <a:rPr lang="en-US" sz="1600" b="0" i="1" smtClean="0">
                            <a:latin typeface="Cambria Math" panose="02040503050406030204" pitchFamily="18" charset="0"/>
                            <a:cs typeface="Times New Roman" panose="02020603050405020304" pitchFamily="18" charset="0"/>
                            <a:sym typeface="Symbol" panose="05050102010706020507" pitchFamily="18" charset="2"/>
                          </a:rPr>
                          <m:t>𝑏𝑠𝑖𝑛</m:t>
                        </m:r>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num>
                      <m:den>
                        <m:r>
                          <a:rPr lang="en-US" sz="1600" b="0" i="1" smtClean="0">
                            <a:latin typeface="Cambria Math" panose="02040503050406030204" pitchFamily="18" charset="0"/>
                            <a:cs typeface="Times New Roman" panose="02020603050405020304" pitchFamily="18" charset="0"/>
                            <a:sym typeface="Symbol" panose="05050102010706020507" pitchFamily="18" charset="2"/>
                          </a:rPr>
                          <m:t>𝑛</m:t>
                        </m:r>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𝜋</m:t>
                        </m:r>
                      </m:den>
                    </m:f>
                  </m:oMath>
                </a14:m>
                <a:r>
                  <a:rPr lang="en-IN" sz="1600" dirty="0">
                    <a:latin typeface="Times New Roman" panose="02020603050405020304" pitchFamily="18" charset="0"/>
                    <a:cs typeface="Times New Roman" panose="02020603050405020304" pitchFamily="18" charset="0"/>
                    <a:sym typeface="Symbol" panose="05050102010706020507" pitchFamily="18" charset="2"/>
                  </a:rPr>
                  <a:t> …………… (After applying pressure)</a:t>
                </a:r>
              </a:p>
              <a:p>
                <a:pPr marL="0" indent="0" algn="just">
                  <a:buNone/>
                </a:pPr>
                <a:r>
                  <a:rPr lang="en-IN" sz="1600" dirty="0">
                    <a:latin typeface="Times New Roman" panose="02020603050405020304" pitchFamily="18" charset="0"/>
                    <a:cs typeface="Times New Roman" panose="02020603050405020304" pitchFamily="18" charset="0"/>
                  </a:rPr>
                  <a:t>	</a:t>
                </a:r>
                <a:r>
                  <a:rPr lang="en-US" sz="1600" b="0" dirty="0">
                    <a:cs typeface="Times New Roman" panose="02020603050405020304" pitchFamily="18" charset="0"/>
                    <a:sym typeface="Symbol" panose="05050102010706020507" pitchFamily="18" charset="2"/>
                  </a:rPr>
                  <a:t> </a:t>
                </a:r>
                <a14:m>
                  <m:oMath xmlns:m="http://schemas.openxmlformats.org/officeDocument/2006/math">
                    <m:sSub>
                      <m:sSubPr>
                        <m:ctrlPr>
                          <a:rPr lang="en-US" sz="1600" b="0" i="1" smtClean="0">
                            <a:latin typeface="Cambria Math" panose="02040503050406030204" pitchFamily="18" charset="0"/>
                            <a:cs typeface="Times New Roman" panose="02020603050405020304" pitchFamily="18" charset="0"/>
                            <a:sym typeface="Symbol" panose="05050102010706020507" pitchFamily="18" charset="2"/>
                          </a:rPr>
                        </m:ctrlPr>
                      </m:sSubPr>
                      <m:e>
                        <m:r>
                          <a:rPr lang="en-US" sz="1600" b="0" i="1" smtClean="0">
                            <a:latin typeface="Cambria Math" panose="02040503050406030204" pitchFamily="18" charset="0"/>
                            <a:cs typeface="Times New Roman" panose="02020603050405020304" pitchFamily="18" charset="0"/>
                            <a:sym typeface="Symbol" panose="05050102010706020507" pitchFamily="18" charset="2"/>
                          </a:rPr>
                          <m:t>𝐷</m:t>
                        </m:r>
                      </m:e>
                      <m:sub>
                        <m:r>
                          <a:rPr lang="en-US" sz="1600" b="0" i="1" smtClean="0">
                            <a:latin typeface="Cambria Math" panose="02040503050406030204" pitchFamily="18" charset="0"/>
                            <a:cs typeface="Times New Roman" panose="02020603050405020304" pitchFamily="18" charset="0"/>
                            <a:sym typeface="Symbol" panose="05050102010706020507" pitchFamily="18" charset="2"/>
                          </a:rPr>
                          <m:t>0</m:t>
                        </m:r>
                      </m:sub>
                    </m:sSub>
                    <m:r>
                      <a:rPr lang="en-US" sz="1600" b="0" i="1" smtClean="0">
                        <a:latin typeface="Cambria Math" panose="02040503050406030204" pitchFamily="18" charset="0"/>
                        <a:cs typeface="Times New Roman" panose="02020603050405020304" pitchFamily="18" charset="0"/>
                        <a:sym typeface="Symbol" panose="05050102010706020507" pitchFamily="18" charset="2"/>
                      </a:rPr>
                      <m:t>= </m:t>
                    </m:r>
                    <m:f>
                      <m:fPr>
                        <m:ctrlPr>
                          <a:rPr lang="en-US" sz="1600" b="0" i="1" smtClean="0">
                            <a:latin typeface="Cambria Math" panose="02040503050406030204" pitchFamily="18" charset="0"/>
                            <a:cs typeface="Times New Roman" panose="02020603050405020304" pitchFamily="18" charset="0"/>
                            <a:sym typeface="Symbol" panose="05050102010706020507" pitchFamily="18" charset="2"/>
                          </a:rPr>
                        </m:ctrlPr>
                      </m:fPr>
                      <m:num>
                        <m:r>
                          <a:rPr lang="en-US" sz="1600" b="0" i="1" smtClean="0">
                            <a:latin typeface="Cambria Math" panose="02040503050406030204" pitchFamily="18" charset="0"/>
                            <a:cs typeface="Times New Roman" panose="02020603050405020304" pitchFamily="18" charset="0"/>
                            <a:sym typeface="Symbol" panose="05050102010706020507" pitchFamily="18" charset="2"/>
                          </a:rPr>
                          <m:t>𝑏𝑠𝑖𝑛</m:t>
                        </m:r>
                        <m:sSub>
                          <m:sSubPr>
                            <m:ctrlP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sSubPr>
                          <m:e>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e>
                          <m:sub>
                            <m:r>
                              <a:rPr lang="en-US" sz="1600" b="0" i="1" smtClean="0">
                                <a:latin typeface="Cambria Math" panose="02040503050406030204" pitchFamily="18" charset="0"/>
                                <a:cs typeface="Times New Roman" panose="02020603050405020304" pitchFamily="18" charset="0"/>
                                <a:sym typeface="Symbol" panose="05050102010706020507" pitchFamily="18" charset="2"/>
                              </a:rPr>
                              <m:t>0</m:t>
                            </m:r>
                          </m:sub>
                        </m:sSub>
                      </m:num>
                      <m:den>
                        <m:r>
                          <a:rPr lang="en-US" sz="1600" b="0" i="1" smtClean="0">
                            <a:latin typeface="Cambria Math" panose="02040503050406030204" pitchFamily="18" charset="0"/>
                            <a:cs typeface="Times New Roman" panose="02020603050405020304" pitchFamily="18" charset="0"/>
                            <a:sym typeface="Symbol" panose="05050102010706020507" pitchFamily="18" charset="2"/>
                          </a:rPr>
                          <m:t>𝑛</m:t>
                        </m:r>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𝜋</m:t>
                        </m:r>
                      </m:den>
                    </m:f>
                  </m:oMath>
                </a14:m>
                <a:r>
                  <a:rPr lang="en-IN" sz="1600" dirty="0">
                    <a:latin typeface="Times New Roman" panose="02020603050405020304" pitchFamily="18" charset="0"/>
                    <a:cs typeface="Times New Roman" panose="02020603050405020304" pitchFamily="18" charset="0"/>
                    <a:sym typeface="Symbol" panose="05050102010706020507" pitchFamily="18" charset="2"/>
                  </a:rPr>
                  <a:t> ………...... (Before applying pressure)</a:t>
                </a:r>
              </a:p>
              <a:p>
                <a:pPr marL="0" indent="0" algn="just">
                  <a:buNone/>
                </a:pPr>
                <a:r>
                  <a:rPr lang="en-IN" sz="1600" dirty="0">
                    <a:latin typeface="Times New Roman" panose="02020603050405020304" pitchFamily="18" charset="0"/>
                    <a:cs typeface="Times New Roman" panose="02020603050405020304" pitchFamily="18" charset="0"/>
                    <a:sym typeface="Symbol" panose="05050102010706020507" pitchFamily="18" charset="2"/>
                  </a:rPr>
                  <a:t>	</a:t>
                </a:r>
                <a14:m>
                  <m:oMath xmlns:m="http://schemas.openxmlformats.org/officeDocument/2006/math">
                    <m:r>
                      <a:rPr lang="en-IN" sz="1600" i="1" dirty="0" smtClean="0">
                        <a:latin typeface="Cambria Math" panose="02040503050406030204" pitchFamily="18" charset="0"/>
                        <a:cs typeface="Times New Roman" panose="02020603050405020304" pitchFamily="18" charset="0"/>
                        <a:sym typeface="Symbol" panose="05050102010706020507" pitchFamily="18" charset="2"/>
                      </a:rPr>
                      <m:t>𝐷</m:t>
                    </m:r>
                    <m:r>
                      <a:rPr lang="en-IN" sz="1600" i="1" dirty="0" smtClean="0">
                        <a:latin typeface="Cambria Math" panose="02040503050406030204" pitchFamily="18" charset="0"/>
                        <a:cs typeface="Times New Roman" panose="02020603050405020304" pitchFamily="18" charset="0"/>
                        <a:sym typeface="Symbol" panose="05050102010706020507" pitchFamily="18" charset="2"/>
                      </a:rPr>
                      <m:t> = </m:t>
                    </m:r>
                    <m:sSub>
                      <m:sSubPr>
                        <m:ctrlPr>
                          <a:rPr lang="en-US" sz="1600" b="0" i="1" dirty="0" smtClean="0">
                            <a:latin typeface="Cambria Math" panose="02040503050406030204" pitchFamily="18" charset="0"/>
                            <a:cs typeface="Times New Roman" panose="02020603050405020304" pitchFamily="18" charset="0"/>
                            <a:sym typeface="Symbol" panose="05050102010706020507" pitchFamily="18" charset="2"/>
                          </a:rPr>
                        </m:ctrlPr>
                      </m:sSubPr>
                      <m:e>
                        <m:r>
                          <a:rPr lang="en-US" sz="1600" b="0" i="1" dirty="0" smtClean="0">
                            <a:latin typeface="Cambria Math" panose="02040503050406030204" pitchFamily="18" charset="0"/>
                            <a:cs typeface="Times New Roman" panose="02020603050405020304" pitchFamily="18" charset="0"/>
                            <a:sym typeface="Symbol" panose="05050102010706020507" pitchFamily="18" charset="2"/>
                          </a:rPr>
                          <m:t>𝐷</m:t>
                        </m:r>
                      </m:e>
                      <m:sub>
                        <m:r>
                          <a:rPr lang="en-US" sz="1600" b="0" i="1" dirty="0" smtClean="0">
                            <a:latin typeface="Cambria Math" panose="02040503050406030204" pitchFamily="18" charset="0"/>
                            <a:cs typeface="Times New Roman" panose="02020603050405020304" pitchFamily="18" charset="0"/>
                            <a:sym typeface="Symbol" panose="05050102010706020507" pitchFamily="18" charset="2"/>
                          </a:rPr>
                          <m:t>0</m:t>
                        </m:r>
                      </m:sub>
                    </m:sSub>
                    <m:r>
                      <a:rPr lang="en-IN" sz="1050" i="1" dirty="0">
                        <a:latin typeface="Cambria Math" panose="02040503050406030204" pitchFamily="18" charset="0"/>
                        <a:cs typeface="Times New Roman" panose="02020603050405020304" pitchFamily="18" charset="0"/>
                        <a:sym typeface="Symbol" panose="05050102010706020507" pitchFamily="18" charset="2"/>
                      </a:rPr>
                      <m:t> </m:t>
                    </m:r>
                  </m:oMath>
                </a14:m>
                <a:r>
                  <a:rPr lang="en-IN" sz="1600" dirty="0">
                    <a:latin typeface="Times New Roman" panose="02020603050405020304" pitchFamily="18" charset="0"/>
                    <a:cs typeface="Times New Roman" panose="02020603050405020304" pitchFamily="18" charset="0"/>
                    <a:sym typeface="Symbol" panose="05050102010706020507" pitchFamily="18" charset="2"/>
                  </a:rPr>
                  <a:t>………. Basic Interpretation</a:t>
                </a:r>
              </a:p>
              <a:p>
                <a:pPr marL="0" indent="0" algn="just">
                  <a:buNone/>
                </a:pPr>
                <a:r>
                  <a:rPr lang="en-IN" sz="1600" dirty="0">
                    <a:latin typeface="Times New Roman" panose="02020603050405020304" pitchFamily="18" charset="0"/>
                    <a:cs typeface="Times New Roman" panose="02020603050405020304" pitchFamily="18" charset="0"/>
                    <a:sym typeface="Symbol" panose="05050102010706020507" pitchFamily="18" charset="2"/>
                  </a:rPr>
                  <a:t>So, we can replace D &amp; sin with D</a:t>
                </a:r>
                <a:r>
                  <a:rPr lang="en-IN" sz="1000" dirty="0">
                    <a:latin typeface="Times New Roman" panose="02020603050405020304" pitchFamily="18" charset="0"/>
                    <a:cs typeface="Times New Roman" panose="02020603050405020304" pitchFamily="18" charset="0"/>
                    <a:sym typeface="Symbol" panose="05050102010706020507" pitchFamily="18" charset="2"/>
                  </a:rPr>
                  <a:t>0</a:t>
                </a:r>
                <a:r>
                  <a:rPr lang="en-IN" sz="1600" dirty="0">
                    <a:latin typeface="Times New Roman" panose="02020603050405020304" pitchFamily="18" charset="0"/>
                    <a:cs typeface="Times New Roman" panose="02020603050405020304" pitchFamily="18" charset="0"/>
                    <a:sym typeface="Symbol" panose="05050102010706020507" pitchFamily="18" charset="2"/>
                  </a:rPr>
                  <a:t> &amp; sin</a:t>
                </a:r>
                <a:r>
                  <a:rPr lang="en-IN" sz="1000" dirty="0">
                    <a:latin typeface="Times New Roman" panose="02020603050405020304" pitchFamily="18" charset="0"/>
                    <a:cs typeface="Times New Roman" panose="02020603050405020304" pitchFamily="18" charset="0"/>
                    <a:sym typeface="Symbol" panose="05050102010706020507" pitchFamily="18" charset="2"/>
                  </a:rPr>
                  <a:t>0</a:t>
                </a:r>
                <a:r>
                  <a:rPr lang="en-IN" sz="1600" dirty="0">
                    <a:latin typeface="Times New Roman" panose="02020603050405020304" pitchFamily="18" charset="0"/>
                    <a:cs typeface="Times New Roman" panose="02020603050405020304" pitchFamily="18" charset="0"/>
                    <a:sym typeface="Symbol" panose="05050102010706020507" pitchFamily="18" charset="2"/>
                  </a:rPr>
                  <a:t> in </a:t>
                </a:r>
                <a:r>
                  <a:rPr lang="en-IN" sz="1600" dirty="0" err="1">
                    <a:latin typeface="Times New Roman" panose="02020603050405020304" pitchFamily="18" charset="0"/>
                    <a:cs typeface="Times New Roman" panose="02020603050405020304" pitchFamily="18" charset="0"/>
                    <a:sym typeface="Symbol" panose="05050102010706020507" pitchFamily="18" charset="2"/>
                  </a:rPr>
                  <a:t>eq</a:t>
                </a:r>
                <a:r>
                  <a:rPr lang="en-IN" sz="1600" dirty="0">
                    <a:latin typeface="Times New Roman" panose="02020603050405020304" pitchFamily="18" charset="0"/>
                    <a:cs typeface="Times New Roman" panose="02020603050405020304" pitchFamily="18" charset="0"/>
                    <a:sym typeface="Symbol" panose="05050102010706020507" pitchFamily="18" charset="2"/>
                  </a:rPr>
                  <a:t> (9) </a:t>
                </a:r>
              </a:p>
              <a:p>
                <a:pPr marL="800100" lvl="2" indent="0" algn="just">
                  <a:spcBef>
                    <a:spcPts val="600"/>
                  </a:spcBef>
                  <a:buNone/>
                </a:pPr>
                <a14:m>
                  <m:oMath xmlns:m="http://schemas.openxmlformats.org/officeDocument/2006/math">
                    <m:r>
                      <a:rPr lang="en-US" sz="1600" b="0" i="1" smtClean="0">
                        <a:latin typeface="Cambria Math" panose="02040503050406030204" pitchFamily="18" charset="0"/>
                        <a:cs typeface="Times New Roman" panose="02020603050405020304" pitchFamily="18" charset="0"/>
                        <a:sym typeface="Symbol" panose="05050102010706020507" pitchFamily="18" charset="2"/>
                      </a:rPr>
                      <m:t>𝑐𝑜𝑠</m:t>
                    </m:r>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 </m:t>
                    </m:r>
                    <m:f>
                      <m:fPr>
                        <m:ctrlP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fPr>
                      <m:num>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𝐿</m:t>
                        </m:r>
                      </m:num>
                      <m:den>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𝑏</m:t>
                        </m:r>
                      </m:den>
                    </m:f>
                  </m:oMath>
                </a14:m>
                <a:r>
                  <a:rPr lang="en-IN" sz="1600" dirty="0">
                    <a:latin typeface="Times New Roman" panose="02020603050405020304" pitchFamily="18" charset="0"/>
                    <a:cs typeface="Times New Roman" panose="02020603050405020304" pitchFamily="18" charset="0"/>
                    <a:sym typeface="Symbol" panose="05050102010706020507" pitchFamily="18" charset="2"/>
                  </a:rPr>
                  <a:t> </a:t>
                </a:r>
              </a:p>
              <a:p>
                <a:pPr marL="800100" lvl="2" indent="0" algn="just">
                  <a:spcBef>
                    <a:spcPts val="600"/>
                  </a:spcBef>
                  <a:buNone/>
                </a:pPr>
                <a:r>
                  <a:rPr lang="en-IN" sz="1600" dirty="0">
                    <a:cs typeface="Times New Roman" panose="02020603050405020304" pitchFamily="18" charset="0"/>
                    <a:sym typeface="Symbol" panose="05050102010706020507" pitchFamily="18" charset="2"/>
                  </a:rPr>
                  <a:t>	</a:t>
                </a:r>
                <a14:m>
                  <m:oMath xmlns:m="http://schemas.openxmlformats.org/officeDocument/2006/math">
                    <m:r>
                      <a:rPr lang="en-IN" sz="1600" i="1" dirty="0" smtClean="0">
                        <a:latin typeface="Cambria Math" panose="02040503050406030204" pitchFamily="18" charset="0"/>
                        <a:cs typeface="Times New Roman" panose="02020603050405020304" pitchFamily="18" charset="0"/>
                        <a:sym typeface="Symbol" panose="05050102010706020507" pitchFamily="18" charset="2"/>
                      </a:rPr>
                      <m:t>𝐿</m:t>
                    </m:r>
                    <m:r>
                      <a:rPr lang="en-IN" sz="1600" i="1" dirty="0" smtClean="0">
                        <a:latin typeface="Cambria Math" panose="02040503050406030204" pitchFamily="18" charset="0"/>
                        <a:cs typeface="Times New Roman" panose="02020603050405020304" pitchFamily="18" charset="0"/>
                        <a:sym typeface="Symbol" panose="05050102010706020507" pitchFamily="18" charset="2"/>
                      </a:rPr>
                      <m:t> = </m:t>
                    </m:r>
                    <m:r>
                      <a:rPr lang="en-IN" sz="1600" i="1" dirty="0">
                        <a:latin typeface="Cambria Math" panose="02040503050406030204" pitchFamily="18" charset="0"/>
                        <a:cs typeface="Times New Roman" panose="02020603050405020304" pitchFamily="18" charset="0"/>
                        <a:sym typeface="Symbol" panose="05050102010706020507" pitchFamily="18" charset="2"/>
                      </a:rPr>
                      <m:t>𝑏</m:t>
                    </m:r>
                    <m:r>
                      <a:rPr lang="en-IN" sz="1600" i="1" dirty="0">
                        <a:latin typeface="Cambria Math" panose="02040503050406030204" pitchFamily="18" charset="0"/>
                        <a:cs typeface="Times New Roman" panose="02020603050405020304" pitchFamily="18" charset="0"/>
                      </a:rPr>
                      <m:t> </m:t>
                    </m:r>
                    <m:r>
                      <a:rPr lang="en-US" sz="1600" b="0" i="1" dirty="0" smtClean="0">
                        <a:latin typeface="Cambria Math" panose="02040503050406030204" pitchFamily="18" charset="0"/>
                        <a:cs typeface="Times New Roman" panose="02020603050405020304" pitchFamily="18" charset="0"/>
                      </a:rPr>
                      <m:t>𝑐𝑜𝑠</m:t>
                    </m:r>
                    <m:r>
                      <a:rPr lang="en-IN" sz="1600" i="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oMath>
                </a14:m>
                <a:endParaRPr lang="en-IN" sz="1600" dirty="0">
                  <a:latin typeface="Times New Roman" panose="02020603050405020304" pitchFamily="18" charset="0"/>
                  <a:cs typeface="Times New Roman" panose="02020603050405020304" pitchFamily="18" charset="0"/>
                  <a:sym typeface="Symbol" panose="05050102010706020507" pitchFamily="18" charset="2"/>
                </a:endParaRPr>
              </a:p>
              <a:p>
                <a:pPr marL="0" indent="0" algn="just">
                  <a:buNone/>
                </a:pPr>
                <a:r>
                  <a:rPr lang="en-IN" sz="1600" dirty="0">
                    <a:cs typeface="Times New Roman" panose="02020603050405020304" pitchFamily="18" charset="0"/>
                    <a:sym typeface="Symbol" panose="05050102010706020507" pitchFamily="18" charset="2"/>
                  </a:rPr>
                  <a:t>		</a:t>
                </a:r>
                <a14:m>
                  <m:oMath xmlns:m="http://schemas.openxmlformats.org/officeDocument/2006/math">
                    <m:sSub>
                      <m:sSubPr>
                        <m:ctrlPr>
                          <a:rPr lang="en-US" sz="1600" b="0" i="1" dirty="0" smtClean="0">
                            <a:latin typeface="Cambria Math" panose="02040503050406030204" pitchFamily="18" charset="0"/>
                            <a:cs typeface="Times New Roman" panose="02020603050405020304" pitchFamily="18" charset="0"/>
                            <a:sym typeface="Symbol" panose="05050102010706020507" pitchFamily="18" charset="2"/>
                          </a:rPr>
                        </m:ctrlPr>
                      </m:sSubPr>
                      <m:e>
                        <m:r>
                          <a:rPr lang="en-US" sz="1600" b="0" i="1" dirty="0" smtClean="0">
                            <a:latin typeface="Cambria Math" panose="02040503050406030204" pitchFamily="18" charset="0"/>
                            <a:cs typeface="Times New Roman" panose="02020603050405020304" pitchFamily="18" charset="0"/>
                            <a:sym typeface="Symbol" panose="05050102010706020507" pitchFamily="18" charset="2"/>
                          </a:rPr>
                          <m:t>𝐿</m:t>
                        </m:r>
                      </m:e>
                      <m:sub>
                        <m:r>
                          <a:rPr lang="en-US" sz="1600" b="0" i="1" dirty="0" smtClean="0">
                            <a:latin typeface="Cambria Math" panose="02040503050406030204" pitchFamily="18" charset="0"/>
                            <a:cs typeface="Times New Roman" panose="02020603050405020304" pitchFamily="18" charset="0"/>
                            <a:sym typeface="Symbol" panose="05050102010706020507" pitchFamily="18" charset="2"/>
                          </a:rPr>
                          <m:t>0</m:t>
                        </m:r>
                      </m:sub>
                    </m:sSub>
                    <m:r>
                      <a:rPr lang="en-IN" sz="1600" i="1" dirty="0" smtClean="0">
                        <a:latin typeface="Cambria Math" panose="02040503050406030204" pitchFamily="18" charset="0"/>
                        <a:cs typeface="Times New Roman" panose="02020603050405020304" pitchFamily="18" charset="0"/>
                        <a:sym typeface="Symbol" panose="05050102010706020507" pitchFamily="18" charset="2"/>
                      </a:rPr>
                      <m:t>= </m:t>
                    </m:r>
                    <m:r>
                      <a:rPr lang="en-IN" sz="1600" i="1" dirty="0">
                        <a:latin typeface="Cambria Math" panose="02040503050406030204" pitchFamily="18" charset="0"/>
                        <a:cs typeface="Times New Roman" panose="02020603050405020304" pitchFamily="18" charset="0"/>
                        <a:sym typeface="Symbol" panose="05050102010706020507" pitchFamily="18" charset="2"/>
                      </a:rPr>
                      <m:t>𝑏</m:t>
                    </m:r>
                    <m:r>
                      <a:rPr lang="en-IN" sz="1600" i="1" dirty="0">
                        <a:latin typeface="Cambria Math" panose="02040503050406030204" pitchFamily="18" charset="0"/>
                        <a:cs typeface="Times New Roman" panose="02020603050405020304" pitchFamily="18" charset="0"/>
                      </a:rPr>
                      <m:t> </m:t>
                    </m:r>
                    <m:r>
                      <a:rPr lang="en-US" sz="1600" b="0" i="1" dirty="0" smtClean="0">
                        <a:latin typeface="Cambria Math" panose="02040503050406030204" pitchFamily="18" charset="0"/>
                        <a:cs typeface="Times New Roman" panose="02020603050405020304" pitchFamily="18" charset="0"/>
                      </a:rPr>
                      <m:t>𝑐𝑜𝑠</m:t>
                    </m:r>
                    <m:sSub>
                      <m:sSubPr>
                        <m:ctrlPr>
                          <a:rPr lang="en-US" sz="1600" b="0" i="1" dirty="0"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sz="1600" b="0" i="1" dirty="0" smtClean="0">
                            <a:latin typeface="Cambria Math" panose="02040503050406030204" pitchFamily="18" charset="0"/>
                            <a:ea typeface="Cambria Math" panose="02040503050406030204" pitchFamily="18" charset="0"/>
                            <a:cs typeface="Times New Roman" panose="02020603050405020304" pitchFamily="18" charset="0"/>
                          </a:rPr>
                          <m:t>𝜃</m:t>
                        </m:r>
                      </m:e>
                      <m:sub>
                        <m:r>
                          <a:rPr lang="en-US" sz="1600" b="0" i="1" dirty="0" smtClean="0">
                            <a:latin typeface="Cambria Math" panose="02040503050406030204" pitchFamily="18" charset="0"/>
                            <a:cs typeface="Times New Roman" panose="02020603050405020304" pitchFamily="18" charset="0"/>
                          </a:rPr>
                          <m:t>0</m:t>
                        </m:r>
                      </m:sub>
                    </m:sSub>
                  </m:oMath>
                </a14:m>
                <a:endParaRPr lang="en-US" sz="1600" b="0" i="1" dirty="0">
                  <a:latin typeface="Cambria Math" panose="02040503050406030204" pitchFamily="18" charset="0"/>
                  <a:cs typeface="Times New Roman" panose="02020603050405020304" pitchFamily="18" charset="0"/>
                </a:endParaRPr>
              </a:p>
              <a:p>
                <a:pPr marL="0" indent="0" algn="just">
                  <a:buNone/>
                </a:pPr>
                <a:r>
                  <a:rPr lang="en-IN" sz="1600" dirty="0">
                    <a:cs typeface="Times New Roman" panose="02020603050405020304" pitchFamily="18" charset="0"/>
                    <a:sym typeface="Symbol" panose="05050102010706020507" pitchFamily="18" charset="2"/>
                  </a:rPr>
                  <a:t>		</a:t>
                </a:r>
                <a14:m>
                  <m:oMath xmlns:m="http://schemas.openxmlformats.org/officeDocument/2006/math">
                    <m:f>
                      <m:fPr>
                        <m:ctrlPr>
                          <a:rPr lang="en-US" sz="1600" b="0" i="1" smtClean="0">
                            <a:latin typeface="Cambria Math" panose="02040503050406030204" pitchFamily="18" charset="0"/>
                            <a:cs typeface="Times New Roman" panose="02020603050405020304" pitchFamily="18" charset="0"/>
                            <a:sym typeface="Symbol" panose="05050102010706020507" pitchFamily="18" charset="2"/>
                          </a:rPr>
                        </m:ctrlPr>
                      </m:fPr>
                      <m:num>
                        <m:r>
                          <a:rPr lang="en-US" sz="1600" b="0" i="1" smtClean="0">
                            <a:latin typeface="Cambria Math" panose="02040503050406030204" pitchFamily="18" charset="0"/>
                            <a:cs typeface="Times New Roman" panose="02020603050405020304" pitchFamily="18" charset="0"/>
                            <a:sym typeface="Symbol" panose="05050102010706020507" pitchFamily="18" charset="2"/>
                          </a:rPr>
                          <m:t>𝐿</m:t>
                        </m:r>
                      </m:num>
                      <m:den>
                        <m:sSub>
                          <m:sSubPr>
                            <m:ctrlPr>
                              <a:rPr lang="en-US" sz="1600" b="0" i="1" smtClean="0">
                                <a:latin typeface="Cambria Math" panose="02040503050406030204" pitchFamily="18" charset="0"/>
                                <a:cs typeface="Times New Roman" panose="02020603050405020304" pitchFamily="18" charset="0"/>
                                <a:sym typeface="Symbol" panose="05050102010706020507" pitchFamily="18" charset="2"/>
                              </a:rPr>
                            </m:ctrlPr>
                          </m:sSubPr>
                          <m:e>
                            <m:r>
                              <a:rPr lang="en-US" sz="1600" b="0" i="1" smtClean="0">
                                <a:latin typeface="Cambria Math" panose="02040503050406030204" pitchFamily="18" charset="0"/>
                                <a:cs typeface="Times New Roman" panose="02020603050405020304" pitchFamily="18" charset="0"/>
                                <a:sym typeface="Symbol" panose="05050102010706020507" pitchFamily="18" charset="2"/>
                              </a:rPr>
                              <m:t>𝐿</m:t>
                            </m:r>
                          </m:e>
                          <m:sub>
                            <m:r>
                              <a:rPr lang="en-US" sz="1600" b="0" i="1" smtClean="0">
                                <a:latin typeface="Cambria Math" panose="02040503050406030204" pitchFamily="18" charset="0"/>
                                <a:cs typeface="Times New Roman" panose="02020603050405020304" pitchFamily="18" charset="0"/>
                                <a:sym typeface="Symbol" panose="05050102010706020507" pitchFamily="18" charset="2"/>
                              </a:rPr>
                              <m:t>0</m:t>
                            </m:r>
                          </m:sub>
                        </m:sSub>
                      </m:den>
                    </m:f>
                    <m:r>
                      <a:rPr lang="en-US" sz="1600" b="0" i="1" smtClean="0">
                        <a:latin typeface="Cambria Math" panose="02040503050406030204" pitchFamily="18" charset="0"/>
                        <a:cs typeface="Times New Roman" panose="02020603050405020304" pitchFamily="18" charset="0"/>
                        <a:sym typeface="Symbol" panose="05050102010706020507" pitchFamily="18" charset="2"/>
                      </a:rPr>
                      <m:t>= </m:t>
                    </m:r>
                    <m:f>
                      <m:fPr>
                        <m:ctrlPr>
                          <a:rPr lang="en-US" sz="1600" b="0" i="1" smtClean="0">
                            <a:latin typeface="Cambria Math" panose="02040503050406030204" pitchFamily="18" charset="0"/>
                            <a:cs typeface="Times New Roman" panose="02020603050405020304" pitchFamily="18" charset="0"/>
                            <a:sym typeface="Symbol" panose="05050102010706020507" pitchFamily="18" charset="2"/>
                          </a:rPr>
                        </m:ctrlPr>
                      </m:fPr>
                      <m:num>
                        <m:r>
                          <a:rPr lang="en-US" sz="1600" b="0" i="1" smtClean="0">
                            <a:latin typeface="Cambria Math" panose="02040503050406030204" pitchFamily="18" charset="0"/>
                            <a:cs typeface="Times New Roman" panose="02020603050405020304" pitchFamily="18" charset="0"/>
                            <a:sym typeface="Symbol" panose="05050102010706020507" pitchFamily="18" charset="2"/>
                          </a:rPr>
                          <m:t>𝑐𝑜𝑠</m:t>
                        </m:r>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num>
                      <m:den>
                        <m:r>
                          <a:rPr lang="en-US" sz="1600" b="0" i="1" smtClean="0">
                            <a:latin typeface="Cambria Math" panose="02040503050406030204" pitchFamily="18" charset="0"/>
                            <a:cs typeface="Times New Roman" panose="02020603050405020304" pitchFamily="18" charset="0"/>
                            <a:sym typeface="Symbol" panose="05050102010706020507" pitchFamily="18" charset="2"/>
                          </a:rPr>
                          <m:t>𝑐𝑜𝑠</m:t>
                        </m:r>
                        <m:sSub>
                          <m:sSubPr>
                            <m:ctrlP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sSubPr>
                          <m:e>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e>
                          <m:sub>
                            <m:r>
                              <a:rPr lang="en-US" sz="1600" b="0" i="1" smtClean="0">
                                <a:latin typeface="Cambria Math" panose="02040503050406030204" pitchFamily="18" charset="0"/>
                                <a:cs typeface="Times New Roman" panose="02020603050405020304" pitchFamily="18" charset="0"/>
                                <a:sym typeface="Symbol" panose="05050102010706020507" pitchFamily="18" charset="2"/>
                              </a:rPr>
                              <m:t>0</m:t>
                            </m:r>
                          </m:sub>
                        </m:sSub>
                      </m:den>
                    </m:f>
                  </m:oMath>
                </a14:m>
                <a:endParaRPr lang="en-IN" sz="1600" dirty="0">
                  <a:latin typeface="Times New Roman" panose="02020603050405020304" pitchFamily="18" charset="0"/>
                  <a:cs typeface="Times New Roman" panose="02020603050405020304" pitchFamily="18" charset="0"/>
                  <a:sym typeface="Symbol" panose="05050102010706020507" pitchFamily="18" charset="2"/>
                </a:endParaRPr>
              </a:p>
              <a:p>
                <a:pPr marL="0" indent="0" algn="just">
                  <a:buNone/>
                </a:pPr>
                <a:r>
                  <a:rPr lang="en-IN" sz="1600" dirty="0">
                    <a:latin typeface="Times New Roman" panose="02020603050405020304" pitchFamily="18" charset="0"/>
                    <a:cs typeface="Times New Roman" panose="02020603050405020304" pitchFamily="18" charset="0"/>
                    <a:sym typeface="Symbol" panose="05050102010706020507" pitchFamily="18" charset="2"/>
                  </a:rPr>
                  <a:t>By Rearranging,</a:t>
                </a:r>
              </a:p>
              <a:p>
                <a:pPr marL="0" indent="0" algn="just">
                  <a:buNone/>
                </a:pPr>
                <a:r>
                  <a:rPr lang="en-US" sz="1600" b="0" dirty="0">
                    <a:cs typeface="Times New Roman" panose="02020603050405020304" pitchFamily="18" charset="0"/>
                    <a:sym typeface="Symbol" panose="05050102010706020507" pitchFamily="18" charset="2"/>
                  </a:rPr>
                  <a:t>		</a:t>
                </a:r>
                <a14:m>
                  <m:oMath xmlns:m="http://schemas.openxmlformats.org/officeDocument/2006/math">
                    <m:r>
                      <a:rPr lang="en-US" sz="1600" b="0" i="1" smtClean="0">
                        <a:latin typeface="Cambria Math" panose="02040503050406030204" pitchFamily="18" charset="0"/>
                        <a:cs typeface="Times New Roman" panose="02020603050405020304" pitchFamily="18" charset="0"/>
                        <a:sym typeface="Symbol" panose="05050102010706020507" pitchFamily="18" charset="2"/>
                      </a:rPr>
                      <m:t>𝑐𝑜𝑠</m:t>
                    </m:r>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 </m:t>
                    </m:r>
                    <m:f>
                      <m:fPr>
                        <m:ctrlPr>
                          <a:rPr lang="en-US" sz="1600" b="0" i="1" smtClean="0">
                            <a:latin typeface="Cambria Math" panose="02040503050406030204" pitchFamily="18" charset="0"/>
                            <a:cs typeface="Times New Roman" panose="02020603050405020304" pitchFamily="18" charset="0"/>
                            <a:sym typeface="Symbol" panose="05050102010706020507" pitchFamily="18" charset="2"/>
                          </a:rPr>
                        </m:ctrlPr>
                      </m:fPr>
                      <m:num>
                        <m:r>
                          <a:rPr lang="en-US" sz="1600" b="0" i="1" smtClean="0">
                            <a:latin typeface="Cambria Math" panose="02040503050406030204" pitchFamily="18" charset="0"/>
                            <a:cs typeface="Times New Roman" panose="02020603050405020304" pitchFamily="18" charset="0"/>
                            <a:sym typeface="Symbol" panose="05050102010706020507" pitchFamily="18" charset="2"/>
                          </a:rPr>
                          <m:t>𝐿</m:t>
                        </m:r>
                      </m:num>
                      <m:den>
                        <m:sSub>
                          <m:sSubPr>
                            <m:ctrlPr>
                              <a:rPr lang="en-US" sz="1600" b="0" i="1" smtClean="0">
                                <a:latin typeface="Cambria Math" panose="02040503050406030204" pitchFamily="18" charset="0"/>
                                <a:cs typeface="Times New Roman" panose="02020603050405020304" pitchFamily="18" charset="0"/>
                                <a:sym typeface="Symbol" panose="05050102010706020507" pitchFamily="18" charset="2"/>
                              </a:rPr>
                            </m:ctrlPr>
                          </m:sSubPr>
                          <m:e>
                            <m:r>
                              <a:rPr lang="en-US" sz="1600" b="0" i="1" smtClean="0">
                                <a:latin typeface="Cambria Math" panose="02040503050406030204" pitchFamily="18" charset="0"/>
                                <a:cs typeface="Times New Roman" panose="02020603050405020304" pitchFamily="18" charset="0"/>
                                <a:sym typeface="Symbol" panose="05050102010706020507" pitchFamily="18" charset="2"/>
                              </a:rPr>
                              <m:t>𝐿</m:t>
                            </m:r>
                          </m:e>
                          <m:sub>
                            <m:r>
                              <a:rPr lang="en-US" sz="1600" b="0" i="1" smtClean="0">
                                <a:latin typeface="Cambria Math" panose="02040503050406030204" pitchFamily="18" charset="0"/>
                                <a:cs typeface="Times New Roman" panose="02020603050405020304" pitchFamily="18" charset="0"/>
                                <a:sym typeface="Symbol" panose="05050102010706020507" pitchFamily="18" charset="2"/>
                              </a:rPr>
                              <m:t>0</m:t>
                            </m:r>
                          </m:sub>
                        </m:sSub>
                      </m:den>
                    </m:f>
                    <m:r>
                      <a:rPr lang="en-US" sz="1600" b="0" i="1" smtClean="0">
                        <a:latin typeface="Cambria Math" panose="02040503050406030204" pitchFamily="18" charset="0"/>
                        <a:cs typeface="Times New Roman" panose="02020603050405020304" pitchFamily="18" charset="0"/>
                        <a:sym typeface="Symbol" panose="05050102010706020507" pitchFamily="18" charset="2"/>
                      </a:rPr>
                      <m:t> </m:t>
                    </m:r>
                    <m:sSub>
                      <m:sSubPr>
                        <m:ctrlPr>
                          <a:rPr lang="en-US" sz="1600" b="0" i="1" smtClean="0">
                            <a:latin typeface="Cambria Math" panose="02040503050406030204" pitchFamily="18" charset="0"/>
                            <a:cs typeface="Times New Roman" panose="02020603050405020304" pitchFamily="18" charset="0"/>
                            <a:sym typeface="Symbol" panose="05050102010706020507" pitchFamily="18" charset="2"/>
                          </a:rPr>
                        </m:ctrlPr>
                      </m:sSubPr>
                      <m:e>
                        <m:r>
                          <a:rPr lang="en-US" sz="1600" b="0" i="1" smtClean="0">
                            <a:latin typeface="Cambria Math" panose="02040503050406030204" pitchFamily="18" charset="0"/>
                            <a:cs typeface="Times New Roman" panose="02020603050405020304" pitchFamily="18" charset="0"/>
                            <a:sym typeface="Symbol" panose="05050102010706020507" pitchFamily="18" charset="2"/>
                          </a:rPr>
                          <m:t>𝑐𝑜𝑠</m:t>
                        </m:r>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e>
                      <m:sub>
                        <m:r>
                          <a:rPr lang="en-US" sz="1600" b="0" i="1" smtClean="0">
                            <a:latin typeface="Cambria Math" panose="02040503050406030204" pitchFamily="18" charset="0"/>
                            <a:cs typeface="Times New Roman" panose="02020603050405020304" pitchFamily="18" charset="0"/>
                            <a:sym typeface="Symbol" panose="05050102010706020507" pitchFamily="18" charset="2"/>
                          </a:rPr>
                          <m:t>0</m:t>
                        </m:r>
                      </m:sub>
                    </m:sSub>
                  </m:oMath>
                </a14:m>
                <a:r>
                  <a:rPr lang="en-IN" sz="1600" dirty="0">
                    <a:latin typeface="Times New Roman" panose="02020603050405020304" pitchFamily="18" charset="0"/>
                    <a:cs typeface="Times New Roman" panose="02020603050405020304" pitchFamily="18" charset="0"/>
                    <a:sym typeface="Symbol" panose="05050102010706020507" pitchFamily="18" charset="2"/>
                  </a:rPr>
                  <a:t> ……………………………. (10)	</a:t>
                </a:r>
              </a:p>
              <a:p>
                <a:pPr marL="0" indent="0" algn="just">
                  <a:buNone/>
                </a:pPr>
                <a:r>
                  <a:rPr lang="en-IN" sz="1600" dirty="0">
                    <a:latin typeface="Times New Roman" panose="02020603050405020304" pitchFamily="18" charset="0"/>
                    <a:cs typeface="Times New Roman" panose="02020603050405020304" pitchFamily="18" charset="0"/>
                    <a:sym typeface="Symbol" panose="05050102010706020507" pitchFamily="18" charset="2"/>
                  </a:rPr>
                  <a:t>Where, Contraction Factor ()</a:t>
                </a:r>
              </a:p>
              <a:p>
                <a:pPr marL="0" indent="0" algn="just">
                  <a:buNone/>
                </a:pPr>
                <a14:m>
                  <m:oMathPara xmlns:m="http://schemas.openxmlformats.org/officeDocument/2006/math">
                    <m:oMath>
                      <m:r>
                        <a:rPr lang="en-IN" sz="160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𝜀</m:t>
                      </m:r>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 </m:t>
                      </m:r>
                      <m:f>
                        <m:fPr>
                          <m:ctrlP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fPr>
                        <m:num>
                          <m:sSub>
                            <m:sSubPr>
                              <m:ctrlP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sSubPr>
                            <m:e>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𝐿</m:t>
                              </m:r>
                            </m:e>
                            <m:sub>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0</m:t>
                              </m:r>
                            </m:sub>
                          </m:sSub>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m:t>
                          </m:r>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𝐿</m:t>
                          </m:r>
                        </m:num>
                        <m:den>
                          <m:sSub>
                            <m:sSubPr>
                              <m:ctrlP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sSubPr>
                            <m:e>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𝐿</m:t>
                              </m:r>
                            </m:e>
                            <m:sub>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0</m:t>
                              </m:r>
                            </m:sub>
                          </m:sSub>
                        </m:den>
                      </m:f>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=1 − </m:t>
                      </m:r>
                      <m:f>
                        <m:fPr>
                          <m:ctrlP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fPr>
                        <m:num>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𝐿</m:t>
                          </m:r>
                        </m:num>
                        <m:den>
                          <m:sSub>
                            <m:sSubPr>
                              <m:ctrlP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sSubPr>
                            <m:e>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𝐿</m:t>
                              </m:r>
                            </m:e>
                            <m:sub>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0</m:t>
                              </m:r>
                            </m:sub>
                          </m:sSub>
                        </m:den>
                      </m:f>
                    </m:oMath>
                  </m:oMathPara>
                </a14:m>
                <a:endParaRPr lang="en-IN" sz="1600" dirty="0">
                  <a:latin typeface="Times New Roman" panose="02020603050405020304" pitchFamily="18" charset="0"/>
                  <a:cs typeface="Times New Roman" panose="02020603050405020304" pitchFamily="18" charset="0"/>
                  <a:sym typeface="Symbol" panose="05050102010706020507" pitchFamily="18" charset="2"/>
                </a:endParaRPr>
              </a:p>
            </p:txBody>
          </p:sp>
        </mc:Choice>
        <mc:Fallback xmlns="">
          <p:sp>
            <p:nvSpPr>
              <p:cNvPr id="3" name="Content Placeholder 2">
                <a:extLst>
                  <a:ext uri="{FF2B5EF4-FFF2-40B4-BE49-F238E27FC236}">
                    <a16:creationId xmlns:a16="http://schemas.microsoft.com/office/drawing/2014/main" id="{2F78D876-251E-85C5-6A7D-BE0697549C31}"/>
                  </a:ext>
                </a:extLst>
              </p:cNvPr>
              <p:cNvSpPr>
                <a:spLocks noGrp="1" noRot="1" noChangeAspect="1" noMove="1" noResize="1" noEditPoints="1" noAdjustHandles="1" noChangeArrowheads="1" noChangeShapeType="1" noTextEdit="1"/>
              </p:cNvSpPr>
              <p:nvPr>
                <p:ph idx="1"/>
              </p:nvPr>
            </p:nvSpPr>
            <p:spPr>
              <a:xfrm>
                <a:off x="6373281" y="1393475"/>
                <a:ext cx="5433054" cy="5106956"/>
              </a:xfrm>
              <a:blipFill>
                <a:blip r:embed="rId2"/>
                <a:stretch>
                  <a:fillRect l="-448" t="-836" r="-336"/>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C9178E7A-19B5-2D3B-5C12-C52417669B35}"/>
                  </a:ext>
                </a:extLst>
              </p:cNvPr>
              <p:cNvSpPr txBox="1"/>
              <p:nvPr/>
            </p:nvSpPr>
            <p:spPr>
              <a:xfrm>
                <a:off x="1663900" y="1466151"/>
                <a:ext cx="4746232" cy="4942059"/>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Diff. eq (2) &amp; eq (5) w. r. t. </a:t>
                </a:r>
                <a:r>
                  <a:rPr lang="en-IN" sz="1600" dirty="0">
                    <a:latin typeface="Times New Roman" panose="02020603050405020304" pitchFamily="18" charset="0"/>
                    <a:cs typeface="Times New Roman" panose="02020603050405020304" pitchFamily="18" charset="0"/>
                    <a:sym typeface="Symbol" panose="05050102010706020507" pitchFamily="18" charset="2"/>
                  </a:rPr>
                  <a:t> </a:t>
                </a:r>
              </a:p>
              <a:p>
                <a:r>
                  <a:rPr lang="en-IN" sz="1600" dirty="0">
                    <a:cs typeface="Times New Roman" panose="02020603050405020304" pitchFamily="18" charset="0"/>
                    <a:sym typeface="Symbol" panose="05050102010706020507" pitchFamily="18" charset="2"/>
                  </a:rPr>
                  <a:t>	</a:t>
                </a:r>
                <a14:m>
                  <m:oMath xmlns:m="http://schemas.openxmlformats.org/officeDocument/2006/math">
                    <m:f>
                      <m:fPr>
                        <m:ctrlPr>
                          <a:rPr lang="en-US" b="0" i="1" smtClean="0">
                            <a:latin typeface="Cambria Math" panose="02040503050406030204" pitchFamily="18" charset="0"/>
                            <a:cs typeface="Times New Roman" panose="02020603050405020304" pitchFamily="18" charset="0"/>
                            <a:sym typeface="Symbol" panose="05050102010706020507" pitchFamily="18" charset="2"/>
                          </a:rPr>
                        </m:ctrlPr>
                      </m:fPr>
                      <m:num>
                        <m:r>
                          <a:rPr lang="en-US" b="0" i="1" smtClean="0">
                            <a:latin typeface="Cambria Math" panose="02040503050406030204" pitchFamily="18" charset="0"/>
                            <a:cs typeface="Times New Roman" panose="02020603050405020304" pitchFamily="18" charset="0"/>
                            <a:sym typeface="Symbol" panose="05050102010706020507" pitchFamily="18" charset="2"/>
                          </a:rPr>
                          <m:t>𝑑𝐿</m:t>
                        </m:r>
                      </m:num>
                      <m:den>
                        <m:r>
                          <a:rPr lang="en-US" b="0" i="1" smtClean="0">
                            <a:latin typeface="Cambria Math" panose="02040503050406030204" pitchFamily="18" charset="0"/>
                            <a:cs typeface="Times New Roman" panose="02020603050405020304" pitchFamily="18" charset="0"/>
                            <a:sym typeface="Symbol" panose="05050102010706020507" pitchFamily="18" charset="2"/>
                          </a:rPr>
                          <m:t>𝑑</m:t>
                        </m:r>
                        <m:r>
                          <a:rPr lang="en-US"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den>
                    </m:f>
                    <m:r>
                      <a:rPr lang="en-US" b="0" i="1" smtClean="0">
                        <a:latin typeface="Cambria Math" panose="02040503050406030204" pitchFamily="18" charset="0"/>
                        <a:cs typeface="Times New Roman" panose="02020603050405020304" pitchFamily="18" charset="0"/>
                        <a:sym typeface="Symbol" panose="05050102010706020507" pitchFamily="18" charset="2"/>
                      </a:rPr>
                      <m:t>=−</m:t>
                    </m:r>
                    <m:r>
                      <a:rPr lang="en-US" b="0" i="1" smtClean="0">
                        <a:latin typeface="Cambria Math" panose="02040503050406030204" pitchFamily="18" charset="0"/>
                        <a:cs typeface="Times New Roman" panose="02020603050405020304" pitchFamily="18" charset="0"/>
                        <a:sym typeface="Symbol" panose="05050102010706020507" pitchFamily="18" charset="2"/>
                      </a:rPr>
                      <m:t>𝑏𝑠𝑖𝑛</m:t>
                    </m:r>
                    <m:r>
                      <a:rPr lang="en-US"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oMath>
                </a14:m>
                <a:r>
                  <a:rPr lang="en-IN" sz="1600" dirty="0">
                    <a:latin typeface="Times New Roman" panose="02020603050405020304" pitchFamily="18" charset="0"/>
                    <a:cs typeface="Times New Roman" panose="02020603050405020304" pitchFamily="18" charset="0"/>
                    <a:sym typeface="Symbol" panose="05050102010706020507" pitchFamily="18" charset="2"/>
                  </a:rPr>
                  <a:t> …….…..……………………. (6)</a:t>
                </a:r>
                <a:endParaRPr lang="en-IN"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sym typeface="Symbol" panose="05050102010706020507" pitchFamily="18" charset="2"/>
                </a:endParaRPr>
              </a:p>
              <a:p>
                <a:r>
                  <a:rPr lang="en-IN" sz="1600" dirty="0">
                    <a:latin typeface="Times New Roman" panose="02020603050405020304" pitchFamily="18" charset="0"/>
                    <a:cs typeface="Times New Roman" panose="02020603050405020304" pitchFamily="18" charset="0"/>
                    <a:sym typeface="Symbol" panose="05050102010706020507" pitchFamily="18" charset="2"/>
                  </a:rPr>
                  <a:t>	</a:t>
                </a:r>
                <a14:m>
                  <m:oMath xmlns:m="http://schemas.openxmlformats.org/officeDocument/2006/math">
                    <m:f>
                      <m:fPr>
                        <m:ctrlPr>
                          <a:rPr lang="en-US" b="0" i="1" smtClean="0">
                            <a:latin typeface="Cambria Math" panose="02040503050406030204" pitchFamily="18" charset="0"/>
                            <a:cs typeface="Times New Roman" panose="02020603050405020304" pitchFamily="18" charset="0"/>
                            <a:sym typeface="Symbol" panose="05050102010706020507" pitchFamily="18" charset="2"/>
                          </a:rPr>
                        </m:ctrlPr>
                      </m:fPr>
                      <m:num>
                        <m:r>
                          <a:rPr lang="en-US" b="0" i="1" smtClean="0">
                            <a:latin typeface="Cambria Math" panose="02040503050406030204" pitchFamily="18" charset="0"/>
                            <a:cs typeface="Times New Roman" panose="02020603050405020304" pitchFamily="18" charset="0"/>
                            <a:sym typeface="Symbol" panose="05050102010706020507" pitchFamily="18" charset="2"/>
                          </a:rPr>
                          <m:t>𝑑𝑉</m:t>
                        </m:r>
                      </m:num>
                      <m:den>
                        <m:r>
                          <a:rPr lang="en-US" b="0" i="1" smtClean="0">
                            <a:latin typeface="Cambria Math" panose="02040503050406030204" pitchFamily="18" charset="0"/>
                            <a:cs typeface="Times New Roman" panose="02020603050405020304" pitchFamily="18" charset="0"/>
                            <a:sym typeface="Symbol" panose="05050102010706020507" pitchFamily="18" charset="2"/>
                          </a:rPr>
                          <m:t>𝑑</m:t>
                        </m:r>
                        <m:r>
                          <a:rPr lang="en-US"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den>
                    </m:f>
                    <m:r>
                      <a:rPr lang="en-US" b="0" i="1" smtClean="0">
                        <a:latin typeface="Cambria Math" panose="02040503050406030204" pitchFamily="18" charset="0"/>
                        <a:cs typeface="Times New Roman" panose="02020603050405020304" pitchFamily="18" charset="0"/>
                        <a:sym typeface="Symbol" panose="05050102010706020507" pitchFamily="18" charset="2"/>
                      </a:rPr>
                      <m:t>= </m:t>
                    </m:r>
                    <m:f>
                      <m:fPr>
                        <m:ctrlPr>
                          <a:rPr lang="en-US" b="0" i="1" smtClean="0">
                            <a:latin typeface="Cambria Math" panose="02040503050406030204" pitchFamily="18" charset="0"/>
                            <a:cs typeface="Times New Roman" panose="02020603050405020304" pitchFamily="18" charset="0"/>
                            <a:sym typeface="Symbol" panose="05050102010706020507" pitchFamily="18" charset="2"/>
                          </a:rPr>
                        </m:ctrlPr>
                      </m:fPr>
                      <m:num>
                        <m:sSup>
                          <m:sSupPr>
                            <m:ctrlPr>
                              <a:rPr lang="en-US" b="0" i="1" smtClean="0">
                                <a:latin typeface="Cambria Math" panose="02040503050406030204" pitchFamily="18" charset="0"/>
                                <a:cs typeface="Times New Roman" panose="02020603050405020304" pitchFamily="18" charset="0"/>
                                <a:sym typeface="Symbol" panose="05050102010706020507" pitchFamily="18" charset="2"/>
                              </a:rPr>
                            </m:ctrlPr>
                          </m:sSupPr>
                          <m:e>
                            <m:r>
                              <a:rPr lang="en-US" b="0" i="1" smtClean="0">
                                <a:latin typeface="Cambria Math" panose="02040503050406030204" pitchFamily="18" charset="0"/>
                                <a:cs typeface="Times New Roman" panose="02020603050405020304" pitchFamily="18" charset="0"/>
                                <a:sym typeface="Symbol" panose="05050102010706020507" pitchFamily="18" charset="2"/>
                              </a:rPr>
                              <m:t>𝑏</m:t>
                            </m:r>
                          </m:e>
                          <m:sup>
                            <m:r>
                              <a:rPr lang="en-US" b="0" i="1" smtClean="0">
                                <a:latin typeface="Cambria Math" panose="02040503050406030204" pitchFamily="18" charset="0"/>
                                <a:cs typeface="Times New Roman" panose="02020603050405020304" pitchFamily="18" charset="0"/>
                                <a:sym typeface="Symbol" panose="05050102010706020507" pitchFamily="18" charset="2"/>
                              </a:rPr>
                              <m:t>3</m:t>
                            </m:r>
                          </m:sup>
                        </m:sSup>
                      </m:num>
                      <m:den>
                        <m:r>
                          <a:rPr lang="en-US" b="0" i="1" smtClean="0">
                            <a:latin typeface="Cambria Math" panose="02040503050406030204" pitchFamily="18" charset="0"/>
                            <a:cs typeface="Times New Roman" panose="02020603050405020304" pitchFamily="18" charset="0"/>
                            <a:sym typeface="Symbol" panose="05050102010706020507" pitchFamily="18" charset="2"/>
                          </a:rPr>
                          <m:t>4</m:t>
                        </m:r>
                        <m:r>
                          <a:rPr lang="en-US"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𝜋</m:t>
                        </m:r>
                        <m:sSup>
                          <m:sSupPr>
                            <m:ctrlPr>
                              <a:rPr lang="en-US"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sSupPr>
                          <m:e>
                            <m:r>
                              <a:rPr lang="en-US"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𝑛</m:t>
                            </m:r>
                          </m:e>
                          <m:sup>
                            <m:r>
                              <a:rPr lang="en-US"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2</m:t>
                            </m:r>
                          </m:sup>
                        </m:sSup>
                      </m:den>
                    </m:f>
                    <m:r>
                      <a:rPr lang="en-US" b="0" i="1" smtClean="0">
                        <a:latin typeface="Cambria Math" panose="02040503050406030204" pitchFamily="18" charset="0"/>
                        <a:cs typeface="Times New Roman" panose="02020603050405020304" pitchFamily="18" charset="0"/>
                        <a:sym typeface="Symbol" panose="05050102010706020507" pitchFamily="18" charset="2"/>
                      </a:rPr>
                      <m:t> ∗[3</m:t>
                    </m:r>
                    <m:sSup>
                      <m:sSupPr>
                        <m:ctrlPr>
                          <a:rPr lang="en-US" b="0" i="1" smtClean="0">
                            <a:latin typeface="Cambria Math" panose="02040503050406030204" pitchFamily="18" charset="0"/>
                            <a:cs typeface="Times New Roman" panose="02020603050405020304" pitchFamily="18" charset="0"/>
                            <a:sym typeface="Symbol" panose="05050102010706020507" pitchFamily="18" charset="2"/>
                          </a:rPr>
                        </m:ctrlPr>
                      </m:sSupPr>
                      <m:e>
                        <m:r>
                          <a:rPr lang="en-US" b="0" i="1" smtClean="0">
                            <a:latin typeface="Cambria Math" panose="02040503050406030204" pitchFamily="18" charset="0"/>
                            <a:cs typeface="Times New Roman" panose="02020603050405020304" pitchFamily="18" charset="0"/>
                            <a:sym typeface="Symbol" panose="05050102010706020507" pitchFamily="18" charset="2"/>
                          </a:rPr>
                          <m:t>𝑐𝑜𝑠</m:t>
                        </m:r>
                      </m:e>
                      <m:sup>
                        <m:r>
                          <a:rPr lang="en-US" b="0" i="1" smtClean="0">
                            <a:latin typeface="Cambria Math" panose="02040503050406030204" pitchFamily="18" charset="0"/>
                            <a:cs typeface="Times New Roman" panose="02020603050405020304" pitchFamily="18" charset="0"/>
                            <a:sym typeface="Symbol" panose="05050102010706020507" pitchFamily="18" charset="2"/>
                          </a:rPr>
                          <m:t>2</m:t>
                        </m:r>
                      </m:sup>
                    </m:sSup>
                    <m:r>
                      <a:rPr lang="en-US"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r>
                      <a:rPr lang="en-US"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 −1]</m:t>
                    </m:r>
                  </m:oMath>
                </a14:m>
                <a:r>
                  <a:rPr lang="en-IN" sz="1600" dirty="0">
                    <a:latin typeface="Times New Roman" panose="02020603050405020304" pitchFamily="18" charset="0"/>
                    <a:cs typeface="Times New Roman" panose="02020603050405020304" pitchFamily="18" charset="0"/>
                    <a:sym typeface="Symbol" panose="05050102010706020507" pitchFamily="18" charset="2"/>
                  </a:rPr>
                  <a:t> …….………. (7)</a:t>
                </a:r>
              </a:p>
              <a:p>
                <a:r>
                  <a:rPr lang="en-IN" sz="1600" dirty="0">
                    <a:latin typeface="Times New Roman" panose="02020603050405020304" pitchFamily="18" charset="0"/>
                    <a:cs typeface="Times New Roman" panose="02020603050405020304" pitchFamily="18" charset="0"/>
                    <a:sym typeface="Symbol" panose="05050102010706020507" pitchFamily="18" charset="2"/>
                  </a:rPr>
                  <a:t>Substitute the value of </a:t>
                </a:r>
                <a:r>
                  <a:rPr lang="en-IN" sz="1600" dirty="0" err="1">
                    <a:latin typeface="Times New Roman" panose="02020603050405020304" pitchFamily="18" charset="0"/>
                    <a:cs typeface="Times New Roman" panose="02020603050405020304" pitchFamily="18" charset="0"/>
                    <a:sym typeface="Symbol" panose="05050102010706020507" pitchFamily="18" charset="2"/>
                  </a:rPr>
                  <a:t>eq</a:t>
                </a:r>
                <a:r>
                  <a:rPr lang="en-IN" sz="1600" dirty="0">
                    <a:latin typeface="Times New Roman" panose="02020603050405020304" pitchFamily="18" charset="0"/>
                    <a:cs typeface="Times New Roman" panose="02020603050405020304" pitchFamily="18" charset="0"/>
                    <a:sym typeface="Symbol" panose="05050102010706020507" pitchFamily="18" charset="2"/>
                  </a:rPr>
                  <a:t> (6) &amp; </a:t>
                </a:r>
                <a:r>
                  <a:rPr lang="en-IN" sz="1600" dirty="0" err="1">
                    <a:latin typeface="Times New Roman" panose="02020603050405020304" pitchFamily="18" charset="0"/>
                    <a:cs typeface="Times New Roman" panose="02020603050405020304" pitchFamily="18" charset="0"/>
                    <a:sym typeface="Symbol" panose="05050102010706020507" pitchFamily="18" charset="2"/>
                  </a:rPr>
                  <a:t>eq</a:t>
                </a:r>
                <a:r>
                  <a:rPr lang="en-IN" sz="1600" dirty="0">
                    <a:latin typeface="Times New Roman" panose="02020603050405020304" pitchFamily="18" charset="0"/>
                    <a:cs typeface="Times New Roman" panose="02020603050405020304" pitchFamily="18" charset="0"/>
                    <a:sym typeface="Symbol" panose="05050102010706020507" pitchFamily="18" charset="2"/>
                  </a:rPr>
                  <a:t> (7) in </a:t>
                </a:r>
                <a:r>
                  <a:rPr lang="en-IN" sz="1600" dirty="0" err="1">
                    <a:latin typeface="Times New Roman" panose="02020603050405020304" pitchFamily="18" charset="0"/>
                    <a:cs typeface="Times New Roman" panose="02020603050405020304" pitchFamily="18" charset="0"/>
                    <a:sym typeface="Symbol" panose="05050102010706020507" pitchFamily="18" charset="2"/>
                  </a:rPr>
                  <a:t>eq</a:t>
                </a:r>
                <a:r>
                  <a:rPr lang="en-IN" sz="1600" dirty="0">
                    <a:latin typeface="Times New Roman" panose="02020603050405020304" pitchFamily="18" charset="0"/>
                    <a:cs typeface="Times New Roman" panose="02020603050405020304" pitchFamily="18" charset="0"/>
                    <a:sym typeface="Symbol" panose="05050102010706020507" pitchFamily="18" charset="2"/>
                  </a:rPr>
                  <a:t> (1)</a:t>
                </a:r>
              </a:p>
              <a:p>
                <a:r>
                  <a:rPr lang="en-IN" sz="1600" dirty="0">
                    <a:latin typeface="Times New Roman" panose="02020603050405020304" pitchFamily="18" charset="0"/>
                    <a:cs typeface="Times New Roman" panose="02020603050405020304" pitchFamily="18" charset="0"/>
                    <a:sym typeface="Symbol" panose="05050102010706020507" pitchFamily="18" charset="2"/>
                  </a:rPr>
                  <a:t>	</a:t>
                </a:r>
                <a14:m>
                  <m:oMath xmlns:m="http://schemas.openxmlformats.org/officeDocument/2006/math">
                    <m:r>
                      <a:rPr lang="en-US" b="0" i="1" smtClean="0">
                        <a:latin typeface="Cambria Math" panose="02040503050406030204" pitchFamily="18" charset="0"/>
                        <a:cs typeface="Times New Roman" panose="02020603050405020304" pitchFamily="18" charset="0"/>
                        <a:sym typeface="Symbol" panose="05050102010706020507" pitchFamily="18" charset="2"/>
                      </a:rPr>
                      <m:t>𝐹</m:t>
                    </m:r>
                    <m:r>
                      <a:rPr lang="en-US" b="0" i="1" smtClean="0">
                        <a:latin typeface="Cambria Math" panose="02040503050406030204" pitchFamily="18" charset="0"/>
                        <a:cs typeface="Times New Roman" panose="02020603050405020304" pitchFamily="18" charset="0"/>
                        <a:sym typeface="Symbol" panose="05050102010706020507" pitchFamily="18" charset="2"/>
                      </a:rPr>
                      <m:t>=−</m:t>
                    </m:r>
                    <m:sSup>
                      <m:sSupPr>
                        <m:ctrlPr>
                          <a:rPr lang="en-US" b="0" i="1" smtClean="0">
                            <a:latin typeface="Cambria Math" panose="02040503050406030204" pitchFamily="18" charset="0"/>
                            <a:cs typeface="Times New Roman" panose="02020603050405020304" pitchFamily="18" charset="0"/>
                            <a:sym typeface="Symbol" panose="05050102010706020507" pitchFamily="18" charset="2"/>
                          </a:rPr>
                        </m:ctrlPr>
                      </m:sSupPr>
                      <m:e>
                        <m:r>
                          <a:rPr lang="en-US" b="0" i="1" smtClean="0">
                            <a:latin typeface="Cambria Math" panose="02040503050406030204" pitchFamily="18" charset="0"/>
                            <a:cs typeface="Times New Roman" panose="02020603050405020304" pitchFamily="18" charset="0"/>
                            <a:sym typeface="Symbol" panose="05050102010706020507" pitchFamily="18" charset="2"/>
                          </a:rPr>
                          <m:t>𝑃</m:t>
                        </m:r>
                      </m:e>
                      <m:sup>
                        <m:r>
                          <a:rPr lang="en-US" b="0" i="1" smtClean="0">
                            <a:latin typeface="Cambria Math" panose="02040503050406030204" pitchFamily="18" charset="0"/>
                            <a:cs typeface="Times New Roman" panose="02020603050405020304" pitchFamily="18" charset="0"/>
                            <a:sym typeface="Symbol" panose="05050102010706020507" pitchFamily="18" charset="2"/>
                          </a:rPr>
                          <m:t>′</m:t>
                        </m:r>
                      </m:sup>
                    </m:sSup>
                    <m:r>
                      <a:rPr lang="en-US" b="0" i="1" smtClean="0">
                        <a:latin typeface="Cambria Math" panose="02040503050406030204" pitchFamily="18" charset="0"/>
                        <a:cs typeface="Times New Roman" panose="02020603050405020304" pitchFamily="18" charset="0"/>
                        <a:sym typeface="Symbol" panose="05050102010706020507" pitchFamily="18" charset="2"/>
                      </a:rPr>
                      <m:t>∗ </m:t>
                    </m:r>
                    <m:f>
                      <m:fPr>
                        <m:ctrlPr>
                          <a:rPr lang="en-US" b="0" i="1" smtClean="0">
                            <a:latin typeface="Cambria Math" panose="02040503050406030204" pitchFamily="18" charset="0"/>
                            <a:cs typeface="Times New Roman" panose="02020603050405020304" pitchFamily="18" charset="0"/>
                            <a:sym typeface="Symbol" panose="05050102010706020507" pitchFamily="18" charset="2"/>
                          </a:rPr>
                        </m:ctrlPr>
                      </m:fPr>
                      <m:num>
                        <m:r>
                          <a:rPr lang="en-US" b="0" i="1" smtClean="0">
                            <a:latin typeface="Cambria Math" panose="02040503050406030204" pitchFamily="18" charset="0"/>
                            <a:cs typeface="Times New Roman" panose="02020603050405020304" pitchFamily="18" charset="0"/>
                            <a:sym typeface="Symbol" panose="05050102010706020507" pitchFamily="18" charset="2"/>
                          </a:rPr>
                          <m:t>𝑑𝑉</m:t>
                        </m:r>
                      </m:num>
                      <m:den>
                        <m:r>
                          <a:rPr lang="en-US" b="0" i="1" smtClean="0">
                            <a:latin typeface="Cambria Math" panose="02040503050406030204" pitchFamily="18" charset="0"/>
                            <a:cs typeface="Times New Roman" panose="02020603050405020304" pitchFamily="18" charset="0"/>
                            <a:sym typeface="Symbol" panose="05050102010706020507" pitchFamily="18" charset="2"/>
                          </a:rPr>
                          <m:t>𝑑𝐿</m:t>
                        </m:r>
                      </m:den>
                    </m:f>
                    <m:r>
                      <a:rPr lang="en-US" b="0" i="1" smtClean="0">
                        <a:latin typeface="Cambria Math" panose="02040503050406030204" pitchFamily="18" charset="0"/>
                        <a:cs typeface="Times New Roman" panose="02020603050405020304" pitchFamily="18" charset="0"/>
                        <a:sym typeface="Symbol" panose="05050102010706020507" pitchFamily="18" charset="2"/>
                      </a:rPr>
                      <m:t>=−</m:t>
                    </m:r>
                    <m:sSup>
                      <m:sSupPr>
                        <m:ctrlPr>
                          <a:rPr lang="en-US" b="0" i="1" smtClean="0">
                            <a:latin typeface="Cambria Math" panose="02040503050406030204" pitchFamily="18" charset="0"/>
                            <a:cs typeface="Times New Roman" panose="02020603050405020304" pitchFamily="18" charset="0"/>
                            <a:sym typeface="Symbol" panose="05050102010706020507" pitchFamily="18" charset="2"/>
                          </a:rPr>
                        </m:ctrlPr>
                      </m:sSupPr>
                      <m:e>
                        <m:r>
                          <a:rPr lang="en-US" b="0" i="1" smtClean="0">
                            <a:latin typeface="Cambria Math" panose="02040503050406030204" pitchFamily="18" charset="0"/>
                            <a:cs typeface="Times New Roman" panose="02020603050405020304" pitchFamily="18" charset="0"/>
                            <a:sym typeface="Symbol" panose="05050102010706020507" pitchFamily="18" charset="2"/>
                          </a:rPr>
                          <m:t>𝑃</m:t>
                        </m:r>
                      </m:e>
                      <m:sup>
                        <m:r>
                          <a:rPr lang="en-US" b="0" i="1" smtClean="0">
                            <a:latin typeface="Cambria Math" panose="02040503050406030204" pitchFamily="18" charset="0"/>
                            <a:cs typeface="Times New Roman" panose="02020603050405020304" pitchFamily="18" charset="0"/>
                            <a:sym typeface="Symbol" panose="05050102010706020507" pitchFamily="18" charset="2"/>
                          </a:rPr>
                          <m:t>′</m:t>
                        </m:r>
                      </m:sup>
                    </m:sSup>
                    <m:r>
                      <a:rPr lang="en-US" b="0" i="1" smtClean="0">
                        <a:latin typeface="Cambria Math" panose="02040503050406030204" pitchFamily="18" charset="0"/>
                        <a:cs typeface="Times New Roman" panose="02020603050405020304" pitchFamily="18" charset="0"/>
                        <a:sym typeface="Symbol" panose="05050102010706020507" pitchFamily="18" charset="2"/>
                      </a:rPr>
                      <m:t>∗ </m:t>
                    </m:r>
                    <m:f>
                      <m:fPr>
                        <m:ctrlPr>
                          <a:rPr lang="en-US" b="0" i="1" smtClean="0">
                            <a:latin typeface="Cambria Math" panose="02040503050406030204" pitchFamily="18" charset="0"/>
                            <a:cs typeface="Times New Roman" panose="02020603050405020304" pitchFamily="18" charset="0"/>
                            <a:sym typeface="Symbol" panose="05050102010706020507" pitchFamily="18" charset="2"/>
                          </a:rPr>
                        </m:ctrlPr>
                      </m:fPr>
                      <m:num>
                        <m:f>
                          <m:fPr>
                            <m:ctrlPr>
                              <a:rPr lang="en-US" b="0" i="1" smtClean="0">
                                <a:latin typeface="Cambria Math" panose="02040503050406030204" pitchFamily="18" charset="0"/>
                                <a:cs typeface="Times New Roman" panose="02020603050405020304" pitchFamily="18" charset="0"/>
                                <a:sym typeface="Symbol" panose="05050102010706020507" pitchFamily="18" charset="2"/>
                              </a:rPr>
                            </m:ctrlPr>
                          </m:fPr>
                          <m:num>
                            <m:r>
                              <a:rPr lang="en-US" b="0" i="1" smtClean="0">
                                <a:latin typeface="Cambria Math" panose="02040503050406030204" pitchFamily="18" charset="0"/>
                                <a:cs typeface="Times New Roman" panose="02020603050405020304" pitchFamily="18" charset="0"/>
                                <a:sym typeface="Symbol" panose="05050102010706020507" pitchFamily="18" charset="2"/>
                              </a:rPr>
                              <m:t>𝑑𝑉</m:t>
                            </m:r>
                          </m:num>
                          <m:den>
                            <m:r>
                              <a:rPr lang="en-US" b="0" i="1" smtClean="0">
                                <a:latin typeface="Cambria Math" panose="02040503050406030204" pitchFamily="18" charset="0"/>
                                <a:cs typeface="Times New Roman" panose="02020603050405020304" pitchFamily="18" charset="0"/>
                                <a:sym typeface="Symbol" panose="05050102010706020507" pitchFamily="18" charset="2"/>
                              </a:rPr>
                              <m:t>𝑑</m:t>
                            </m:r>
                            <m:r>
                              <a:rPr lang="en-US"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den>
                        </m:f>
                      </m:num>
                      <m:den>
                        <m:f>
                          <m:fPr>
                            <m:ctrlPr>
                              <a:rPr lang="en-US" b="0" i="1" smtClean="0">
                                <a:latin typeface="Cambria Math" panose="02040503050406030204" pitchFamily="18" charset="0"/>
                                <a:cs typeface="Times New Roman" panose="02020603050405020304" pitchFamily="18" charset="0"/>
                                <a:sym typeface="Symbol" panose="05050102010706020507" pitchFamily="18" charset="2"/>
                              </a:rPr>
                            </m:ctrlPr>
                          </m:fPr>
                          <m:num>
                            <m:r>
                              <a:rPr lang="en-US" b="0" i="1" smtClean="0">
                                <a:latin typeface="Cambria Math" panose="02040503050406030204" pitchFamily="18" charset="0"/>
                                <a:cs typeface="Times New Roman" panose="02020603050405020304" pitchFamily="18" charset="0"/>
                                <a:sym typeface="Symbol" panose="05050102010706020507" pitchFamily="18" charset="2"/>
                              </a:rPr>
                              <m:t>𝑑𝐿</m:t>
                            </m:r>
                          </m:num>
                          <m:den>
                            <m:r>
                              <a:rPr lang="en-US" b="0" i="1" smtClean="0">
                                <a:latin typeface="Cambria Math" panose="02040503050406030204" pitchFamily="18" charset="0"/>
                                <a:cs typeface="Times New Roman" panose="02020603050405020304" pitchFamily="18" charset="0"/>
                                <a:sym typeface="Symbol" panose="05050102010706020507" pitchFamily="18" charset="2"/>
                              </a:rPr>
                              <m:t>𝑑</m:t>
                            </m:r>
                            <m:r>
                              <a:rPr lang="en-US"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den>
                        </m:f>
                      </m:den>
                    </m:f>
                  </m:oMath>
                </a14:m>
                <a:r>
                  <a:rPr lang="en-IN" sz="1600" dirty="0">
                    <a:latin typeface="Times New Roman" panose="02020603050405020304" pitchFamily="18" charset="0"/>
                    <a:cs typeface="Times New Roman" panose="02020603050405020304" pitchFamily="18" charset="0"/>
                    <a:sym typeface="Symbol" panose="05050102010706020507" pitchFamily="18" charset="2"/>
                  </a:rPr>
                  <a:t>		       </a:t>
                </a:r>
              </a:p>
              <a:p>
                <a:r>
                  <a:rPr lang="en-IN" sz="1600" dirty="0">
                    <a:latin typeface="Times New Roman" panose="02020603050405020304" pitchFamily="18" charset="0"/>
                    <a:cs typeface="Times New Roman" panose="02020603050405020304" pitchFamily="18" charset="0"/>
                  </a:rPr>
                  <a:t>After substituting and rearranging, we get:</a:t>
                </a:r>
              </a:p>
              <a:p>
                <a:r>
                  <a:rPr lang="en-IN" sz="1600" dirty="0">
                    <a:latin typeface="Times New Roman" panose="02020603050405020304" pitchFamily="18" charset="0"/>
                    <a:cs typeface="Times New Roman" panose="02020603050405020304" pitchFamily="18" charset="0"/>
                  </a:rPr>
                  <a:t>	</a:t>
                </a:r>
                <a14:m>
                  <m:oMath xmlns:m="http://schemas.openxmlformats.org/officeDocument/2006/math">
                    <m:r>
                      <a:rPr lang="en-US" b="0" i="1" smtClean="0">
                        <a:latin typeface="Cambria Math" panose="02040503050406030204" pitchFamily="18" charset="0"/>
                        <a:cs typeface="Times New Roman" panose="02020603050405020304" pitchFamily="18" charset="0"/>
                      </a:rPr>
                      <m:t>𝐹</m:t>
                    </m:r>
                    <m:r>
                      <a:rPr lang="en-US" b="0" i="1" smtClean="0">
                        <a:latin typeface="Cambria Math" panose="02040503050406030204" pitchFamily="18" charset="0"/>
                        <a:cs typeface="Times New Roman" panose="02020603050405020304" pitchFamily="18" charset="0"/>
                      </a:rPr>
                      <m:t>= </m:t>
                    </m:r>
                    <m:f>
                      <m:fPr>
                        <m:ctrlPr>
                          <a:rPr lang="en-US" b="0" i="1" smtClean="0">
                            <a:latin typeface="Cambria Math" panose="02040503050406030204" pitchFamily="18" charset="0"/>
                            <a:cs typeface="Times New Roman" panose="02020603050405020304" pitchFamily="18" charset="0"/>
                          </a:rPr>
                        </m:ctrlPr>
                      </m:fPr>
                      <m:num>
                        <m:sSup>
                          <m:sSupPr>
                            <m:ctrlPr>
                              <a:rPr lang="en-US" b="0" i="1" smtClean="0">
                                <a:latin typeface="Cambria Math" panose="02040503050406030204" pitchFamily="18" charset="0"/>
                                <a:cs typeface="Times New Roman" panose="02020603050405020304" pitchFamily="18" charset="0"/>
                              </a:rPr>
                            </m:ctrlPr>
                          </m:sSupPr>
                          <m:e>
                            <m:r>
                              <a:rPr lang="en-US" b="0" i="1" smtClean="0">
                                <a:latin typeface="Cambria Math" panose="02040503050406030204" pitchFamily="18" charset="0"/>
                                <a:cs typeface="Times New Roman" panose="02020603050405020304" pitchFamily="18" charset="0"/>
                              </a:rPr>
                              <m:t>𝑃</m:t>
                            </m:r>
                          </m:e>
                          <m:sup>
                            <m:r>
                              <a:rPr lang="en-US" b="0" i="1" smtClean="0">
                                <a:latin typeface="Cambria Math" panose="02040503050406030204" pitchFamily="18" charset="0"/>
                                <a:cs typeface="Times New Roman" panose="02020603050405020304" pitchFamily="18" charset="0"/>
                              </a:rPr>
                              <m:t>′</m:t>
                            </m:r>
                          </m:sup>
                        </m:sSup>
                        <m:sSup>
                          <m:sSupPr>
                            <m:ctrlPr>
                              <a:rPr lang="en-US" b="0" i="1" smtClean="0">
                                <a:latin typeface="Cambria Math" panose="02040503050406030204" pitchFamily="18" charset="0"/>
                                <a:cs typeface="Times New Roman" panose="02020603050405020304" pitchFamily="18" charset="0"/>
                              </a:rPr>
                            </m:ctrlPr>
                          </m:sSupPr>
                          <m:e>
                            <m:r>
                              <a:rPr lang="en-US" b="0" i="1" smtClean="0">
                                <a:latin typeface="Cambria Math" panose="02040503050406030204" pitchFamily="18" charset="0"/>
                                <a:cs typeface="Times New Roman" panose="02020603050405020304" pitchFamily="18" charset="0"/>
                              </a:rPr>
                              <m:t>𝐷</m:t>
                            </m:r>
                          </m:e>
                          <m:sup>
                            <m:r>
                              <a:rPr lang="en-US" b="0" i="1" smtClean="0">
                                <a:latin typeface="Cambria Math" panose="02040503050406030204" pitchFamily="18" charset="0"/>
                                <a:cs typeface="Times New Roman" panose="02020603050405020304" pitchFamily="18" charset="0"/>
                              </a:rPr>
                              <m:t>2</m:t>
                            </m:r>
                          </m:sup>
                        </m:sSup>
                        <m:r>
                          <a:rPr lang="en-US" b="0" i="1" smtClean="0">
                            <a:latin typeface="Cambria Math" panose="02040503050406030204" pitchFamily="18" charset="0"/>
                            <a:cs typeface="Times New Roman" panose="02020603050405020304" pitchFamily="18" charset="0"/>
                          </a:rPr>
                          <m:t> (3</m:t>
                        </m:r>
                        <m:sSup>
                          <m:sSupPr>
                            <m:ctrlPr>
                              <a:rPr lang="en-US" b="0" i="1" smtClean="0">
                                <a:latin typeface="Cambria Math" panose="02040503050406030204" pitchFamily="18" charset="0"/>
                                <a:cs typeface="Times New Roman" panose="02020603050405020304" pitchFamily="18" charset="0"/>
                              </a:rPr>
                            </m:ctrlPr>
                          </m:sSupPr>
                          <m:e>
                            <m:r>
                              <a:rPr lang="en-US" b="0" i="1" smtClean="0">
                                <a:latin typeface="Cambria Math" panose="02040503050406030204" pitchFamily="18" charset="0"/>
                                <a:cs typeface="Times New Roman" panose="02020603050405020304" pitchFamily="18" charset="0"/>
                              </a:rPr>
                              <m:t>𝑐𝑜𝑠</m:t>
                            </m:r>
                          </m:e>
                          <m:sup>
                            <m:r>
                              <a:rPr lang="en-US" b="0" i="1" smtClean="0">
                                <a:latin typeface="Cambria Math" panose="02040503050406030204" pitchFamily="18" charset="0"/>
                                <a:cs typeface="Times New Roman" panose="02020603050405020304" pitchFamily="18" charset="0"/>
                              </a:rPr>
                              <m:t>2</m:t>
                            </m:r>
                          </m:sup>
                        </m:sSup>
                        <m:r>
                          <a:rPr lang="en-US" b="0" i="1" smtClean="0">
                            <a:latin typeface="Cambria Math" panose="02040503050406030204" pitchFamily="18" charset="0"/>
                            <a:ea typeface="Cambria Math" panose="02040503050406030204" pitchFamily="18" charset="0"/>
                            <a:cs typeface="Times New Roman" panose="02020603050405020304" pitchFamily="18" charset="0"/>
                          </a:rPr>
                          <m:t>𝜃</m:t>
                        </m:r>
                        <m:r>
                          <a:rPr lang="en-US" b="0" i="1" smtClean="0">
                            <a:latin typeface="Cambria Math" panose="02040503050406030204" pitchFamily="18" charset="0"/>
                            <a:ea typeface="Cambria Math" panose="02040503050406030204" pitchFamily="18" charset="0"/>
                            <a:cs typeface="Times New Roman" panose="02020603050405020304" pitchFamily="18" charset="0"/>
                          </a:rPr>
                          <m:t> −1)</m:t>
                        </m:r>
                      </m:num>
                      <m:den>
                        <m:r>
                          <a:rPr lang="en-US" b="0" i="1" smtClean="0">
                            <a:latin typeface="Cambria Math" panose="02040503050406030204" pitchFamily="18" charset="0"/>
                            <a:cs typeface="Times New Roman" panose="02020603050405020304" pitchFamily="18" charset="0"/>
                          </a:rPr>
                          <m:t>4</m:t>
                        </m:r>
                        <m:r>
                          <a:rPr lang="en-US" b="0" i="1" smtClean="0">
                            <a:latin typeface="Cambria Math" panose="02040503050406030204" pitchFamily="18" charset="0"/>
                            <a:ea typeface="Cambria Math" panose="02040503050406030204" pitchFamily="18" charset="0"/>
                            <a:cs typeface="Times New Roman" panose="02020603050405020304" pitchFamily="18" charset="0"/>
                          </a:rPr>
                          <m:t>𝜋</m:t>
                        </m:r>
                        <m:sSup>
                          <m:sSupPr>
                            <m:ctrlPr>
                              <a:rPr lang="en-US" b="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en-US" b="0" i="1" smtClean="0">
                                <a:latin typeface="Cambria Math" panose="02040503050406030204" pitchFamily="18" charset="0"/>
                                <a:ea typeface="Cambria Math" panose="02040503050406030204" pitchFamily="18" charset="0"/>
                                <a:cs typeface="Times New Roman" panose="02020603050405020304" pitchFamily="18" charset="0"/>
                              </a:rPr>
                              <m:t>𝑛</m:t>
                            </m:r>
                          </m:e>
                          <m:sup>
                            <m:r>
                              <a:rPr lang="en-US" b="0" i="1" smtClean="0">
                                <a:latin typeface="Cambria Math" panose="02040503050406030204" pitchFamily="18" charset="0"/>
                                <a:ea typeface="Cambria Math" panose="02040503050406030204" pitchFamily="18" charset="0"/>
                                <a:cs typeface="Times New Roman" panose="02020603050405020304" pitchFamily="18" charset="0"/>
                              </a:rPr>
                              <m:t>2</m:t>
                            </m:r>
                          </m:sup>
                        </m:sSup>
                      </m:den>
                    </m:f>
                  </m:oMath>
                </a14:m>
                <a:r>
                  <a:rPr lang="en-IN" sz="1600" dirty="0">
                    <a:latin typeface="Times New Roman" panose="02020603050405020304" pitchFamily="18" charset="0"/>
                    <a:cs typeface="Times New Roman" panose="02020603050405020304" pitchFamily="18" charset="0"/>
                  </a:rPr>
                  <a:t> ……………………... (8)</a:t>
                </a:r>
              </a:p>
              <a:p>
                <a:r>
                  <a:rPr lang="en-IN" sz="1600" dirty="0">
                    <a:latin typeface="Times New Roman" panose="02020603050405020304" pitchFamily="18" charset="0"/>
                    <a:cs typeface="Times New Roman" panose="02020603050405020304" pitchFamily="18" charset="0"/>
                  </a:rPr>
                  <a:t>	</a:t>
                </a:r>
                <a:r>
                  <a:rPr lang="en-US" b="0" dirty="0">
                    <a:cs typeface="Times New Roman" panose="02020603050405020304" pitchFamily="18" charset="0"/>
                    <a:sym typeface="Symbol" panose="05050102010706020507" pitchFamily="18" charset="2"/>
                  </a:rPr>
                  <a:t> </a:t>
                </a:r>
                <a14:m>
                  <m:oMath xmlns:m="http://schemas.openxmlformats.org/officeDocument/2006/math">
                    <m:r>
                      <a:rPr lang="en-US" b="0" i="1" smtClean="0">
                        <a:latin typeface="Cambria Math" panose="02040503050406030204" pitchFamily="18" charset="0"/>
                        <a:cs typeface="Times New Roman" panose="02020603050405020304" pitchFamily="18" charset="0"/>
                        <a:sym typeface="Symbol" panose="05050102010706020507" pitchFamily="18" charset="2"/>
                      </a:rPr>
                      <m:t>𝐷</m:t>
                    </m:r>
                    <m:r>
                      <a:rPr lang="en-US" b="0" i="1" smtClean="0">
                        <a:latin typeface="Cambria Math" panose="02040503050406030204" pitchFamily="18" charset="0"/>
                        <a:cs typeface="Times New Roman" panose="02020603050405020304" pitchFamily="18" charset="0"/>
                        <a:sym typeface="Symbol" panose="05050102010706020507" pitchFamily="18" charset="2"/>
                      </a:rPr>
                      <m:t>= </m:t>
                    </m:r>
                    <m:f>
                      <m:fPr>
                        <m:ctrlPr>
                          <a:rPr lang="en-US" b="0" i="1" smtClean="0">
                            <a:latin typeface="Cambria Math" panose="02040503050406030204" pitchFamily="18" charset="0"/>
                            <a:cs typeface="Times New Roman" panose="02020603050405020304" pitchFamily="18" charset="0"/>
                            <a:sym typeface="Symbol" panose="05050102010706020507" pitchFamily="18" charset="2"/>
                          </a:rPr>
                        </m:ctrlPr>
                      </m:fPr>
                      <m:num>
                        <m:r>
                          <a:rPr lang="en-US" b="0" i="1" smtClean="0">
                            <a:latin typeface="Cambria Math" panose="02040503050406030204" pitchFamily="18" charset="0"/>
                            <a:cs typeface="Times New Roman" panose="02020603050405020304" pitchFamily="18" charset="0"/>
                            <a:sym typeface="Symbol" panose="05050102010706020507" pitchFamily="18" charset="2"/>
                          </a:rPr>
                          <m:t>𝑏𝑠𝑖𝑛</m:t>
                        </m:r>
                        <m:r>
                          <a:rPr lang="en-US"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num>
                      <m:den>
                        <m:r>
                          <a:rPr lang="en-US" b="0" i="1" smtClean="0">
                            <a:latin typeface="Cambria Math" panose="02040503050406030204" pitchFamily="18" charset="0"/>
                            <a:cs typeface="Times New Roman" panose="02020603050405020304" pitchFamily="18" charset="0"/>
                            <a:sym typeface="Symbol" panose="05050102010706020507" pitchFamily="18" charset="2"/>
                          </a:rPr>
                          <m:t>𝑛</m:t>
                        </m:r>
                        <m:r>
                          <a:rPr lang="en-US"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𝜋</m:t>
                        </m:r>
                      </m:den>
                    </m:f>
                  </m:oMath>
                </a14:m>
                <a:r>
                  <a:rPr lang="en-IN" dirty="0">
                    <a:latin typeface="Times New Roman" panose="02020603050405020304" pitchFamily="18" charset="0"/>
                    <a:cs typeface="Times New Roman" panose="02020603050405020304" pitchFamily="18" charset="0"/>
                    <a:sym typeface="Symbol" panose="05050102010706020507" pitchFamily="18" charset="2"/>
                  </a:rPr>
                  <a:t> </a:t>
                </a:r>
                <a:endParaRPr lang="en-IN" sz="1600" dirty="0">
                  <a:latin typeface="Times New Roman" panose="02020603050405020304" pitchFamily="18" charset="0"/>
                  <a:cs typeface="Times New Roman" panose="02020603050405020304" pitchFamily="18" charset="0"/>
                  <a:sym typeface="Symbol" panose="05050102010706020507" pitchFamily="18" charset="2"/>
                </a:endParaRPr>
              </a:p>
              <a:p>
                <a:r>
                  <a:rPr lang="en-US" sz="1600" dirty="0">
                    <a:cs typeface="Times New Roman" panose="02020603050405020304" pitchFamily="18" charset="0"/>
                    <a:sym typeface="Symbol" panose="05050102010706020507" pitchFamily="18" charset="2"/>
                  </a:rPr>
                  <a:t>	</a:t>
                </a:r>
                <a14:m>
                  <m:oMath xmlns:m="http://schemas.openxmlformats.org/officeDocument/2006/math">
                    <m:f>
                      <m:fPr>
                        <m:ctrlPr>
                          <a:rPr lang="en-US" b="0" i="1" smtClean="0">
                            <a:latin typeface="Cambria Math" panose="02040503050406030204" pitchFamily="18" charset="0"/>
                            <a:cs typeface="Times New Roman" panose="02020603050405020304" pitchFamily="18" charset="0"/>
                            <a:sym typeface="Symbol" panose="05050102010706020507" pitchFamily="18" charset="2"/>
                          </a:rPr>
                        </m:ctrlPr>
                      </m:fPr>
                      <m:num>
                        <m:r>
                          <a:rPr lang="en-US" b="0" i="1" smtClean="0">
                            <a:latin typeface="Cambria Math" panose="02040503050406030204" pitchFamily="18" charset="0"/>
                            <a:cs typeface="Times New Roman" panose="02020603050405020304" pitchFamily="18" charset="0"/>
                            <a:sym typeface="Symbol" panose="05050102010706020507" pitchFamily="18" charset="2"/>
                          </a:rPr>
                          <m:t>𝐷</m:t>
                        </m:r>
                      </m:num>
                      <m:den>
                        <m:r>
                          <a:rPr lang="en-US" b="0" i="1" smtClean="0">
                            <a:latin typeface="Cambria Math" panose="02040503050406030204" pitchFamily="18" charset="0"/>
                            <a:cs typeface="Times New Roman" panose="02020603050405020304" pitchFamily="18" charset="0"/>
                            <a:sym typeface="Symbol" panose="05050102010706020507" pitchFamily="18" charset="2"/>
                          </a:rPr>
                          <m:t>𝑠𝑖𝑛</m:t>
                        </m:r>
                        <m:r>
                          <a:rPr lang="en-US"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den>
                    </m:f>
                    <m:r>
                      <a:rPr lang="en-US" b="0" i="1" smtClean="0">
                        <a:latin typeface="Cambria Math" panose="02040503050406030204" pitchFamily="18" charset="0"/>
                        <a:cs typeface="Times New Roman" panose="02020603050405020304" pitchFamily="18" charset="0"/>
                        <a:sym typeface="Symbol" panose="05050102010706020507" pitchFamily="18" charset="2"/>
                      </a:rPr>
                      <m:t>= </m:t>
                    </m:r>
                    <m:f>
                      <m:fPr>
                        <m:ctrlPr>
                          <a:rPr lang="en-US" b="0" i="1" smtClean="0">
                            <a:latin typeface="Cambria Math" panose="02040503050406030204" pitchFamily="18" charset="0"/>
                            <a:cs typeface="Times New Roman" panose="02020603050405020304" pitchFamily="18" charset="0"/>
                            <a:sym typeface="Symbol" panose="05050102010706020507" pitchFamily="18" charset="2"/>
                          </a:rPr>
                        </m:ctrlPr>
                      </m:fPr>
                      <m:num>
                        <m:r>
                          <a:rPr lang="en-US" b="0" i="1" smtClean="0">
                            <a:latin typeface="Cambria Math" panose="02040503050406030204" pitchFamily="18" charset="0"/>
                            <a:cs typeface="Times New Roman" panose="02020603050405020304" pitchFamily="18" charset="0"/>
                            <a:sym typeface="Symbol" panose="05050102010706020507" pitchFamily="18" charset="2"/>
                          </a:rPr>
                          <m:t>𝑏</m:t>
                        </m:r>
                      </m:num>
                      <m:den>
                        <m:r>
                          <a:rPr lang="en-US" b="0" i="1" smtClean="0">
                            <a:latin typeface="Cambria Math" panose="02040503050406030204" pitchFamily="18" charset="0"/>
                            <a:cs typeface="Times New Roman" panose="02020603050405020304" pitchFamily="18" charset="0"/>
                            <a:sym typeface="Symbol" panose="05050102010706020507" pitchFamily="18" charset="2"/>
                          </a:rPr>
                          <m:t>𝑛</m:t>
                        </m:r>
                        <m:r>
                          <a:rPr lang="en-US"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𝜋</m:t>
                        </m:r>
                      </m:den>
                    </m:f>
                  </m:oMath>
                </a14:m>
                <a:endParaRPr lang="en-US" b="0" dirty="0">
                  <a:ea typeface="Cambria Math" panose="02040503050406030204" pitchFamily="18" charset="0"/>
                  <a:cs typeface="Times New Roman" panose="02020603050405020304" pitchFamily="18" charset="0"/>
                  <a:sym typeface="Symbol" panose="05050102010706020507" pitchFamily="18" charset="2"/>
                </a:endParaRPr>
              </a:p>
              <a:p>
                <a:endParaRPr lang="en-IN" sz="1600" dirty="0">
                  <a:latin typeface="Times New Roman" panose="02020603050405020304" pitchFamily="18" charset="0"/>
                  <a:cs typeface="Times New Roman" panose="02020603050405020304" pitchFamily="18" charset="0"/>
                  <a:sym typeface="Symbol" panose="05050102010706020507" pitchFamily="18" charset="2"/>
                </a:endParaRPr>
              </a:p>
              <a:p>
                <a:pPr marL="0" indent="0" algn="just">
                  <a:buNone/>
                </a:pPr>
                <a:r>
                  <a:rPr lang="en-IN" sz="1600" dirty="0">
                    <a:latin typeface="Times New Roman" panose="02020603050405020304" pitchFamily="18" charset="0"/>
                    <a:cs typeface="Times New Roman" panose="02020603050405020304" pitchFamily="18" charset="0"/>
                    <a:sym typeface="Symbol" panose="05050102010706020507" pitchFamily="18" charset="2"/>
                  </a:rPr>
                  <a:t>By substituting the value of D &amp; trigonometric relation in </a:t>
                </a:r>
                <a:r>
                  <a:rPr lang="en-IN" sz="1600" dirty="0" err="1">
                    <a:latin typeface="Times New Roman" panose="02020603050405020304" pitchFamily="18" charset="0"/>
                    <a:cs typeface="Times New Roman" panose="02020603050405020304" pitchFamily="18" charset="0"/>
                    <a:sym typeface="Symbol" panose="05050102010706020507" pitchFamily="18" charset="2"/>
                  </a:rPr>
                  <a:t>eq</a:t>
                </a:r>
                <a:r>
                  <a:rPr lang="en-IN" sz="1600" dirty="0">
                    <a:latin typeface="Times New Roman" panose="02020603050405020304" pitchFamily="18" charset="0"/>
                    <a:cs typeface="Times New Roman" panose="02020603050405020304" pitchFamily="18" charset="0"/>
                    <a:sym typeface="Symbol" panose="05050102010706020507" pitchFamily="18" charset="2"/>
                  </a:rPr>
                  <a:t> (8)</a:t>
                </a:r>
              </a:p>
              <a:p>
                <a:pPr marL="0" indent="0" algn="just">
                  <a:buNone/>
                </a:pPr>
                <a:r>
                  <a:rPr lang="en-IN" sz="1600" dirty="0">
                    <a:latin typeface="Times New Roman" panose="02020603050405020304" pitchFamily="18" charset="0"/>
                    <a:cs typeface="Times New Roman" panose="02020603050405020304" pitchFamily="18" charset="0"/>
                    <a:sym typeface="Symbol" panose="05050102010706020507" pitchFamily="18" charset="2"/>
                  </a:rPr>
                  <a:t>	    </a:t>
                </a:r>
                <a14:m>
                  <m:oMath xmlns:m="http://schemas.openxmlformats.org/officeDocument/2006/math">
                    <m:r>
                      <a:rPr lang="en-US" sz="1600" b="0" i="1" smtClean="0">
                        <a:latin typeface="Cambria Math" panose="02040503050406030204" pitchFamily="18" charset="0"/>
                        <a:cs typeface="Times New Roman" panose="02020603050405020304" pitchFamily="18" charset="0"/>
                        <a:sym typeface="Symbol" panose="05050102010706020507" pitchFamily="18" charset="2"/>
                      </a:rPr>
                      <m:t>𝐹</m:t>
                    </m:r>
                    <m:r>
                      <a:rPr lang="en-US" sz="1600" b="0" i="1" smtClean="0">
                        <a:latin typeface="Cambria Math" panose="02040503050406030204" pitchFamily="18" charset="0"/>
                        <a:cs typeface="Times New Roman" panose="02020603050405020304" pitchFamily="18" charset="0"/>
                        <a:sym typeface="Symbol" panose="05050102010706020507" pitchFamily="18" charset="2"/>
                      </a:rPr>
                      <m:t>= </m:t>
                    </m:r>
                    <m:f>
                      <m:fPr>
                        <m:ctrlP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fPr>
                      <m:num>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𝜋</m:t>
                        </m:r>
                      </m:num>
                      <m:den>
                        <m:r>
                          <a:rPr lang="en-US" sz="1600" b="0" i="1" smtClean="0">
                            <a:latin typeface="Cambria Math" panose="02040503050406030204" pitchFamily="18" charset="0"/>
                            <a:cs typeface="Times New Roman" panose="02020603050405020304" pitchFamily="18" charset="0"/>
                            <a:sym typeface="Symbol" panose="05050102010706020507" pitchFamily="18" charset="2"/>
                          </a:rPr>
                          <m:t>4</m:t>
                        </m:r>
                      </m:den>
                    </m:f>
                    <m:r>
                      <a:rPr lang="en-US" sz="1600" b="0" i="1" smtClean="0">
                        <a:latin typeface="Cambria Math" panose="02040503050406030204" pitchFamily="18" charset="0"/>
                        <a:cs typeface="Times New Roman" panose="02020603050405020304" pitchFamily="18" charset="0"/>
                        <a:sym typeface="Symbol" panose="05050102010706020507" pitchFamily="18" charset="2"/>
                      </a:rPr>
                      <m:t> </m:t>
                    </m:r>
                    <m:sSup>
                      <m:sSupPr>
                        <m:ctrlPr>
                          <a:rPr lang="en-US" sz="1600" b="0" i="1" smtClean="0">
                            <a:latin typeface="Cambria Math" panose="02040503050406030204" pitchFamily="18" charset="0"/>
                            <a:cs typeface="Times New Roman" panose="02020603050405020304" pitchFamily="18" charset="0"/>
                            <a:sym typeface="Symbol" panose="05050102010706020507" pitchFamily="18" charset="2"/>
                          </a:rPr>
                        </m:ctrlPr>
                      </m:sSupPr>
                      <m:e>
                        <m:r>
                          <a:rPr lang="en-US" sz="1600" b="0" i="1" smtClean="0">
                            <a:latin typeface="Cambria Math" panose="02040503050406030204" pitchFamily="18" charset="0"/>
                            <a:cs typeface="Times New Roman" panose="02020603050405020304" pitchFamily="18" charset="0"/>
                            <a:sym typeface="Symbol" panose="05050102010706020507" pitchFamily="18" charset="2"/>
                          </a:rPr>
                          <m:t>𝑃</m:t>
                        </m:r>
                      </m:e>
                      <m:sup>
                        <m:r>
                          <a:rPr lang="en-US" sz="1600" b="0" i="1" smtClean="0">
                            <a:latin typeface="Cambria Math" panose="02040503050406030204" pitchFamily="18" charset="0"/>
                            <a:cs typeface="Times New Roman" panose="02020603050405020304" pitchFamily="18" charset="0"/>
                            <a:sym typeface="Symbol" panose="05050102010706020507" pitchFamily="18" charset="2"/>
                          </a:rPr>
                          <m:t>′</m:t>
                        </m:r>
                      </m:sup>
                    </m:sSup>
                    <m:sSup>
                      <m:sSupPr>
                        <m:ctrlPr>
                          <a:rPr lang="en-US" sz="1600" b="0" i="1" smtClean="0">
                            <a:latin typeface="Cambria Math" panose="02040503050406030204" pitchFamily="18" charset="0"/>
                            <a:cs typeface="Times New Roman" panose="02020603050405020304" pitchFamily="18" charset="0"/>
                            <a:sym typeface="Symbol" panose="05050102010706020507" pitchFamily="18" charset="2"/>
                          </a:rPr>
                        </m:ctrlPr>
                      </m:sSupPr>
                      <m:e>
                        <m:r>
                          <a:rPr lang="en-US" sz="1600" b="0" i="1" smtClean="0">
                            <a:latin typeface="Cambria Math" panose="02040503050406030204" pitchFamily="18" charset="0"/>
                            <a:cs typeface="Times New Roman" panose="02020603050405020304" pitchFamily="18" charset="0"/>
                            <a:sym typeface="Symbol" panose="05050102010706020507" pitchFamily="18" charset="2"/>
                          </a:rPr>
                          <m:t>𝐷</m:t>
                        </m:r>
                      </m:e>
                      <m:sup>
                        <m:r>
                          <a:rPr lang="en-US" sz="1600" b="0" i="1" smtClean="0">
                            <a:latin typeface="Cambria Math" panose="02040503050406030204" pitchFamily="18" charset="0"/>
                            <a:cs typeface="Times New Roman" panose="02020603050405020304" pitchFamily="18" charset="0"/>
                            <a:sym typeface="Symbol" panose="05050102010706020507" pitchFamily="18" charset="2"/>
                          </a:rPr>
                          <m:t>2</m:t>
                        </m:r>
                      </m:sup>
                    </m:sSup>
                    <m:r>
                      <a:rPr lang="en-US" sz="1600" b="0" i="1" smtClean="0">
                        <a:latin typeface="Cambria Math" panose="02040503050406030204" pitchFamily="18" charset="0"/>
                        <a:cs typeface="Times New Roman" panose="02020603050405020304" pitchFamily="18" charset="0"/>
                        <a:sym typeface="Symbol" panose="05050102010706020507" pitchFamily="18" charset="2"/>
                      </a:rPr>
                      <m:t>∗ </m:t>
                    </m:r>
                    <m:f>
                      <m:fPr>
                        <m:ctrlPr>
                          <a:rPr lang="en-US" sz="1600" b="0" i="1" smtClean="0">
                            <a:latin typeface="Cambria Math" panose="02040503050406030204" pitchFamily="18" charset="0"/>
                            <a:cs typeface="Times New Roman" panose="02020603050405020304" pitchFamily="18" charset="0"/>
                            <a:sym typeface="Symbol" panose="05050102010706020507" pitchFamily="18" charset="2"/>
                          </a:rPr>
                        </m:ctrlPr>
                      </m:fPr>
                      <m:num>
                        <m:r>
                          <a:rPr lang="en-US" sz="1600" b="0" i="1" smtClean="0">
                            <a:latin typeface="Cambria Math" panose="02040503050406030204" pitchFamily="18" charset="0"/>
                            <a:cs typeface="Times New Roman" panose="02020603050405020304" pitchFamily="18" charset="0"/>
                            <a:sym typeface="Symbol" panose="05050102010706020507" pitchFamily="18" charset="2"/>
                          </a:rPr>
                          <m:t>(3</m:t>
                        </m:r>
                        <m:sSup>
                          <m:sSupPr>
                            <m:ctrlPr>
                              <a:rPr lang="en-US" sz="1600" b="0" i="1" smtClean="0">
                                <a:latin typeface="Cambria Math" panose="02040503050406030204" pitchFamily="18" charset="0"/>
                                <a:cs typeface="Times New Roman" panose="02020603050405020304" pitchFamily="18" charset="0"/>
                                <a:sym typeface="Symbol" panose="05050102010706020507" pitchFamily="18" charset="2"/>
                              </a:rPr>
                            </m:ctrlPr>
                          </m:sSupPr>
                          <m:e>
                            <m:r>
                              <a:rPr lang="en-US" sz="1600" b="0" i="1" smtClean="0">
                                <a:latin typeface="Cambria Math" panose="02040503050406030204" pitchFamily="18" charset="0"/>
                                <a:cs typeface="Times New Roman" panose="02020603050405020304" pitchFamily="18" charset="0"/>
                                <a:sym typeface="Symbol" panose="05050102010706020507" pitchFamily="18" charset="2"/>
                              </a:rPr>
                              <m:t>𝑐𝑜𝑠</m:t>
                            </m:r>
                          </m:e>
                          <m:sup>
                            <m:r>
                              <a:rPr lang="en-US" sz="1600" b="0" i="1" smtClean="0">
                                <a:latin typeface="Cambria Math" panose="02040503050406030204" pitchFamily="18" charset="0"/>
                                <a:cs typeface="Times New Roman" panose="02020603050405020304" pitchFamily="18" charset="0"/>
                                <a:sym typeface="Symbol" panose="05050102010706020507" pitchFamily="18" charset="2"/>
                              </a:rPr>
                              <m:t>2</m:t>
                            </m:r>
                          </m:sup>
                        </m:sSup>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 −1)</m:t>
                        </m:r>
                      </m:num>
                      <m:den>
                        <m:sSup>
                          <m:sSupPr>
                            <m:ctrlPr>
                              <a:rPr lang="en-US" sz="1600" b="0" i="1" smtClean="0">
                                <a:latin typeface="Cambria Math" panose="02040503050406030204" pitchFamily="18" charset="0"/>
                                <a:cs typeface="Times New Roman" panose="02020603050405020304" pitchFamily="18" charset="0"/>
                                <a:sym typeface="Symbol" panose="05050102010706020507" pitchFamily="18" charset="2"/>
                              </a:rPr>
                            </m:ctrlPr>
                          </m:sSupPr>
                          <m:e>
                            <m:r>
                              <a:rPr lang="en-US" sz="1600" b="0" i="1" smtClean="0">
                                <a:latin typeface="Cambria Math" panose="02040503050406030204" pitchFamily="18" charset="0"/>
                                <a:cs typeface="Times New Roman" panose="02020603050405020304" pitchFamily="18" charset="0"/>
                                <a:sym typeface="Symbol" panose="05050102010706020507" pitchFamily="18" charset="2"/>
                              </a:rPr>
                              <m:t>𝑠𝑖𝑛</m:t>
                            </m:r>
                          </m:e>
                          <m:sup>
                            <m:r>
                              <a:rPr lang="en-US" sz="1600" b="0" i="1" smtClean="0">
                                <a:latin typeface="Cambria Math" panose="02040503050406030204" pitchFamily="18" charset="0"/>
                                <a:cs typeface="Times New Roman" panose="02020603050405020304" pitchFamily="18" charset="0"/>
                                <a:sym typeface="Symbol" panose="05050102010706020507" pitchFamily="18" charset="2"/>
                              </a:rPr>
                              <m:t>2</m:t>
                            </m:r>
                          </m:sup>
                        </m:sSup>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den>
                    </m:f>
                  </m:oMath>
                </a14:m>
                <a:r>
                  <a:rPr lang="en-IN" sz="1600" dirty="0">
                    <a:latin typeface="Times New Roman" panose="02020603050405020304" pitchFamily="18" charset="0"/>
                    <a:cs typeface="Times New Roman" panose="02020603050405020304" pitchFamily="18" charset="0"/>
                    <a:sym typeface="Symbol" panose="05050102010706020507" pitchFamily="18" charset="2"/>
                  </a:rPr>
                  <a:t> ……………….. (9)</a:t>
                </a:r>
              </a:p>
            </p:txBody>
          </p:sp>
        </mc:Choice>
        <mc:Fallback xmlns="">
          <p:sp>
            <p:nvSpPr>
              <p:cNvPr id="4" name="TextBox 3">
                <a:extLst>
                  <a:ext uri="{FF2B5EF4-FFF2-40B4-BE49-F238E27FC236}">
                    <a16:creationId xmlns:a16="http://schemas.microsoft.com/office/drawing/2014/main" id="{C9178E7A-19B5-2D3B-5C12-C52417669B35}"/>
                  </a:ext>
                </a:extLst>
              </p:cNvPr>
              <p:cNvSpPr txBox="1">
                <a:spLocks noRot="1" noChangeAspect="1" noMove="1" noResize="1" noEditPoints="1" noAdjustHandles="1" noChangeArrowheads="1" noChangeShapeType="1" noTextEdit="1"/>
              </p:cNvSpPr>
              <p:nvPr/>
            </p:nvSpPr>
            <p:spPr>
              <a:xfrm>
                <a:off x="1663900" y="1466151"/>
                <a:ext cx="4746232" cy="4942059"/>
              </a:xfrm>
              <a:prstGeom prst="rect">
                <a:avLst/>
              </a:prstGeom>
              <a:blipFill>
                <a:blip r:embed="rId3"/>
                <a:stretch>
                  <a:fillRect l="-770" t="-494" r="-513"/>
                </a:stretch>
              </a:blipFill>
            </p:spPr>
            <p:txBody>
              <a:bodyPr/>
              <a:lstStyle/>
              <a:p>
                <a:r>
                  <a:rPr lang="en-IN">
                    <a:noFill/>
                  </a:rPr>
                  <a:t> </a:t>
                </a:r>
              </a:p>
            </p:txBody>
          </p:sp>
        </mc:Fallback>
      </mc:AlternateContent>
    </p:spTree>
    <p:extLst>
      <p:ext uri="{BB962C8B-B14F-4D97-AF65-F5344CB8AC3E}">
        <p14:creationId xmlns:p14="http://schemas.microsoft.com/office/powerpoint/2010/main" val="118631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7E9AE-9871-6B83-F520-829F3936D0E9}"/>
              </a:ext>
            </a:extLst>
          </p:cNvPr>
          <p:cNvSpPr>
            <a:spLocks noGrp="1"/>
          </p:cNvSpPr>
          <p:nvPr>
            <p:ph type="title"/>
          </p:nvPr>
        </p:nvSpPr>
        <p:spPr>
          <a:xfrm>
            <a:off x="1586194" y="605448"/>
            <a:ext cx="10002384" cy="679059"/>
          </a:xfrm>
        </p:spPr>
        <p:txBody>
          <a:bodyPr/>
          <a:lstStyle/>
          <a:p>
            <a:r>
              <a:rPr lang="en-US" dirty="0">
                <a:latin typeface="Times New Roman" panose="02020603050405020304" pitchFamily="18" charset="0"/>
                <a:cs typeface="Times New Roman" panose="02020603050405020304" pitchFamily="18" charset="0"/>
              </a:rPr>
              <a:t>Derivation For Pressure and Force Relation:</a:t>
            </a:r>
            <a:endParaRPr lang="en-IN"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C9178E7A-19B5-2D3B-5C12-C52417669B35}"/>
                  </a:ext>
                </a:extLst>
              </p:cNvPr>
              <p:cNvSpPr txBox="1"/>
              <p:nvPr/>
            </p:nvSpPr>
            <p:spPr>
              <a:xfrm>
                <a:off x="1663900" y="1466151"/>
                <a:ext cx="4746232" cy="2446824"/>
              </a:xfrm>
              <a:prstGeom prst="rect">
                <a:avLst/>
              </a:prstGeom>
              <a:noFill/>
            </p:spPr>
            <p:txBody>
              <a:bodyPr wrap="square" rtlCol="0">
                <a:spAutoFit/>
              </a:bodyPr>
              <a:lstStyle/>
              <a:p>
                <a:r>
                  <a:rPr lang="en-US" sz="1600" b="0" dirty="0">
                    <a:ea typeface="Cambria Math" panose="02040503050406030204" pitchFamily="18" charset="0"/>
                    <a:cs typeface="Times New Roman" panose="02020603050405020304" pitchFamily="18" charset="0"/>
                    <a:sym typeface="Symbol" panose="05050102010706020507" pitchFamily="18" charset="2"/>
                  </a:rPr>
                  <a:t>	</a:t>
                </a:r>
                <a14:m>
                  <m:oMath xmlns:m="http://schemas.openxmlformats.org/officeDocument/2006/math">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1−</m:t>
                    </m:r>
                    <m:r>
                      <a:rPr lang="en-IN" sz="160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𝜀</m:t>
                    </m:r>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 </m:t>
                    </m:r>
                    <m:f>
                      <m:fPr>
                        <m:ctrlP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fPr>
                      <m:num>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𝐿</m:t>
                        </m:r>
                      </m:num>
                      <m:den>
                        <m:sSub>
                          <m:sSubPr>
                            <m:ctrlP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sSubPr>
                          <m:e>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𝐿</m:t>
                            </m:r>
                          </m:e>
                          <m:sub>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0</m:t>
                            </m:r>
                          </m:sub>
                        </m:sSub>
                      </m:den>
                    </m:f>
                  </m:oMath>
                </a14:m>
                <a:endParaRPr lang="en-IN" sz="1600" dirty="0">
                  <a:latin typeface="Times New Roman" panose="02020603050405020304" pitchFamily="18" charset="0"/>
                  <a:cs typeface="Times New Roman" panose="02020603050405020304" pitchFamily="18" charset="0"/>
                  <a:sym typeface="Symbol" panose="05050102010706020507" pitchFamily="18" charset="2"/>
                </a:endParaRPr>
              </a:p>
              <a:p>
                <a:endParaRPr lang="en-IN" sz="1600" dirty="0">
                  <a:latin typeface="Times New Roman" panose="02020603050405020304" pitchFamily="18" charset="0"/>
                  <a:cs typeface="Times New Roman" panose="02020603050405020304" pitchFamily="18" charset="0"/>
                  <a:sym typeface="Symbol" panose="05050102010706020507" pitchFamily="18" charset="2"/>
                </a:endParaRPr>
              </a:p>
              <a:p>
                <a:r>
                  <a:rPr lang="en-IN" sz="1600" dirty="0">
                    <a:latin typeface="Times New Roman" panose="02020603050405020304" pitchFamily="18" charset="0"/>
                    <a:cs typeface="Times New Roman" panose="02020603050405020304" pitchFamily="18" charset="0"/>
                    <a:sym typeface="Symbol" panose="05050102010706020507" pitchFamily="18" charset="2"/>
                  </a:rPr>
                  <a:t>Put this value in </a:t>
                </a:r>
                <a:r>
                  <a:rPr lang="en-IN" sz="1600" dirty="0" err="1">
                    <a:latin typeface="Times New Roman" panose="02020603050405020304" pitchFamily="18" charset="0"/>
                    <a:cs typeface="Times New Roman" panose="02020603050405020304" pitchFamily="18" charset="0"/>
                    <a:sym typeface="Symbol" panose="05050102010706020507" pitchFamily="18" charset="2"/>
                  </a:rPr>
                  <a:t>eq</a:t>
                </a:r>
                <a:r>
                  <a:rPr lang="en-IN" sz="1600" dirty="0">
                    <a:latin typeface="Times New Roman" panose="02020603050405020304" pitchFamily="18" charset="0"/>
                    <a:cs typeface="Times New Roman" panose="02020603050405020304" pitchFamily="18" charset="0"/>
                    <a:sym typeface="Symbol" panose="05050102010706020507" pitchFamily="18" charset="2"/>
                  </a:rPr>
                  <a:t> (10)</a:t>
                </a:r>
              </a:p>
              <a:p>
                <a:r>
                  <a:rPr lang="en-IN" sz="1600" dirty="0">
                    <a:latin typeface="Times New Roman" panose="02020603050405020304" pitchFamily="18" charset="0"/>
                    <a:cs typeface="Times New Roman" panose="02020603050405020304" pitchFamily="18" charset="0"/>
                    <a:sym typeface="Symbol" panose="05050102010706020507" pitchFamily="18" charset="2"/>
                  </a:rPr>
                  <a:t>	</a:t>
                </a:r>
                <a:r>
                  <a:rPr lang="en-US" sz="1600" b="0" dirty="0">
                    <a:cs typeface="Times New Roman" panose="02020603050405020304" pitchFamily="18" charset="0"/>
                    <a:sym typeface="Symbol" panose="05050102010706020507" pitchFamily="18" charset="2"/>
                  </a:rPr>
                  <a:t> </a:t>
                </a:r>
                <a14:m>
                  <m:oMath xmlns:m="http://schemas.openxmlformats.org/officeDocument/2006/math">
                    <m:r>
                      <a:rPr lang="en-US" b="0" i="1" smtClean="0">
                        <a:latin typeface="Cambria Math" panose="02040503050406030204" pitchFamily="18" charset="0"/>
                        <a:cs typeface="Times New Roman" panose="02020603050405020304" pitchFamily="18" charset="0"/>
                        <a:sym typeface="Symbol" panose="05050102010706020507" pitchFamily="18" charset="2"/>
                      </a:rPr>
                      <m:t>𝑐𝑜𝑠</m:t>
                    </m:r>
                    <m:r>
                      <a:rPr lang="en-US"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r>
                      <a:rPr lang="en-US"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=(1−</m:t>
                    </m:r>
                    <m:r>
                      <a:rPr lang="en-US"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𝜀</m:t>
                    </m:r>
                    <m:r>
                      <a:rPr lang="en-US"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m:t>
                    </m:r>
                    <m:sSub>
                      <m:sSubPr>
                        <m:ctrlPr>
                          <a:rPr lang="en-US" b="0" i="1" smtClean="0">
                            <a:latin typeface="Cambria Math" panose="02040503050406030204" pitchFamily="18" charset="0"/>
                            <a:cs typeface="Times New Roman" panose="02020603050405020304" pitchFamily="18" charset="0"/>
                            <a:sym typeface="Symbol" panose="05050102010706020507" pitchFamily="18" charset="2"/>
                          </a:rPr>
                        </m:ctrlPr>
                      </m:sSubPr>
                      <m:e>
                        <m:r>
                          <a:rPr lang="en-US" b="0" i="1" smtClean="0">
                            <a:latin typeface="Cambria Math" panose="02040503050406030204" pitchFamily="18" charset="0"/>
                            <a:cs typeface="Times New Roman" panose="02020603050405020304" pitchFamily="18" charset="0"/>
                            <a:sym typeface="Symbol" panose="05050102010706020507" pitchFamily="18" charset="2"/>
                          </a:rPr>
                          <m:t> ∗ </m:t>
                        </m:r>
                        <m:r>
                          <a:rPr lang="en-US" b="0" i="1" smtClean="0">
                            <a:latin typeface="Cambria Math" panose="02040503050406030204" pitchFamily="18" charset="0"/>
                            <a:cs typeface="Times New Roman" panose="02020603050405020304" pitchFamily="18" charset="0"/>
                            <a:sym typeface="Symbol" panose="05050102010706020507" pitchFamily="18" charset="2"/>
                          </a:rPr>
                          <m:t>𝑐𝑜𝑠</m:t>
                        </m:r>
                        <m:r>
                          <a:rPr lang="en-US"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e>
                      <m:sub>
                        <m:r>
                          <a:rPr lang="en-US" b="0" i="1" smtClean="0">
                            <a:latin typeface="Cambria Math" panose="02040503050406030204" pitchFamily="18" charset="0"/>
                            <a:cs typeface="Times New Roman" panose="02020603050405020304" pitchFamily="18" charset="0"/>
                            <a:sym typeface="Symbol" panose="05050102010706020507" pitchFamily="18" charset="2"/>
                          </a:rPr>
                          <m:t>0</m:t>
                        </m:r>
                      </m:sub>
                    </m:sSub>
                  </m:oMath>
                </a14:m>
                <a:r>
                  <a:rPr lang="en-IN" dirty="0">
                    <a:latin typeface="Times New Roman" panose="02020603050405020304" pitchFamily="18" charset="0"/>
                    <a:cs typeface="Times New Roman" panose="02020603050405020304" pitchFamily="18" charset="0"/>
                    <a:sym typeface="Symbol" panose="05050102010706020507" pitchFamily="18" charset="2"/>
                  </a:rPr>
                  <a:t>       </a:t>
                </a:r>
                <a:endParaRPr lang="en-IN" sz="1600" dirty="0">
                  <a:latin typeface="Times New Roman" panose="02020603050405020304" pitchFamily="18" charset="0"/>
                  <a:cs typeface="Times New Roman" panose="02020603050405020304" pitchFamily="18" charset="0"/>
                  <a:sym typeface="Symbol" panose="05050102010706020507" pitchFamily="18" charset="2"/>
                </a:endParaRPr>
              </a:p>
              <a:p>
                <a:endParaRPr lang="en-IN" sz="1600" dirty="0">
                  <a:latin typeface="Times New Roman" panose="02020603050405020304" pitchFamily="18" charset="0"/>
                  <a:cs typeface="Times New Roman" panose="02020603050405020304" pitchFamily="18" charset="0"/>
                  <a:sym typeface="Symbol" panose="05050102010706020507" pitchFamily="18" charset="2"/>
                </a:endParaRPr>
              </a:p>
              <a:p>
                <a:r>
                  <a:rPr lang="en-IN" sz="1600" dirty="0">
                    <a:latin typeface="Times New Roman" panose="02020603050405020304" pitchFamily="18" charset="0"/>
                    <a:cs typeface="Times New Roman" panose="02020603050405020304" pitchFamily="18" charset="0"/>
                  </a:rPr>
                  <a:t>Substitute cos</a:t>
                </a:r>
                <a:r>
                  <a:rPr lang="en-IN" sz="1600" dirty="0">
                    <a:latin typeface="Times New Roman" panose="02020603050405020304" pitchFamily="18" charset="0"/>
                    <a:cs typeface="Times New Roman" panose="02020603050405020304" pitchFamily="18" charset="0"/>
                    <a:sym typeface="Symbol" panose="05050102010706020507" pitchFamily="18" charset="2"/>
                  </a:rPr>
                  <a:t>, D = D</a:t>
                </a:r>
                <a:r>
                  <a:rPr lang="en-IN" sz="1000" dirty="0">
                    <a:latin typeface="Times New Roman" panose="02020603050405020304" pitchFamily="18" charset="0"/>
                    <a:cs typeface="Times New Roman" panose="02020603050405020304" pitchFamily="18" charset="0"/>
                    <a:sym typeface="Symbol" panose="05050102010706020507" pitchFamily="18" charset="2"/>
                  </a:rPr>
                  <a:t>0</a:t>
                </a:r>
                <a:r>
                  <a:rPr lang="en-IN" sz="1600" dirty="0">
                    <a:latin typeface="Times New Roman" panose="02020603050405020304" pitchFamily="18" charset="0"/>
                    <a:cs typeface="Times New Roman" panose="02020603050405020304" pitchFamily="18" charset="0"/>
                    <a:sym typeface="Symbol" panose="05050102010706020507" pitchFamily="18" charset="2"/>
                  </a:rPr>
                  <a:t> &amp; sin = sin</a:t>
                </a:r>
                <a:r>
                  <a:rPr lang="en-IN" sz="1000" dirty="0">
                    <a:latin typeface="Times New Roman" panose="02020603050405020304" pitchFamily="18" charset="0"/>
                    <a:cs typeface="Times New Roman" panose="02020603050405020304" pitchFamily="18" charset="0"/>
                    <a:sym typeface="Symbol" panose="05050102010706020507" pitchFamily="18" charset="2"/>
                  </a:rPr>
                  <a:t>0 </a:t>
                </a:r>
                <a:r>
                  <a:rPr lang="en-IN" sz="1600" dirty="0">
                    <a:latin typeface="Times New Roman" panose="02020603050405020304" pitchFamily="18" charset="0"/>
                    <a:cs typeface="Times New Roman" panose="02020603050405020304" pitchFamily="18" charset="0"/>
                    <a:sym typeface="Symbol" panose="05050102010706020507" pitchFamily="18" charset="2"/>
                  </a:rPr>
                  <a:t>in </a:t>
                </a:r>
                <a:r>
                  <a:rPr lang="en-IN" sz="1600" dirty="0" err="1">
                    <a:latin typeface="Times New Roman" panose="02020603050405020304" pitchFamily="18" charset="0"/>
                    <a:cs typeface="Times New Roman" panose="02020603050405020304" pitchFamily="18" charset="0"/>
                    <a:sym typeface="Symbol" panose="05050102010706020507" pitchFamily="18" charset="2"/>
                  </a:rPr>
                  <a:t>eq</a:t>
                </a:r>
                <a:r>
                  <a:rPr lang="en-IN" sz="1600" dirty="0">
                    <a:latin typeface="Times New Roman" panose="02020603050405020304" pitchFamily="18" charset="0"/>
                    <a:cs typeface="Times New Roman" panose="02020603050405020304" pitchFamily="18" charset="0"/>
                    <a:sym typeface="Symbol" panose="05050102010706020507" pitchFamily="18" charset="2"/>
                  </a:rPr>
                  <a:t> (9)</a:t>
                </a:r>
              </a:p>
              <a:p>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	</a:t>
                </a:r>
                <a:r>
                  <a:rPr lang="en-US" sz="1600" b="0" dirty="0">
                    <a:cs typeface="Times New Roman" panose="02020603050405020304" pitchFamily="18" charset="0"/>
                    <a:sym typeface="Symbol" panose="05050102010706020507" pitchFamily="18" charset="2"/>
                  </a:rPr>
                  <a:t> </a:t>
                </a:r>
                <a14:m>
                  <m:oMath xmlns:m="http://schemas.openxmlformats.org/officeDocument/2006/math">
                    <m:r>
                      <a:rPr lang="en-US" b="0" i="1" smtClean="0">
                        <a:latin typeface="Cambria Math" panose="02040503050406030204" pitchFamily="18" charset="0"/>
                        <a:cs typeface="Times New Roman" panose="02020603050405020304" pitchFamily="18" charset="0"/>
                        <a:sym typeface="Symbol" panose="05050102010706020507" pitchFamily="18" charset="2"/>
                      </a:rPr>
                      <m:t>𝐹</m:t>
                    </m:r>
                    <m:r>
                      <a:rPr lang="en-US" b="0" i="1" smtClean="0">
                        <a:latin typeface="Cambria Math" panose="02040503050406030204" pitchFamily="18" charset="0"/>
                        <a:cs typeface="Times New Roman" panose="02020603050405020304" pitchFamily="18" charset="0"/>
                        <a:sym typeface="Symbol" panose="05050102010706020507" pitchFamily="18" charset="2"/>
                      </a:rPr>
                      <m:t>= </m:t>
                    </m:r>
                    <m:f>
                      <m:fPr>
                        <m:ctrlPr>
                          <a:rPr lang="en-US"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fPr>
                      <m:num>
                        <m:r>
                          <a:rPr lang="en-US"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𝜋</m:t>
                        </m:r>
                      </m:num>
                      <m:den>
                        <m:r>
                          <a:rPr lang="en-US" b="0" i="1" smtClean="0">
                            <a:latin typeface="Cambria Math" panose="02040503050406030204" pitchFamily="18" charset="0"/>
                            <a:cs typeface="Times New Roman" panose="02020603050405020304" pitchFamily="18" charset="0"/>
                            <a:sym typeface="Symbol" panose="05050102010706020507" pitchFamily="18" charset="2"/>
                          </a:rPr>
                          <m:t>4</m:t>
                        </m:r>
                      </m:den>
                    </m:f>
                    <m:r>
                      <a:rPr lang="en-US" b="0" i="1" smtClean="0">
                        <a:latin typeface="Cambria Math" panose="02040503050406030204" pitchFamily="18" charset="0"/>
                        <a:cs typeface="Times New Roman" panose="02020603050405020304" pitchFamily="18" charset="0"/>
                        <a:sym typeface="Symbol" panose="05050102010706020507" pitchFamily="18" charset="2"/>
                      </a:rPr>
                      <m:t> </m:t>
                    </m:r>
                    <m:sSup>
                      <m:sSupPr>
                        <m:ctrlPr>
                          <a:rPr lang="en-US" b="0" i="1" smtClean="0">
                            <a:latin typeface="Cambria Math" panose="02040503050406030204" pitchFamily="18" charset="0"/>
                            <a:cs typeface="Times New Roman" panose="02020603050405020304" pitchFamily="18" charset="0"/>
                            <a:sym typeface="Symbol" panose="05050102010706020507" pitchFamily="18" charset="2"/>
                          </a:rPr>
                        </m:ctrlPr>
                      </m:sSupPr>
                      <m:e>
                        <m:r>
                          <a:rPr lang="en-US" b="0" i="1" smtClean="0">
                            <a:latin typeface="Cambria Math" panose="02040503050406030204" pitchFamily="18" charset="0"/>
                            <a:cs typeface="Times New Roman" panose="02020603050405020304" pitchFamily="18" charset="0"/>
                            <a:sym typeface="Symbol" panose="05050102010706020507" pitchFamily="18" charset="2"/>
                          </a:rPr>
                          <m:t>𝑃</m:t>
                        </m:r>
                      </m:e>
                      <m:sup>
                        <m:r>
                          <a:rPr lang="en-US" b="0" i="1" smtClean="0">
                            <a:latin typeface="Cambria Math" panose="02040503050406030204" pitchFamily="18" charset="0"/>
                            <a:cs typeface="Times New Roman" panose="02020603050405020304" pitchFamily="18" charset="0"/>
                            <a:sym typeface="Symbol" panose="05050102010706020507" pitchFamily="18" charset="2"/>
                          </a:rPr>
                          <m:t>′</m:t>
                        </m:r>
                      </m:sup>
                    </m:sSup>
                    <m:sSup>
                      <m:sSupPr>
                        <m:ctrlPr>
                          <a:rPr lang="en-US" b="0" i="1" smtClean="0">
                            <a:latin typeface="Cambria Math" panose="02040503050406030204" pitchFamily="18" charset="0"/>
                            <a:cs typeface="Times New Roman" panose="02020603050405020304" pitchFamily="18" charset="0"/>
                            <a:sym typeface="Symbol" panose="05050102010706020507" pitchFamily="18" charset="2"/>
                          </a:rPr>
                        </m:ctrlPr>
                      </m:sSupPr>
                      <m:e>
                        <m:r>
                          <a:rPr lang="en-US" b="0" i="1" smtClean="0">
                            <a:latin typeface="Cambria Math" panose="02040503050406030204" pitchFamily="18" charset="0"/>
                            <a:cs typeface="Times New Roman" panose="02020603050405020304" pitchFamily="18" charset="0"/>
                            <a:sym typeface="Symbol" panose="05050102010706020507" pitchFamily="18" charset="2"/>
                          </a:rPr>
                          <m:t>𝐷</m:t>
                        </m:r>
                      </m:e>
                      <m:sup>
                        <m:r>
                          <a:rPr lang="en-US" b="0" i="1" smtClean="0">
                            <a:latin typeface="Cambria Math" panose="02040503050406030204" pitchFamily="18" charset="0"/>
                            <a:cs typeface="Times New Roman" panose="02020603050405020304" pitchFamily="18" charset="0"/>
                            <a:sym typeface="Symbol" panose="05050102010706020507" pitchFamily="18" charset="2"/>
                          </a:rPr>
                          <m:t>2</m:t>
                        </m:r>
                      </m:sup>
                    </m:sSup>
                    <m:r>
                      <a:rPr lang="en-US" b="0" i="1" smtClean="0">
                        <a:latin typeface="Cambria Math" panose="02040503050406030204" pitchFamily="18" charset="0"/>
                        <a:cs typeface="Times New Roman" panose="02020603050405020304" pitchFamily="18" charset="0"/>
                        <a:sym typeface="Symbol" panose="05050102010706020507" pitchFamily="18" charset="2"/>
                      </a:rPr>
                      <m:t>∗ </m:t>
                    </m:r>
                    <m:f>
                      <m:fPr>
                        <m:ctrlPr>
                          <a:rPr lang="en-US" b="0" i="1" smtClean="0">
                            <a:latin typeface="Cambria Math" panose="02040503050406030204" pitchFamily="18" charset="0"/>
                            <a:cs typeface="Times New Roman" panose="02020603050405020304" pitchFamily="18" charset="0"/>
                            <a:sym typeface="Symbol" panose="05050102010706020507" pitchFamily="18" charset="2"/>
                          </a:rPr>
                        </m:ctrlPr>
                      </m:fPr>
                      <m:num>
                        <m:r>
                          <a:rPr lang="en-US" b="0" i="1" smtClean="0">
                            <a:latin typeface="Cambria Math" panose="02040503050406030204" pitchFamily="18" charset="0"/>
                            <a:cs typeface="Times New Roman" panose="02020603050405020304" pitchFamily="18" charset="0"/>
                            <a:sym typeface="Symbol" panose="05050102010706020507" pitchFamily="18" charset="2"/>
                          </a:rPr>
                          <m:t>(3</m:t>
                        </m:r>
                        <m:sSup>
                          <m:sSupPr>
                            <m:ctrlPr>
                              <a:rPr lang="en-US"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sSupPr>
                          <m:e>
                            <m:r>
                              <a:rPr lang="en-US"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(1−</m:t>
                            </m:r>
                            <m:r>
                              <a:rPr lang="en-US"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𝜀</m:t>
                            </m:r>
                            <m:r>
                              <a:rPr lang="en-US"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m:t>
                            </m:r>
                          </m:e>
                          <m:sup>
                            <m:r>
                              <a:rPr lang="en-US"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2</m:t>
                            </m:r>
                          </m:sup>
                        </m:sSup>
                        <m:sSub>
                          <m:sSubPr>
                            <m:ctrlPr>
                              <a:rPr lang="en-US" i="1">
                                <a:latin typeface="Cambria Math" panose="02040503050406030204" pitchFamily="18" charset="0"/>
                                <a:cs typeface="Times New Roman" panose="02020603050405020304" pitchFamily="18" charset="0"/>
                                <a:sym typeface="Symbol" panose="05050102010706020507" pitchFamily="18" charset="2"/>
                              </a:rPr>
                            </m:ctrlPr>
                          </m:sSubPr>
                          <m:e>
                            <m:r>
                              <a:rPr lang="en-US" i="1">
                                <a:latin typeface="Cambria Math" panose="02040503050406030204" pitchFamily="18" charset="0"/>
                                <a:cs typeface="Times New Roman" panose="02020603050405020304" pitchFamily="18" charset="0"/>
                                <a:sym typeface="Symbol" panose="05050102010706020507" pitchFamily="18" charset="2"/>
                              </a:rPr>
                              <m:t> ∗ </m:t>
                            </m:r>
                            <m:sSup>
                              <m:sSupPr>
                                <m:ctrlPr>
                                  <a:rPr lang="en-US" b="0" i="1" smtClean="0">
                                    <a:latin typeface="Cambria Math" panose="02040503050406030204" pitchFamily="18" charset="0"/>
                                    <a:cs typeface="Times New Roman" panose="02020603050405020304" pitchFamily="18" charset="0"/>
                                    <a:sym typeface="Symbol" panose="05050102010706020507" pitchFamily="18" charset="2"/>
                                  </a:rPr>
                                </m:ctrlPr>
                              </m:sSupPr>
                              <m:e>
                                <m:r>
                                  <a:rPr lang="en-US" b="0" i="1" smtClean="0">
                                    <a:latin typeface="Cambria Math" panose="02040503050406030204" pitchFamily="18" charset="0"/>
                                    <a:cs typeface="Times New Roman" panose="02020603050405020304" pitchFamily="18" charset="0"/>
                                    <a:sym typeface="Symbol" panose="05050102010706020507" pitchFamily="18" charset="2"/>
                                  </a:rPr>
                                  <m:t>𝑐𝑜𝑠</m:t>
                                </m:r>
                              </m:e>
                              <m:sup>
                                <m:r>
                                  <a:rPr lang="en-US" b="0" i="1" smtClean="0">
                                    <a:latin typeface="Cambria Math" panose="02040503050406030204" pitchFamily="18" charset="0"/>
                                    <a:cs typeface="Times New Roman" panose="02020603050405020304" pitchFamily="18" charset="0"/>
                                    <a:sym typeface="Symbol" panose="05050102010706020507" pitchFamily="18" charset="2"/>
                                  </a:rPr>
                                  <m:t>2</m:t>
                                </m:r>
                              </m:sup>
                            </m:sSup>
                            <m:r>
                              <a:rPr lang="en-US"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e>
                          <m:sub>
                            <m:r>
                              <a:rPr lang="en-US" i="1">
                                <a:latin typeface="Cambria Math" panose="02040503050406030204" pitchFamily="18" charset="0"/>
                                <a:cs typeface="Times New Roman" panose="02020603050405020304" pitchFamily="18" charset="0"/>
                                <a:sym typeface="Symbol" panose="05050102010706020507" pitchFamily="18" charset="2"/>
                              </a:rPr>
                              <m:t>0</m:t>
                            </m:r>
                          </m:sub>
                        </m:sSub>
                        <m:r>
                          <a:rPr lang="en-US"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−1)</m:t>
                        </m:r>
                      </m:num>
                      <m:den>
                        <m:sSup>
                          <m:sSupPr>
                            <m:ctrlPr>
                              <a:rPr lang="en-US" b="0" i="1" smtClean="0">
                                <a:latin typeface="Cambria Math" panose="02040503050406030204" pitchFamily="18" charset="0"/>
                                <a:cs typeface="Times New Roman" panose="02020603050405020304" pitchFamily="18" charset="0"/>
                                <a:sym typeface="Symbol" panose="05050102010706020507" pitchFamily="18" charset="2"/>
                              </a:rPr>
                            </m:ctrlPr>
                          </m:sSupPr>
                          <m:e>
                            <m:r>
                              <a:rPr lang="en-US" b="0" i="1" smtClean="0">
                                <a:latin typeface="Cambria Math" panose="02040503050406030204" pitchFamily="18" charset="0"/>
                                <a:cs typeface="Times New Roman" panose="02020603050405020304" pitchFamily="18" charset="0"/>
                                <a:sym typeface="Symbol" panose="05050102010706020507" pitchFamily="18" charset="2"/>
                              </a:rPr>
                              <m:t>𝑠𝑖𝑛</m:t>
                            </m:r>
                          </m:e>
                          <m:sup>
                            <m:r>
                              <a:rPr lang="en-US" b="0" i="1" smtClean="0">
                                <a:latin typeface="Cambria Math" panose="02040503050406030204" pitchFamily="18" charset="0"/>
                                <a:cs typeface="Times New Roman" panose="02020603050405020304" pitchFamily="18" charset="0"/>
                                <a:sym typeface="Symbol" panose="05050102010706020507" pitchFamily="18" charset="2"/>
                              </a:rPr>
                              <m:t>2</m:t>
                            </m:r>
                          </m:sup>
                        </m:sSup>
                        <m:sSub>
                          <m:sSubPr>
                            <m:ctrlPr>
                              <a:rPr lang="en-US"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sSubPr>
                          <m:e>
                            <m:r>
                              <a:rPr lang="en-US"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e>
                          <m:sub>
                            <m:r>
                              <a:rPr lang="en-US" b="0" i="1" smtClean="0">
                                <a:latin typeface="Cambria Math" panose="02040503050406030204" pitchFamily="18" charset="0"/>
                                <a:cs typeface="Times New Roman" panose="02020603050405020304" pitchFamily="18" charset="0"/>
                                <a:sym typeface="Symbol" panose="05050102010706020507" pitchFamily="18" charset="2"/>
                              </a:rPr>
                              <m:t>0</m:t>
                            </m:r>
                          </m:sub>
                        </m:sSub>
                      </m:den>
                    </m:f>
                  </m:oMath>
                </a14:m>
                <a:r>
                  <a:rPr lang="en-IN" dirty="0">
                    <a:latin typeface="Times New Roman" panose="02020603050405020304" pitchFamily="18" charset="0"/>
                    <a:cs typeface="Times New Roman" panose="02020603050405020304" pitchFamily="18" charset="0"/>
                    <a:sym typeface="Symbol" panose="05050102010706020507" pitchFamily="18" charset="2"/>
                  </a:rPr>
                  <a:t> </a:t>
                </a:r>
                <a:endParaRPr lang="en-IN" sz="1600" dirty="0">
                  <a:latin typeface="Times New Roman" panose="02020603050405020304" pitchFamily="18" charset="0"/>
                  <a:cs typeface="Times New Roman" panose="02020603050405020304" pitchFamily="18" charset="0"/>
                  <a:sym typeface="Symbol" panose="05050102010706020507" pitchFamily="18" charset="2"/>
                </a:endParaRPr>
              </a:p>
            </p:txBody>
          </p:sp>
        </mc:Choice>
        <mc:Fallback xmlns="">
          <p:sp>
            <p:nvSpPr>
              <p:cNvPr id="4" name="TextBox 3">
                <a:extLst>
                  <a:ext uri="{FF2B5EF4-FFF2-40B4-BE49-F238E27FC236}">
                    <a16:creationId xmlns:a16="http://schemas.microsoft.com/office/drawing/2014/main" id="{C9178E7A-19B5-2D3B-5C12-C52417669B35}"/>
                  </a:ext>
                </a:extLst>
              </p:cNvPr>
              <p:cNvSpPr txBox="1">
                <a:spLocks noRot="1" noChangeAspect="1" noMove="1" noResize="1" noEditPoints="1" noAdjustHandles="1" noChangeArrowheads="1" noChangeShapeType="1" noTextEdit="1"/>
              </p:cNvSpPr>
              <p:nvPr/>
            </p:nvSpPr>
            <p:spPr>
              <a:xfrm>
                <a:off x="1663900" y="1466151"/>
                <a:ext cx="4746232" cy="2446824"/>
              </a:xfrm>
              <a:prstGeom prst="rect">
                <a:avLst/>
              </a:prstGeom>
              <a:blipFill>
                <a:blip r:embed="rId2"/>
                <a:stretch>
                  <a:fillRect l="-770"/>
                </a:stretch>
              </a:blipFill>
            </p:spPr>
            <p:txBody>
              <a:bodyPr/>
              <a:lstStyle/>
              <a:p>
                <a:r>
                  <a:rPr lang="en-IN">
                    <a:noFill/>
                  </a:rPr>
                  <a:t> </a:t>
                </a:r>
              </a:p>
            </p:txBody>
          </p:sp>
        </mc:Fallback>
      </mc:AlternateContent>
    </p:spTree>
    <p:extLst>
      <p:ext uri="{BB962C8B-B14F-4D97-AF65-F5344CB8AC3E}">
        <p14:creationId xmlns:p14="http://schemas.microsoft.com/office/powerpoint/2010/main" val="1667430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47DEEA-1C9C-E047-7B42-BEF089823EBD}"/>
              </a:ext>
            </a:extLst>
          </p:cNvPr>
          <p:cNvSpPr>
            <a:spLocks noGrp="1"/>
          </p:cNvSpPr>
          <p:nvPr>
            <p:ph type="title"/>
          </p:nvPr>
        </p:nvSpPr>
        <p:spPr/>
        <p:txBody>
          <a:bodyPr/>
          <a:lstStyle/>
          <a:p>
            <a:r>
              <a:rPr lang="en-US" dirty="0"/>
              <a:t>Further Updates are to be done:</a:t>
            </a:r>
            <a:endParaRPr lang="en-IN" dirty="0"/>
          </a:p>
        </p:txBody>
      </p:sp>
      <p:sp>
        <p:nvSpPr>
          <p:cNvPr id="3" name="Content Placeholder 2">
            <a:extLst>
              <a:ext uri="{FF2B5EF4-FFF2-40B4-BE49-F238E27FC236}">
                <a16:creationId xmlns:a16="http://schemas.microsoft.com/office/drawing/2014/main" id="{4803B988-4A13-C509-0063-63CEE1D585FC}"/>
              </a:ext>
            </a:extLst>
          </p:cNvPr>
          <p:cNvSpPr>
            <a:spLocks noGrp="1"/>
          </p:cNvSpPr>
          <p:nvPr>
            <p:ph idx="1"/>
          </p:nvPr>
        </p:nvSpPr>
        <p:spPr>
          <a:xfrm>
            <a:off x="1848433" y="2689190"/>
            <a:ext cx="8915400" cy="1280890"/>
          </a:xfrm>
        </p:spPr>
        <p:txBody>
          <a:bodyPr>
            <a:normAutofit/>
          </a:bodyPr>
          <a:lstStyle/>
          <a:p>
            <a:pPr marL="0" indent="0" algn="ctr">
              <a:buNone/>
            </a:pPr>
            <a:r>
              <a:rPr lang="en-US" sz="6600" dirty="0"/>
              <a:t>Thank You </a:t>
            </a:r>
            <a:endParaRPr lang="en-IN" sz="6600" dirty="0"/>
          </a:p>
        </p:txBody>
      </p:sp>
    </p:spTree>
    <p:extLst>
      <p:ext uri="{BB962C8B-B14F-4D97-AF65-F5344CB8AC3E}">
        <p14:creationId xmlns:p14="http://schemas.microsoft.com/office/powerpoint/2010/main" val="1701765856"/>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2E5369"/>
      </a:dk2>
      <a:lt2>
        <a:srgbClr val="CFE2E7"/>
      </a:lt2>
      <a:accent1>
        <a:srgbClr val="353535"/>
      </a:accent1>
      <a:accent2>
        <a:srgbClr val="31B4E6"/>
      </a:accent2>
      <a:accent3>
        <a:srgbClr val="265991"/>
      </a:accent3>
      <a:accent4>
        <a:srgbClr val="7E40CC"/>
      </a:accent4>
      <a:accent5>
        <a:srgbClr val="B927E9"/>
      </a:accent5>
      <a:accent6>
        <a:srgbClr val="E833BF"/>
      </a:accent6>
      <a:hlink>
        <a:srgbClr val="2DA0F1"/>
      </a:hlink>
      <a:folHlink>
        <a:srgbClr val="7ED1E6"/>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4F34B87B-9C7A-41AE-A6CB-48536223DFFD}"/>
    </a:ext>
  </a:extLst>
</a:theme>
</file>

<file path=docProps/app.xml><?xml version="1.0" encoding="utf-8"?>
<Properties xmlns="http://schemas.openxmlformats.org/officeDocument/2006/extended-properties" xmlns:vt="http://schemas.openxmlformats.org/officeDocument/2006/docPropsVTypes">
  <Template>Wisp</Template>
  <TotalTime>701</TotalTime>
  <Words>1976</Words>
  <Application>Microsoft Office PowerPoint</Application>
  <PresentationFormat>Widescreen</PresentationFormat>
  <Paragraphs>189</Paragraphs>
  <Slides>16</Slides>
  <Notes>0</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Wisp</vt:lpstr>
      <vt:lpstr>HYDRAULIC SOFT ACTUATOR</vt:lpstr>
      <vt:lpstr>Introduction:</vt:lpstr>
      <vt:lpstr>Problem Statement:</vt:lpstr>
      <vt:lpstr>Literature Survey:</vt:lpstr>
      <vt:lpstr>Literature Survey:</vt:lpstr>
      <vt:lpstr>Literature Survey:</vt:lpstr>
      <vt:lpstr>Literature Survey:</vt:lpstr>
      <vt:lpstr>Literature Survey:</vt:lpstr>
      <vt:lpstr>Literature Survey:</vt:lpstr>
      <vt:lpstr>Literature Survey:</vt:lpstr>
      <vt:lpstr>Derivation For Pressure and Force Relation:</vt:lpstr>
      <vt:lpstr>Derivation For Pressure and Force Relation:</vt:lpstr>
      <vt:lpstr>Derivation For Pressure and Force Relation:</vt:lpstr>
      <vt:lpstr>Derivation For Pressure and Force Relation:</vt:lpstr>
      <vt:lpstr>Derivation For Pressure and Force Relation:</vt:lpstr>
      <vt:lpstr>Further Updates are to be done: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HYDRAULIC SOFT ACTUATOR</dc:title>
  <dc:creator>SHIVDAS PRASAD SHANKAR</dc:creator>
  <cp:lastModifiedBy>Suraj Varma</cp:lastModifiedBy>
  <cp:revision>11</cp:revision>
  <dcterms:created xsi:type="dcterms:W3CDTF">2026-08-07T06:11:39Z</dcterms:created>
  <dcterms:modified xsi:type="dcterms:W3CDTF">2026-08-12T03:13:58Z</dcterms:modified>
</cp:coreProperties>
</file>