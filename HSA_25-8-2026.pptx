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81" r:id="rId3"/>
    <p:sldId id="257" r:id="rId4"/>
    <p:sldId id="258" r:id="rId5"/>
    <p:sldId id="267" r:id="rId6"/>
    <p:sldId id="268" r:id="rId7"/>
    <p:sldId id="269" r:id="rId8"/>
    <p:sldId id="270" r:id="rId9"/>
    <p:sldId id="271" r:id="rId10"/>
    <p:sldId id="259" r:id="rId11"/>
    <p:sldId id="260" r:id="rId12"/>
    <p:sldId id="261" r:id="rId13"/>
    <p:sldId id="262" r:id="rId14"/>
    <p:sldId id="263" r:id="rId15"/>
    <p:sldId id="264" r:id="rId16"/>
    <p:sldId id="276" r:id="rId17"/>
    <p:sldId id="266" r:id="rId18"/>
    <p:sldId id="277" r:id="rId19"/>
    <p:sldId id="278" r:id="rId20"/>
    <p:sldId id="279" r:id="rId21"/>
    <p:sldId id="280" r:id="rId22"/>
    <p:sldId id="272"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82" d="100"/>
          <a:sy n="82" d="100"/>
        </p:scale>
        <p:origin x="67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24-Aug-26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US"/>
          </a:p>
        </p:txBody>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24-Aug-26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24-Aug-26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24-Aug-26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24-Aug-26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24-Aug-26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24-Aug-26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24-Aug-26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24-Aug-26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24-Aug-26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24-Aug-26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24-Aug-26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24-Aug-26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24-Aug-26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24-Aug-26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24-Aug-26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24-Aug-26</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DESIGN AND DEVELOPMENT OF HYDRAULIC SOFT ACTUATOR FOR SDOF</a:t>
            </a:r>
            <a:endParaRPr lang="en-IN"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p:txBody>
          <a:bodyPr>
            <a:normAutofit lnSpcReduction="10000"/>
          </a:bodyPr>
          <a:lstStyle/>
          <a:p>
            <a:r>
              <a:rPr lang="en-US" dirty="0">
                <a:latin typeface="Times New Roman" panose="02020603050405020304" pitchFamily="18" charset="0"/>
                <a:cs typeface="Times New Roman" panose="02020603050405020304" pitchFamily="18" charset="0"/>
              </a:rPr>
              <a:t>Suraj Santram Varma (Student Intern)</a:t>
            </a:r>
          </a:p>
          <a:p>
            <a:r>
              <a:rPr lang="en-US" dirty="0">
                <a:latin typeface="Times New Roman" panose="02020603050405020304" pitchFamily="18" charset="0"/>
                <a:cs typeface="Times New Roman" panose="02020603050405020304" pitchFamily="18" charset="0"/>
              </a:rPr>
              <a:t>		- Under guidance of Mr. </a:t>
            </a:r>
            <a:r>
              <a:rPr lang="en-US" dirty="0" err="1">
                <a:latin typeface="Times New Roman" panose="02020603050405020304" pitchFamily="18" charset="0"/>
                <a:cs typeface="Times New Roman" panose="02020603050405020304" pitchFamily="18" charset="0"/>
              </a:rPr>
              <a:t>Shivdas</a:t>
            </a:r>
            <a:r>
              <a:rPr lang="en-US" dirty="0">
                <a:latin typeface="Times New Roman" panose="02020603050405020304" pitchFamily="18" charset="0"/>
                <a:cs typeface="Times New Roman" panose="02020603050405020304" pitchFamily="18" charset="0"/>
              </a:rPr>
              <a:t> Prasad (Sc. E)</a:t>
            </a:r>
          </a:p>
          <a:p>
            <a:r>
              <a:rPr lang="en-US" dirty="0">
                <a:latin typeface="Times New Roman" panose="02020603050405020304" pitchFamily="18" charset="0"/>
                <a:cs typeface="Times New Roman" panose="02020603050405020304" pitchFamily="18" charset="0"/>
              </a:rPr>
              <a:t>	R&amp;DE (</a:t>
            </a:r>
            <a:r>
              <a:rPr lang="en-US" dirty="0" err="1">
                <a:latin typeface="Times New Roman" panose="02020603050405020304" pitchFamily="18" charset="0"/>
                <a:cs typeface="Times New Roman" panose="02020603050405020304" pitchFamily="18" charset="0"/>
              </a:rPr>
              <a:t>Engrs</a:t>
            </a:r>
            <a:r>
              <a:rPr lang="en-US" dirty="0">
                <a:latin typeface="Times New Roman" panose="02020603050405020304" pitchFamily="18" charset="0"/>
                <a:cs typeface="Times New Roman" panose="02020603050405020304" pitchFamily="18" charset="0"/>
              </a:rPr>
              <a:t>), DRDO, Pune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670578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38446-D590-5B3A-DC9F-3EE64830016B}"/>
              </a:ext>
            </a:extLst>
          </p:cNvPr>
          <p:cNvSpPr>
            <a:spLocks noGrp="1"/>
          </p:cNvSpPr>
          <p:nvPr>
            <p:ph type="title"/>
          </p:nvPr>
        </p:nvSpPr>
        <p:spPr>
          <a:xfrm>
            <a:off x="1790490" y="624110"/>
            <a:ext cx="8911687" cy="626192"/>
          </a:xfrm>
        </p:spPr>
        <p:txBody>
          <a:bodyPr>
            <a:normAutofit fontScale="90000"/>
          </a:bodyPr>
          <a:lstStyle/>
          <a:p>
            <a:r>
              <a:rPr lang="en-US" dirty="0">
                <a:latin typeface="Times New Roman" panose="02020603050405020304" pitchFamily="18" charset="0"/>
                <a:cs typeface="Times New Roman" panose="02020603050405020304" pitchFamily="18" charset="0"/>
              </a:rPr>
              <a:t>The Work That I did Recently:</a:t>
            </a:r>
          </a:p>
        </p:txBody>
      </p:sp>
      <p:sp>
        <p:nvSpPr>
          <p:cNvPr id="3" name="Content Placeholder 2">
            <a:extLst>
              <a:ext uri="{FF2B5EF4-FFF2-40B4-BE49-F238E27FC236}">
                <a16:creationId xmlns:a16="http://schemas.microsoft.com/office/drawing/2014/main" id="{9A1D186D-9B76-9AD3-042E-079103E53C41}"/>
              </a:ext>
            </a:extLst>
          </p:cNvPr>
          <p:cNvSpPr>
            <a:spLocks noGrp="1"/>
          </p:cNvSpPr>
          <p:nvPr>
            <p:ph idx="1"/>
          </p:nvPr>
        </p:nvSpPr>
        <p:spPr>
          <a:xfrm>
            <a:off x="2262637" y="1175654"/>
            <a:ext cx="9176694" cy="4660920"/>
          </a:xfrm>
        </p:spPr>
        <p:txBody>
          <a:bodyPr/>
          <a:lstStyle/>
          <a:p>
            <a:r>
              <a:rPr lang="en-US" dirty="0">
                <a:latin typeface="Times New Roman" panose="02020603050405020304" pitchFamily="18" charset="0"/>
                <a:cs typeface="Times New Roman" panose="02020603050405020304" pitchFamily="18" charset="0"/>
              </a:rPr>
              <a:t>Introduction: Introduce to problem statement and normal Introduction</a:t>
            </a:r>
          </a:p>
          <a:p>
            <a:r>
              <a:rPr lang="en-US" dirty="0">
                <a:latin typeface="Times New Roman" panose="02020603050405020304" pitchFamily="18" charset="0"/>
                <a:cs typeface="Times New Roman" panose="02020603050405020304" pitchFamily="18" charset="0"/>
              </a:rPr>
              <a:t>Literature Survey: Concept of McKibben Muscle and finding the research gap</a:t>
            </a:r>
          </a:p>
          <a:p>
            <a:r>
              <a:rPr lang="en-US" dirty="0">
                <a:latin typeface="Times New Roman" panose="02020603050405020304" pitchFamily="18" charset="0"/>
                <a:cs typeface="Times New Roman" panose="02020603050405020304" pitchFamily="18" charset="0"/>
              </a:rPr>
              <a:t>Derivation: Derived the Formula for Pressure – Force Relationship, rather than relying on the given Formula in the research paper.</a:t>
            </a:r>
          </a:p>
          <a:p>
            <a:r>
              <a:rPr lang="en-US" dirty="0">
                <a:latin typeface="Times New Roman" panose="02020603050405020304" pitchFamily="18" charset="0"/>
                <a:cs typeface="Times New Roman" panose="02020603050405020304" pitchFamily="18" charset="0"/>
              </a:rPr>
              <a:t>Calculation: Calculated the required pressure for lifting the </a:t>
            </a:r>
            <a:r>
              <a:rPr lang="en-US" dirty="0" err="1">
                <a:latin typeface="Times New Roman" panose="02020603050405020304" pitchFamily="18" charset="0"/>
                <a:cs typeface="Times New Roman" panose="02020603050405020304" pitchFamily="18" charset="0"/>
              </a:rPr>
              <a:t>atleast</a:t>
            </a:r>
            <a:r>
              <a:rPr lang="en-US" dirty="0">
                <a:latin typeface="Times New Roman" panose="02020603050405020304" pitchFamily="18" charset="0"/>
                <a:cs typeface="Times New Roman" panose="02020603050405020304" pitchFamily="18" charset="0"/>
              </a:rPr>
              <a:t> of 5kg of payload</a:t>
            </a:r>
          </a:p>
          <a:p>
            <a:r>
              <a:rPr lang="en-US" dirty="0">
                <a:latin typeface="Times New Roman" panose="02020603050405020304" pitchFamily="18" charset="0"/>
                <a:cs typeface="Times New Roman" panose="02020603050405020304" pitchFamily="18" charset="0"/>
              </a:rPr>
              <a:t>CAD Model: Designed the 3D CAD Model</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The Part I have to do after this:</a:t>
            </a:r>
          </a:p>
          <a:p>
            <a:r>
              <a:rPr lang="en-US" dirty="0">
                <a:latin typeface="Times New Roman" panose="02020603050405020304" pitchFamily="18" charset="0"/>
                <a:cs typeface="Times New Roman" panose="02020603050405020304" pitchFamily="18" charset="0"/>
              </a:rPr>
              <a:t>ANSYS Simulation</a:t>
            </a:r>
          </a:p>
          <a:p>
            <a:r>
              <a:rPr lang="en-US" dirty="0">
                <a:latin typeface="Times New Roman" panose="02020603050405020304" pitchFamily="18" charset="0"/>
                <a:cs typeface="Times New Roman" panose="02020603050405020304" pitchFamily="18" charset="0"/>
              </a:rPr>
              <a:t>Designing of Test Setup </a:t>
            </a:r>
          </a:p>
          <a:p>
            <a:r>
              <a:rPr lang="en-US" dirty="0">
                <a:latin typeface="Times New Roman" panose="02020603050405020304" pitchFamily="18" charset="0"/>
                <a:cs typeface="Times New Roman" panose="02020603050405020304" pitchFamily="18" charset="0"/>
              </a:rPr>
              <a:t>Verify by Practical Test</a:t>
            </a:r>
          </a:p>
          <a:p>
            <a:r>
              <a:rPr lang="en-US" dirty="0">
                <a:latin typeface="Times New Roman" panose="02020603050405020304" pitchFamily="18" charset="0"/>
                <a:cs typeface="Times New Roman" panose="02020603050405020304" pitchFamily="18" charset="0"/>
              </a:rPr>
              <a:t>Documentation</a:t>
            </a:r>
          </a:p>
        </p:txBody>
      </p:sp>
    </p:spTree>
    <p:extLst>
      <p:ext uri="{BB962C8B-B14F-4D97-AF65-F5344CB8AC3E}">
        <p14:creationId xmlns:p14="http://schemas.microsoft.com/office/powerpoint/2010/main" val="38512690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6962" y="632422"/>
            <a:ext cx="8911687" cy="1280890"/>
          </a:xfrm>
        </p:spPr>
        <p:txBody>
          <a:bodyPr/>
          <a:lstStyle/>
          <a:p>
            <a:r>
              <a:rPr lang="en-US" dirty="0">
                <a:latin typeface="Times New Roman" panose="02020603050405020304" pitchFamily="18" charset="0"/>
                <a:cs typeface="Times New Roman" panose="02020603050405020304" pitchFamily="18" charset="0"/>
              </a:rPr>
              <a:t>Introduction:</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476547" y="1543396"/>
            <a:ext cx="9028098" cy="3924344"/>
          </a:xfrm>
        </p:spPr>
        <p:txBody>
          <a:bodyPr>
            <a:normAutofit/>
          </a:bodyPr>
          <a:lstStyle/>
          <a:p>
            <a:pPr algn="just"/>
            <a:r>
              <a:rPr lang="en-US" sz="1600" dirty="0">
                <a:latin typeface="Times New Roman" panose="02020603050405020304" pitchFamily="18" charset="0"/>
                <a:cs typeface="Times New Roman" panose="02020603050405020304" pitchFamily="18" charset="0"/>
              </a:rPr>
              <a:t>Soft robotics has become an important area of robotics because compliant structures can deform continuously, adapt to irregular surfaces, and distribute contact forces during interaction. These properties are especially useful for handling delicate objects, operating in uncertain environments, and interacting safely with the human body, where compliance is a basic design requirement rather than an added feature.</a:t>
            </a:r>
          </a:p>
          <a:p>
            <a:pPr algn="just"/>
            <a:r>
              <a:rPr lang="en-US" sz="1600" dirty="0">
                <a:latin typeface="Times New Roman" panose="02020603050405020304" pitchFamily="18" charset="0"/>
                <a:cs typeface="Times New Roman" panose="02020603050405020304" pitchFamily="18" charset="0"/>
              </a:rPr>
              <a:t>In these systems, the actuator is central to performance because it not only produces motion but also influences the load path, deformation mode, stiffness distribution, and contact behavior of the robot.</a:t>
            </a:r>
          </a:p>
          <a:p>
            <a:pPr algn="just"/>
            <a:r>
              <a:rPr lang="en-US" sz="1600" dirty="0">
                <a:latin typeface="Times New Roman" panose="02020603050405020304" pitchFamily="18" charset="0"/>
                <a:cs typeface="Times New Roman" panose="02020603050405020304" pitchFamily="18" charset="0"/>
              </a:rPr>
              <a:t>First, we discuss about Pneumatic Soft Actuator (PAM), like PAM is a soft actuator which has great potential in the field of bio-inspired robotics.</a:t>
            </a:r>
          </a:p>
          <a:p>
            <a:pPr algn="just"/>
            <a:r>
              <a:rPr lang="en-US" sz="1600" dirty="0">
                <a:latin typeface="Times New Roman" panose="02020603050405020304" pitchFamily="18" charset="0"/>
                <a:cs typeface="Times New Roman" panose="02020603050405020304" pitchFamily="18" charset="0"/>
              </a:rPr>
              <a:t>But PAM have lots of limitations such less loading capacity, losses, leakages, etc.</a:t>
            </a:r>
          </a:p>
          <a:p>
            <a:pPr algn="just"/>
            <a:r>
              <a:rPr lang="en-US" sz="1600" dirty="0">
                <a:latin typeface="Times New Roman" panose="02020603050405020304" pitchFamily="18" charset="0"/>
                <a:cs typeface="Times New Roman" panose="02020603050405020304" pitchFamily="18" charset="0"/>
              </a:rPr>
              <a:t>So, for that we are going to discussed about Designing and Modeling of Hydraulic Soft Actuator.</a:t>
            </a:r>
          </a:p>
          <a:p>
            <a:pPr algn="just"/>
            <a:r>
              <a:rPr lang="en-US" sz="1600" dirty="0">
                <a:latin typeface="Times New Roman" panose="02020603050405020304" pitchFamily="18" charset="0"/>
                <a:cs typeface="Times New Roman" panose="02020603050405020304" pitchFamily="18" charset="0"/>
              </a:rPr>
              <a:t>And we have to design for 5kg of lift.</a:t>
            </a:r>
          </a:p>
        </p:txBody>
      </p:sp>
    </p:spTree>
    <p:extLst>
      <p:ext uri="{BB962C8B-B14F-4D97-AF65-F5344CB8AC3E}">
        <p14:creationId xmlns:p14="http://schemas.microsoft.com/office/powerpoint/2010/main" val="16015481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124" y="689428"/>
            <a:ext cx="8911687" cy="623082"/>
          </a:xfrm>
        </p:spPr>
        <p:txBody>
          <a:bodyPr>
            <a:normAutofit fontScale="90000"/>
          </a:bodyPr>
          <a:lstStyle/>
          <a:p>
            <a:r>
              <a:rPr lang="en-US" dirty="0">
                <a:latin typeface="Times New Roman" panose="02020603050405020304" pitchFamily="18" charset="0"/>
                <a:cs typeface="Times New Roman" panose="02020603050405020304" pitchFamily="18" charset="0"/>
              </a:rPr>
              <a:t>Problem Statement:</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387044" y="1172760"/>
            <a:ext cx="8814334" cy="935958"/>
          </a:xfrm>
        </p:spPr>
        <p:txBody>
          <a:bodyPr/>
          <a:lstStyle/>
          <a:p>
            <a:pPr algn="just"/>
            <a:r>
              <a:rPr lang="en-US" sz="1600" dirty="0">
                <a:latin typeface="Times New Roman" panose="02020603050405020304" pitchFamily="18" charset="0"/>
                <a:cs typeface="Times New Roman" panose="02020603050405020304" pitchFamily="18" charset="0"/>
              </a:rPr>
              <a:t>To design and develop a single-degree-of-freedom robotic elbow joint using a hydraulic McKibben muscle actuator in an antagonistic biceps-triceps configuration, capable of lifting a minimum 5 kg load while providing the required joint torque, motion, and structural safety.</a:t>
            </a:r>
          </a:p>
        </p:txBody>
      </p:sp>
      <p:sp>
        <p:nvSpPr>
          <p:cNvPr id="4" name="Title 1">
            <a:extLst>
              <a:ext uri="{FF2B5EF4-FFF2-40B4-BE49-F238E27FC236}">
                <a16:creationId xmlns:a16="http://schemas.microsoft.com/office/drawing/2014/main" id="{41CFEC92-EEB1-CB3B-B8D5-3567E0A526AF}"/>
              </a:ext>
            </a:extLst>
          </p:cNvPr>
          <p:cNvSpPr txBox="1">
            <a:spLocks/>
          </p:cNvSpPr>
          <p:nvPr/>
        </p:nvSpPr>
        <p:spPr>
          <a:xfrm>
            <a:off x="1752124" y="2375675"/>
            <a:ext cx="2126295" cy="623082"/>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latin typeface="Times New Roman" panose="02020603050405020304" pitchFamily="18" charset="0"/>
                <a:cs typeface="Times New Roman" panose="02020603050405020304" pitchFamily="18" charset="0"/>
              </a:rPr>
              <a:t>Objective:</a:t>
            </a:r>
            <a:endParaRPr lang="en-IN" sz="3200" dirty="0">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3D7FDE61-FB3C-0298-EDF8-A52535F19A7C}"/>
              </a:ext>
            </a:extLst>
          </p:cNvPr>
          <p:cNvSpPr txBox="1">
            <a:spLocks/>
          </p:cNvSpPr>
          <p:nvPr/>
        </p:nvSpPr>
        <p:spPr>
          <a:xfrm>
            <a:off x="2387044" y="2927197"/>
            <a:ext cx="4047963" cy="2590036"/>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R="0" lvl="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study the working principle and characteristics of hydraulic McKibben muscle actuators for robotic applications. </a:t>
            </a:r>
          </a:p>
          <a:p>
            <a:pPr marR="0" lvl="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design a single-DOF robotic elbow joint using a biceps-triceps type McKibben actuator arrangement for a minimum 5 kg load. </a:t>
            </a:r>
          </a:p>
          <a:p>
            <a:pPr marR="0" lvl="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analyze the required joint torque, actuator force, pressure, and braided sheath parameters. </a:t>
            </a:r>
          </a:p>
        </p:txBody>
      </p:sp>
      <p:pic>
        <p:nvPicPr>
          <p:cNvPr id="8" name="Picture 7">
            <a:extLst>
              <a:ext uri="{FF2B5EF4-FFF2-40B4-BE49-F238E27FC236}">
                <a16:creationId xmlns:a16="http://schemas.microsoft.com/office/drawing/2014/main" id="{05F2152F-2FE7-7DC4-A638-D7E7EBD816A3}"/>
              </a:ext>
            </a:extLst>
          </p:cNvPr>
          <p:cNvPicPr>
            <a:picLocks noChangeAspect="1"/>
          </p:cNvPicPr>
          <p:nvPr/>
        </p:nvPicPr>
        <p:blipFill>
          <a:blip r:embed="rId2"/>
          <a:srcRect l="5818" t="23636" r="4542"/>
          <a:stretch/>
        </p:blipFill>
        <p:spPr>
          <a:xfrm>
            <a:off x="6667018" y="2417490"/>
            <a:ext cx="4994168" cy="3751082"/>
          </a:xfrm>
          <a:prstGeom prst="rect">
            <a:avLst/>
          </a:prstGeom>
        </p:spPr>
      </p:pic>
    </p:spTree>
    <p:extLst>
      <p:ext uri="{BB962C8B-B14F-4D97-AF65-F5344CB8AC3E}">
        <p14:creationId xmlns:p14="http://schemas.microsoft.com/office/powerpoint/2010/main" val="1083796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B534A-ED3F-CB0D-6BDD-C0DE08BD8DCC}"/>
              </a:ext>
            </a:extLst>
          </p:cNvPr>
          <p:cNvSpPr>
            <a:spLocks noGrp="1"/>
          </p:cNvSpPr>
          <p:nvPr>
            <p:ph type="title"/>
          </p:nvPr>
        </p:nvSpPr>
        <p:spPr>
          <a:xfrm>
            <a:off x="1725170" y="624110"/>
            <a:ext cx="8911687" cy="719498"/>
          </a:xfrm>
        </p:spPr>
        <p:txBody>
          <a:bodyPr/>
          <a:lstStyle/>
          <a:p>
            <a:r>
              <a:rPr lang="en-US" dirty="0">
                <a:latin typeface="Times New Roman" panose="02020603050405020304" pitchFamily="18" charset="0"/>
                <a:cs typeface="Times New Roman" panose="02020603050405020304" pitchFamily="18" charset="0"/>
              </a:rPr>
              <a:t>Literature Survey:</a:t>
            </a:r>
            <a:endParaRPr lang="en-IN" dirty="0">
              <a:latin typeface="Times New Roman" panose="02020603050405020304" pitchFamily="18" charset="0"/>
              <a:cs typeface="Times New Roman" panose="02020603050405020304" pitchFamily="18" charset="0"/>
            </a:endParaRPr>
          </a:p>
        </p:txBody>
      </p:sp>
      <p:graphicFrame>
        <p:nvGraphicFramePr>
          <p:cNvPr id="7" name="Table 6">
            <a:extLst>
              <a:ext uri="{FF2B5EF4-FFF2-40B4-BE49-F238E27FC236}">
                <a16:creationId xmlns:a16="http://schemas.microsoft.com/office/drawing/2014/main" id="{62F9848D-E8EC-3847-59E5-3C01C4742080}"/>
              </a:ext>
            </a:extLst>
          </p:cNvPr>
          <p:cNvGraphicFramePr>
            <a:graphicFrameLocks noGrp="1"/>
          </p:cNvGraphicFramePr>
          <p:nvPr>
            <p:extLst>
              <p:ext uri="{D42A27DB-BD31-4B8C-83A1-F6EECF244321}">
                <p14:modId xmlns:p14="http://schemas.microsoft.com/office/powerpoint/2010/main" val="2414816932"/>
              </p:ext>
            </p:extLst>
          </p:nvPr>
        </p:nvGraphicFramePr>
        <p:xfrm>
          <a:off x="1851949" y="1356343"/>
          <a:ext cx="9259747" cy="4026878"/>
        </p:xfrm>
        <a:graphic>
          <a:graphicData uri="http://schemas.openxmlformats.org/drawingml/2006/table">
            <a:tbl>
              <a:tblPr/>
              <a:tblGrid>
                <a:gridCol w="443382">
                  <a:extLst>
                    <a:ext uri="{9D8B030D-6E8A-4147-A177-3AD203B41FA5}">
                      <a16:colId xmlns:a16="http://schemas.microsoft.com/office/drawing/2014/main" val="3535979394"/>
                    </a:ext>
                  </a:extLst>
                </a:gridCol>
                <a:gridCol w="1138334">
                  <a:extLst>
                    <a:ext uri="{9D8B030D-6E8A-4147-A177-3AD203B41FA5}">
                      <a16:colId xmlns:a16="http://schemas.microsoft.com/office/drawing/2014/main" val="2803354011"/>
                    </a:ext>
                  </a:extLst>
                </a:gridCol>
                <a:gridCol w="2386747">
                  <a:extLst>
                    <a:ext uri="{9D8B030D-6E8A-4147-A177-3AD203B41FA5}">
                      <a16:colId xmlns:a16="http://schemas.microsoft.com/office/drawing/2014/main" val="2357653448"/>
                    </a:ext>
                  </a:extLst>
                </a:gridCol>
                <a:gridCol w="1322821">
                  <a:extLst>
                    <a:ext uri="{9D8B030D-6E8A-4147-A177-3AD203B41FA5}">
                      <a16:colId xmlns:a16="http://schemas.microsoft.com/office/drawing/2014/main" val="2307216443"/>
                    </a:ext>
                  </a:extLst>
                </a:gridCol>
                <a:gridCol w="1322821">
                  <a:extLst>
                    <a:ext uri="{9D8B030D-6E8A-4147-A177-3AD203B41FA5}">
                      <a16:colId xmlns:a16="http://schemas.microsoft.com/office/drawing/2014/main" val="1220081335"/>
                    </a:ext>
                  </a:extLst>
                </a:gridCol>
                <a:gridCol w="1322821">
                  <a:extLst>
                    <a:ext uri="{9D8B030D-6E8A-4147-A177-3AD203B41FA5}">
                      <a16:colId xmlns:a16="http://schemas.microsoft.com/office/drawing/2014/main" val="1503943532"/>
                    </a:ext>
                  </a:extLst>
                </a:gridCol>
                <a:gridCol w="1322821">
                  <a:extLst>
                    <a:ext uri="{9D8B030D-6E8A-4147-A177-3AD203B41FA5}">
                      <a16:colId xmlns:a16="http://schemas.microsoft.com/office/drawing/2014/main" val="2451333525"/>
                    </a:ext>
                  </a:extLst>
                </a:gridCol>
              </a:tblGrid>
              <a:tr h="0">
                <a:tc>
                  <a:txBody>
                    <a:bodyPr/>
                    <a:lstStyle/>
                    <a:p>
                      <a:r>
                        <a:rPr lang="en-IN" sz="1400">
                          <a:latin typeface="Times New Roman" panose="02020603050405020304" pitchFamily="18" charset="0"/>
                          <a:cs typeface="Times New Roman" panose="02020603050405020304" pitchFamily="18" charset="0"/>
                        </a:rPr>
                        <a:t>Year</a:t>
                      </a:r>
                    </a:p>
                  </a:txBody>
                  <a:tcPr marL="33215" marR="33215" marT="16608" marB="166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Author(s)</a:t>
                      </a:r>
                    </a:p>
                  </a:txBody>
                  <a:tcPr marL="33215" marR="33215" marT="16608" marB="166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Research Paper / Topic</a:t>
                      </a:r>
                    </a:p>
                  </a:txBody>
                  <a:tcPr marL="33215" marR="33215" marT="16608" marB="166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Publication</a:t>
                      </a:r>
                    </a:p>
                  </a:txBody>
                  <a:tcPr marL="33215" marR="33215" marT="16608" marB="166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Key Finding</a:t>
                      </a:r>
                    </a:p>
                  </a:txBody>
                  <a:tcPr marL="33215" marR="33215" marT="16608" marB="166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Limitation</a:t>
                      </a:r>
                    </a:p>
                  </a:txBody>
                  <a:tcPr marL="33215" marR="33215" marT="16608" marB="166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Relevance</a:t>
                      </a:r>
                    </a:p>
                  </a:txBody>
                  <a:tcPr marL="33215" marR="33215" marT="16608" marB="166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5632231"/>
                  </a:ext>
                </a:extLst>
              </a:tr>
              <a:tr h="1826846">
                <a:tc>
                  <a:txBody>
                    <a:bodyPr/>
                    <a:lstStyle/>
                    <a:p>
                      <a:r>
                        <a:rPr lang="en-IN" sz="1400">
                          <a:latin typeface="Times New Roman" panose="02020603050405020304" pitchFamily="18" charset="0"/>
                          <a:cs typeface="Times New Roman" panose="02020603050405020304" pitchFamily="18" charset="0"/>
                        </a:rPr>
                        <a:t>2022</a:t>
                      </a:r>
                    </a:p>
                  </a:txBody>
                  <a:tcPr marL="33215" marR="33215" marT="16608" marB="166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it-IT" sz="1400" dirty="0">
                          <a:latin typeface="Times New Roman" panose="02020603050405020304" pitchFamily="18" charset="0"/>
                          <a:cs typeface="Times New Roman" panose="02020603050405020304" pitchFamily="18" charset="0"/>
                        </a:rPr>
                        <a:t>M. G. Antonelli et al.</a:t>
                      </a:r>
                    </a:p>
                  </a:txBody>
                  <a:tcPr marL="33215" marR="33215" marT="16608" marB="166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Times New Roman" panose="02020603050405020304" pitchFamily="18" charset="0"/>
                          <a:cs typeface="Times New Roman" panose="02020603050405020304" pitchFamily="18" charset="0"/>
                        </a:rPr>
                        <a:t>Design and Characterization of a McKibben Pneumatic Muscle Prototype with an Embedded Capacitive Length Transducer</a:t>
                      </a:r>
                    </a:p>
                  </a:txBody>
                  <a:tcPr marL="33215" marR="33215" marT="16608" marB="166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Machines, MDPI</a:t>
                      </a:r>
                    </a:p>
                  </a:txBody>
                  <a:tcPr marL="33215" marR="33215" marT="16608" marB="166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Times New Roman" panose="02020603050405020304" pitchFamily="18" charset="0"/>
                          <a:cs typeface="Times New Roman" panose="02020603050405020304" pitchFamily="18" charset="0"/>
                        </a:rPr>
                        <a:t>Developed an embedded capacitive sensor capable of measuring muscle-length changes below 1 mm.</a:t>
                      </a:r>
                    </a:p>
                  </a:txBody>
                  <a:tcPr marL="33215" marR="33215" marT="16608" marB="166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Requires a specialized embedded sensing arrangement.</a:t>
                      </a:r>
                    </a:p>
                  </a:txBody>
                  <a:tcPr marL="33215" marR="33215" marT="16608" marB="166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Useful for future actuator displacement measurement and feedback.</a:t>
                      </a:r>
                    </a:p>
                  </a:txBody>
                  <a:tcPr marL="33215" marR="33215" marT="16608" marB="166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29449609"/>
                  </a:ext>
                </a:extLst>
              </a:tr>
              <a:tr h="1727200">
                <a:tc>
                  <a:txBody>
                    <a:bodyPr/>
                    <a:lstStyle/>
                    <a:p>
                      <a:r>
                        <a:rPr lang="en-IN" sz="1400">
                          <a:latin typeface="Times New Roman" panose="02020603050405020304" pitchFamily="18" charset="0"/>
                          <a:cs typeface="Times New Roman" panose="02020603050405020304" pitchFamily="18" charset="0"/>
                        </a:rPr>
                        <a:t>2018/2019</a:t>
                      </a:r>
                    </a:p>
                  </a:txBody>
                  <a:tcPr marL="33215" marR="33215" marT="16608" marB="166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T. Hassan et al.</a:t>
                      </a:r>
                    </a:p>
                  </a:txBody>
                  <a:tcPr marL="33215" marR="33215" marT="16608" marB="166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Finite Element Modeling and Design of a Pneumatic Braided Muscle Actuator with Multifunctional Capabilities</a:t>
                      </a:r>
                    </a:p>
                  </a:txBody>
                  <a:tcPr marL="33215" marR="33215" marT="16608" marB="166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IEEE/ASME Transactions on Mechatronics</a:t>
                      </a:r>
                    </a:p>
                  </a:txBody>
                  <a:tcPr marL="33215" marR="33215" marT="16608" marB="166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Developed a bidirectional braided actuator with more than 40% stroke and demonstrated it in a 1-DOF variable-stiffness joint.</a:t>
                      </a:r>
                    </a:p>
                  </a:txBody>
                  <a:tcPr marL="33215" marR="33215" marT="16608" marB="166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More complex sheath configuration and pneumatic operation.</a:t>
                      </a:r>
                    </a:p>
                  </a:txBody>
                  <a:tcPr marL="33215" marR="33215" marT="16608" marB="166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Times New Roman" panose="02020603050405020304" pitchFamily="18" charset="0"/>
                          <a:cs typeface="Times New Roman" panose="02020603050405020304" pitchFamily="18" charset="0"/>
                        </a:rPr>
                        <a:t>Highly relevant to our 1-DOF robotic elbow and antagonistic actuator concept.</a:t>
                      </a:r>
                    </a:p>
                  </a:txBody>
                  <a:tcPr marL="33215" marR="33215" marT="16608" marB="166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00359614"/>
                  </a:ext>
                </a:extLst>
              </a:tr>
            </a:tbl>
          </a:graphicData>
        </a:graphic>
      </p:graphicFrame>
    </p:spTree>
    <p:extLst>
      <p:ext uri="{BB962C8B-B14F-4D97-AF65-F5344CB8AC3E}">
        <p14:creationId xmlns:p14="http://schemas.microsoft.com/office/powerpoint/2010/main" val="35049347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B534A-ED3F-CB0D-6BDD-C0DE08BD8DCC}"/>
              </a:ext>
            </a:extLst>
          </p:cNvPr>
          <p:cNvSpPr>
            <a:spLocks noGrp="1"/>
          </p:cNvSpPr>
          <p:nvPr>
            <p:ph type="title"/>
          </p:nvPr>
        </p:nvSpPr>
        <p:spPr>
          <a:xfrm>
            <a:off x="1725170" y="624110"/>
            <a:ext cx="8911687" cy="719498"/>
          </a:xfrm>
        </p:spPr>
        <p:txBody>
          <a:bodyPr/>
          <a:lstStyle/>
          <a:p>
            <a:r>
              <a:rPr lang="en-US" dirty="0">
                <a:latin typeface="Times New Roman" panose="02020603050405020304" pitchFamily="18" charset="0"/>
                <a:cs typeface="Times New Roman" panose="02020603050405020304" pitchFamily="18" charset="0"/>
              </a:rPr>
              <a:t>Literature Survey:</a:t>
            </a:r>
            <a:endParaRPr lang="en-IN"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6CEE0453-256F-3E3E-50F4-CA484AC6F77D}"/>
              </a:ext>
            </a:extLst>
          </p:cNvPr>
          <p:cNvGraphicFramePr>
            <a:graphicFrameLocks noGrp="1"/>
          </p:cNvGraphicFramePr>
          <p:nvPr>
            <p:extLst>
              <p:ext uri="{D42A27DB-BD31-4B8C-83A1-F6EECF244321}">
                <p14:modId xmlns:p14="http://schemas.microsoft.com/office/powerpoint/2010/main" val="2170680412"/>
              </p:ext>
            </p:extLst>
          </p:nvPr>
        </p:nvGraphicFramePr>
        <p:xfrm>
          <a:off x="1908930" y="1343608"/>
          <a:ext cx="8936548" cy="4541839"/>
        </p:xfrm>
        <a:graphic>
          <a:graphicData uri="http://schemas.openxmlformats.org/drawingml/2006/table">
            <a:tbl>
              <a:tblPr/>
              <a:tblGrid>
                <a:gridCol w="463880">
                  <a:extLst>
                    <a:ext uri="{9D8B030D-6E8A-4147-A177-3AD203B41FA5}">
                      <a16:colId xmlns:a16="http://schemas.microsoft.com/office/drawing/2014/main" val="1395131405"/>
                    </a:ext>
                  </a:extLst>
                </a:gridCol>
                <a:gridCol w="1192193">
                  <a:extLst>
                    <a:ext uri="{9D8B030D-6E8A-4147-A177-3AD203B41FA5}">
                      <a16:colId xmlns:a16="http://schemas.microsoft.com/office/drawing/2014/main" val="1793049266"/>
                    </a:ext>
                  </a:extLst>
                </a:gridCol>
                <a:gridCol w="1818380">
                  <a:extLst>
                    <a:ext uri="{9D8B030D-6E8A-4147-A177-3AD203B41FA5}">
                      <a16:colId xmlns:a16="http://schemas.microsoft.com/office/drawing/2014/main" val="805150502"/>
                    </a:ext>
                  </a:extLst>
                </a:gridCol>
                <a:gridCol w="1376232">
                  <a:extLst>
                    <a:ext uri="{9D8B030D-6E8A-4147-A177-3AD203B41FA5}">
                      <a16:colId xmlns:a16="http://schemas.microsoft.com/office/drawing/2014/main" val="2502743979"/>
                    </a:ext>
                  </a:extLst>
                </a:gridCol>
                <a:gridCol w="1504709">
                  <a:extLst>
                    <a:ext uri="{9D8B030D-6E8A-4147-A177-3AD203B41FA5}">
                      <a16:colId xmlns:a16="http://schemas.microsoft.com/office/drawing/2014/main" val="3367861143"/>
                    </a:ext>
                  </a:extLst>
                </a:gridCol>
                <a:gridCol w="1388962">
                  <a:extLst>
                    <a:ext uri="{9D8B030D-6E8A-4147-A177-3AD203B41FA5}">
                      <a16:colId xmlns:a16="http://schemas.microsoft.com/office/drawing/2014/main" val="1976370255"/>
                    </a:ext>
                  </a:extLst>
                </a:gridCol>
                <a:gridCol w="1192192">
                  <a:extLst>
                    <a:ext uri="{9D8B030D-6E8A-4147-A177-3AD203B41FA5}">
                      <a16:colId xmlns:a16="http://schemas.microsoft.com/office/drawing/2014/main" val="1564934690"/>
                    </a:ext>
                  </a:extLst>
                </a:gridCol>
              </a:tblGrid>
              <a:tr h="326572">
                <a:tc>
                  <a:txBody>
                    <a:bodyPr/>
                    <a:lstStyle/>
                    <a:p>
                      <a:r>
                        <a:rPr lang="en-IN" sz="1400">
                          <a:latin typeface="Times New Roman" panose="02020603050405020304" pitchFamily="18" charset="0"/>
                          <a:cs typeface="Times New Roman" panose="02020603050405020304" pitchFamily="18" charset="0"/>
                        </a:rPr>
                        <a:t>Year</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dirty="0">
                          <a:latin typeface="Times New Roman" panose="02020603050405020304" pitchFamily="18" charset="0"/>
                          <a:cs typeface="Times New Roman" panose="02020603050405020304" pitchFamily="18" charset="0"/>
                        </a:rPr>
                        <a:t>Author(s)</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Research Paper / Topic</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Publication</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Key Finding</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Limitation</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Relevance</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7103169"/>
                  </a:ext>
                </a:extLst>
              </a:tr>
              <a:tr h="1903754">
                <a:tc>
                  <a:txBody>
                    <a:bodyPr/>
                    <a:lstStyle/>
                    <a:p>
                      <a:r>
                        <a:rPr lang="en-IN" sz="1400">
                          <a:latin typeface="Times New Roman" panose="02020603050405020304" pitchFamily="18" charset="0"/>
                          <a:cs typeface="Times New Roman" panose="02020603050405020304" pitchFamily="18" charset="0"/>
                        </a:rPr>
                        <a:t>2018</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it-IT" sz="1400" dirty="0">
                          <a:latin typeface="Times New Roman" panose="02020603050405020304" pitchFamily="18" charset="0"/>
                          <a:cs typeface="Times New Roman" panose="02020603050405020304" pitchFamily="18" charset="0"/>
                        </a:rPr>
                        <a:t>M. G. Antonelli et al.</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Times New Roman" panose="02020603050405020304" pitchFamily="18" charset="0"/>
                          <a:cs typeface="Times New Roman" panose="02020603050405020304" pitchFamily="18" charset="0"/>
                        </a:rPr>
                        <a:t>An Analytical Formula for Designing McKibben Pneumatic Muscles</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Times New Roman" panose="02020603050405020304" pitchFamily="18" charset="0"/>
                          <a:cs typeface="Times New Roman" panose="02020603050405020304" pitchFamily="18" charset="0"/>
                        </a:rPr>
                        <a:t>International Journal of Mechanical Engineering and Technology</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Developed an analytical force formula based on pressure, geometry, and contraction using FEM results.</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Valid only within the investigated parameter ranges.</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Useful for preliminary sizing of our actuator.</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04634041"/>
                  </a:ext>
                </a:extLst>
              </a:tr>
              <a:tr h="2311513">
                <a:tc>
                  <a:txBody>
                    <a:bodyPr/>
                    <a:lstStyle/>
                    <a:p>
                      <a:r>
                        <a:rPr lang="en-IN" sz="1400">
                          <a:latin typeface="Times New Roman" panose="02020603050405020304" pitchFamily="18" charset="0"/>
                          <a:cs typeface="Times New Roman" panose="02020603050405020304" pitchFamily="18" charset="0"/>
                        </a:rPr>
                        <a:t>2017</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it-IT" sz="1400">
                          <a:latin typeface="Times New Roman" panose="02020603050405020304" pitchFamily="18" charset="0"/>
                          <a:cs typeface="Times New Roman" panose="02020603050405020304" pitchFamily="18" charset="0"/>
                        </a:rPr>
                        <a:t>M. G. Antonelli et al.</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Numerical Modelling and Experimental Validation of a McKibben Pneumatic Muscle Actuator</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Journal of Intelligent Material Systems and Structures</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Developed nonlinear FEM considering hyperelastic tube behaviour and validated it experimentally.</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Thread friction and initial tube-braid gap were not modelled.</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Times New Roman" panose="02020603050405020304" pitchFamily="18" charset="0"/>
                          <a:cs typeface="Times New Roman" panose="02020603050405020304" pitchFamily="18" charset="0"/>
                        </a:rPr>
                        <a:t>Provides a basis for nonlinear FEM and experimental validation.</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1946841"/>
                  </a:ext>
                </a:extLst>
              </a:tr>
            </a:tbl>
          </a:graphicData>
        </a:graphic>
      </p:graphicFrame>
    </p:spTree>
    <p:extLst>
      <p:ext uri="{BB962C8B-B14F-4D97-AF65-F5344CB8AC3E}">
        <p14:creationId xmlns:p14="http://schemas.microsoft.com/office/powerpoint/2010/main" val="40626773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B534A-ED3F-CB0D-6BDD-C0DE08BD8DCC}"/>
              </a:ext>
            </a:extLst>
          </p:cNvPr>
          <p:cNvSpPr>
            <a:spLocks noGrp="1"/>
          </p:cNvSpPr>
          <p:nvPr>
            <p:ph type="title"/>
          </p:nvPr>
        </p:nvSpPr>
        <p:spPr>
          <a:xfrm>
            <a:off x="1725170" y="624110"/>
            <a:ext cx="8911687" cy="719498"/>
          </a:xfrm>
        </p:spPr>
        <p:txBody>
          <a:bodyPr/>
          <a:lstStyle/>
          <a:p>
            <a:r>
              <a:rPr lang="en-US" dirty="0">
                <a:latin typeface="Times New Roman" panose="02020603050405020304" pitchFamily="18" charset="0"/>
                <a:cs typeface="Times New Roman" panose="02020603050405020304" pitchFamily="18" charset="0"/>
              </a:rPr>
              <a:t>Literature Survey:</a:t>
            </a:r>
            <a:endParaRPr lang="en-IN"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7C44D4ED-5969-B395-520C-E52DFDFE96C1}"/>
              </a:ext>
            </a:extLst>
          </p:cNvPr>
          <p:cNvGraphicFramePr>
            <a:graphicFrameLocks noGrp="1"/>
          </p:cNvGraphicFramePr>
          <p:nvPr>
            <p:extLst>
              <p:ext uri="{D42A27DB-BD31-4B8C-83A1-F6EECF244321}">
                <p14:modId xmlns:p14="http://schemas.microsoft.com/office/powerpoint/2010/main" val="3132320945"/>
              </p:ext>
            </p:extLst>
          </p:nvPr>
        </p:nvGraphicFramePr>
        <p:xfrm>
          <a:off x="1932971" y="1343608"/>
          <a:ext cx="8911686" cy="4710742"/>
        </p:xfrm>
        <a:graphic>
          <a:graphicData uri="http://schemas.openxmlformats.org/drawingml/2006/table">
            <a:tbl>
              <a:tblPr/>
              <a:tblGrid>
                <a:gridCol w="567161">
                  <a:extLst>
                    <a:ext uri="{9D8B030D-6E8A-4147-A177-3AD203B41FA5}">
                      <a16:colId xmlns:a16="http://schemas.microsoft.com/office/drawing/2014/main" val="1462864271"/>
                    </a:ext>
                  </a:extLst>
                </a:gridCol>
                <a:gridCol w="1192192">
                  <a:extLst>
                    <a:ext uri="{9D8B030D-6E8A-4147-A177-3AD203B41FA5}">
                      <a16:colId xmlns:a16="http://schemas.microsoft.com/office/drawing/2014/main" val="3406782331"/>
                    </a:ext>
                  </a:extLst>
                </a:gridCol>
                <a:gridCol w="2059941">
                  <a:extLst>
                    <a:ext uri="{9D8B030D-6E8A-4147-A177-3AD203B41FA5}">
                      <a16:colId xmlns:a16="http://schemas.microsoft.com/office/drawing/2014/main" val="4125801229"/>
                    </a:ext>
                  </a:extLst>
                </a:gridCol>
                <a:gridCol w="1099948">
                  <a:extLst>
                    <a:ext uri="{9D8B030D-6E8A-4147-A177-3AD203B41FA5}">
                      <a16:colId xmlns:a16="http://schemas.microsoft.com/office/drawing/2014/main" val="1724235165"/>
                    </a:ext>
                  </a:extLst>
                </a:gridCol>
                <a:gridCol w="1446248">
                  <a:extLst>
                    <a:ext uri="{9D8B030D-6E8A-4147-A177-3AD203B41FA5}">
                      <a16:colId xmlns:a16="http://schemas.microsoft.com/office/drawing/2014/main" val="833784191"/>
                    </a:ext>
                  </a:extLst>
                </a:gridCol>
                <a:gridCol w="1273098">
                  <a:extLst>
                    <a:ext uri="{9D8B030D-6E8A-4147-A177-3AD203B41FA5}">
                      <a16:colId xmlns:a16="http://schemas.microsoft.com/office/drawing/2014/main" val="3686952323"/>
                    </a:ext>
                  </a:extLst>
                </a:gridCol>
                <a:gridCol w="1273098">
                  <a:extLst>
                    <a:ext uri="{9D8B030D-6E8A-4147-A177-3AD203B41FA5}">
                      <a16:colId xmlns:a16="http://schemas.microsoft.com/office/drawing/2014/main" val="2689067491"/>
                    </a:ext>
                  </a:extLst>
                </a:gridCol>
              </a:tblGrid>
              <a:tr h="346296">
                <a:tc>
                  <a:txBody>
                    <a:bodyPr/>
                    <a:lstStyle/>
                    <a:p>
                      <a:r>
                        <a:rPr lang="en-IN" sz="1400" dirty="0">
                          <a:latin typeface="Times New Roman" panose="02020603050405020304" pitchFamily="18" charset="0"/>
                          <a:cs typeface="Times New Roman" panose="02020603050405020304" pitchFamily="18" charset="0"/>
                        </a:rPr>
                        <a:t>Year</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Author(s)</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Research Paper / Topic</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Publication</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Key Finding</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Limitation</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Relevance</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0444861"/>
                  </a:ext>
                </a:extLst>
              </a:tr>
              <a:tr h="2418849">
                <a:tc>
                  <a:txBody>
                    <a:bodyPr/>
                    <a:lstStyle/>
                    <a:p>
                      <a:r>
                        <a:rPr lang="en-IN" sz="1400" dirty="0">
                          <a:latin typeface="Times New Roman" panose="02020603050405020304" pitchFamily="18" charset="0"/>
                          <a:cs typeface="Times New Roman" panose="02020603050405020304" pitchFamily="18" charset="0"/>
                        </a:rPr>
                        <a:t>2017</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A. K. P. Ashwin, A. Ghosal</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Times New Roman" panose="02020603050405020304" pitchFamily="18" charset="0"/>
                          <a:cs typeface="Times New Roman" panose="02020603050405020304" pitchFamily="18" charset="0"/>
                        </a:rPr>
                        <a:t>Mathematical Model for Pressure-Deformation Relationship of Miniaturized McKibben Actuators</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iNaCoMM 2017</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Developed a pressure-deformation model with less than 10% standard error and predicted the locking angle near 54.7°.</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Focused on miniaturized actuators and specific modelling assumptions.</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Useful for understanding pressure, deformation, and braid-angle relationships.</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29947300"/>
                  </a:ext>
                </a:extLst>
              </a:tr>
              <a:tr h="1945597">
                <a:tc>
                  <a:txBody>
                    <a:bodyPr/>
                    <a:lstStyle/>
                    <a:p>
                      <a:r>
                        <a:rPr lang="en-IN" sz="1400">
                          <a:latin typeface="Times New Roman" panose="02020603050405020304" pitchFamily="18" charset="0"/>
                          <a:cs typeface="Times New Roman" panose="02020603050405020304" pitchFamily="18" charset="0"/>
                        </a:rPr>
                        <a:t>2014</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T. Nozaki, T. Noritsugu</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Motion Analysis of McKibben Type Pneumatic Rubber Artificial Muscle with Finite Element Method</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International Journal of Automation Technology</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Developed a 3D FEM model and investigated the influence of braid angle on actuator motion.</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Friction between tube, fibers, and fiber strands was not directly modelled.</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Times New Roman" panose="02020603050405020304" pitchFamily="18" charset="0"/>
                          <a:cs typeface="Times New Roman" panose="02020603050405020304" pitchFamily="18" charset="0"/>
                        </a:rPr>
                        <a:t>Useful for braid-angle analysis and FEA methodology.</a:t>
                      </a:r>
                    </a:p>
                  </a:txBody>
                  <a:tcPr marL="41787" marR="41787" marT="20894" marB="208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83205130"/>
                  </a:ext>
                </a:extLst>
              </a:tr>
            </a:tbl>
          </a:graphicData>
        </a:graphic>
      </p:graphicFrame>
    </p:spTree>
    <p:extLst>
      <p:ext uri="{BB962C8B-B14F-4D97-AF65-F5344CB8AC3E}">
        <p14:creationId xmlns:p14="http://schemas.microsoft.com/office/powerpoint/2010/main" val="28199905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B534A-ED3F-CB0D-6BDD-C0DE08BD8DCC}"/>
              </a:ext>
            </a:extLst>
          </p:cNvPr>
          <p:cNvSpPr>
            <a:spLocks noGrp="1"/>
          </p:cNvSpPr>
          <p:nvPr>
            <p:ph type="title"/>
          </p:nvPr>
        </p:nvSpPr>
        <p:spPr>
          <a:xfrm>
            <a:off x="1725170" y="624110"/>
            <a:ext cx="8911687" cy="719498"/>
          </a:xfrm>
        </p:spPr>
        <p:txBody>
          <a:bodyPr/>
          <a:lstStyle/>
          <a:p>
            <a:r>
              <a:rPr lang="en-US" dirty="0">
                <a:latin typeface="Times New Roman" panose="02020603050405020304" pitchFamily="18" charset="0"/>
                <a:cs typeface="Times New Roman" panose="02020603050405020304" pitchFamily="18" charset="0"/>
              </a:rPr>
              <a:t>Literature Survey:</a:t>
            </a:r>
            <a:endParaRPr lang="en-IN"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1C1422C1-6785-B615-4ED0-F9729F877233}"/>
              </a:ext>
            </a:extLst>
          </p:cNvPr>
          <p:cNvGraphicFramePr>
            <a:graphicFrameLocks noGrp="1"/>
          </p:cNvGraphicFramePr>
          <p:nvPr>
            <p:extLst>
              <p:ext uri="{D42A27DB-BD31-4B8C-83A1-F6EECF244321}">
                <p14:modId xmlns:p14="http://schemas.microsoft.com/office/powerpoint/2010/main" val="3306966281"/>
              </p:ext>
            </p:extLst>
          </p:nvPr>
        </p:nvGraphicFramePr>
        <p:xfrm>
          <a:off x="1909822" y="1343608"/>
          <a:ext cx="8911686" cy="4783775"/>
        </p:xfrm>
        <a:graphic>
          <a:graphicData uri="http://schemas.openxmlformats.org/drawingml/2006/table">
            <a:tbl>
              <a:tblPr/>
              <a:tblGrid>
                <a:gridCol w="520862">
                  <a:extLst>
                    <a:ext uri="{9D8B030D-6E8A-4147-A177-3AD203B41FA5}">
                      <a16:colId xmlns:a16="http://schemas.microsoft.com/office/drawing/2014/main" val="3688885732"/>
                    </a:ext>
                  </a:extLst>
                </a:gridCol>
                <a:gridCol w="1226916">
                  <a:extLst>
                    <a:ext uri="{9D8B030D-6E8A-4147-A177-3AD203B41FA5}">
                      <a16:colId xmlns:a16="http://schemas.microsoft.com/office/drawing/2014/main" val="398880205"/>
                    </a:ext>
                  </a:extLst>
                </a:gridCol>
                <a:gridCol w="1828800">
                  <a:extLst>
                    <a:ext uri="{9D8B030D-6E8A-4147-A177-3AD203B41FA5}">
                      <a16:colId xmlns:a16="http://schemas.microsoft.com/office/drawing/2014/main" val="4090413387"/>
                    </a:ext>
                  </a:extLst>
                </a:gridCol>
                <a:gridCol w="1157468">
                  <a:extLst>
                    <a:ext uri="{9D8B030D-6E8A-4147-A177-3AD203B41FA5}">
                      <a16:colId xmlns:a16="http://schemas.microsoft.com/office/drawing/2014/main" val="4039513427"/>
                    </a:ext>
                  </a:extLst>
                </a:gridCol>
                <a:gridCol w="1631444">
                  <a:extLst>
                    <a:ext uri="{9D8B030D-6E8A-4147-A177-3AD203B41FA5}">
                      <a16:colId xmlns:a16="http://schemas.microsoft.com/office/drawing/2014/main" val="2474392903"/>
                    </a:ext>
                  </a:extLst>
                </a:gridCol>
                <a:gridCol w="1273098">
                  <a:extLst>
                    <a:ext uri="{9D8B030D-6E8A-4147-A177-3AD203B41FA5}">
                      <a16:colId xmlns:a16="http://schemas.microsoft.com/office/drawing/2014/main" val="4033813967"/>
                    </a:ext>
                  </a:extLst>
                </a:gridCol>
                <a:gridCol w="1273098">
                  <a:extLst>
                    <a:ext uri="{9D8B030D-6E8A-4147-A177-3AD203B41FA5}">
                      <a16:colId xmlns:a16="http://schemas.microsoft.com/office/drawing/2014/main" val="3385375379"/>
                    </a:ext>
                  </a:extLst>
                </a:gridCol>
              </a:tblGrid>
              <a:tr h="346296">
                <a:tc>
                  <a:txBody>
                    <a:bodyPr/>
                    <a:lstStyle/>
                    <a:p>
                      <a:r>
                        <a:rPr lang="en-IN" sz="1400" dirty="0">
                          <a:latin typeface="Times New Roman" panose="02020603050405020304" pitchFamily="18" charset="0"/>
                          <a:cs typeface="Times New Roman" panose="02020603050405020304" pitchFamily="18" charset="0"/>
                        </a:rPr>
                        <a:t>Year</a:t>
                      </a:r>
                    </a:p>
                  </a:txBody>
                  <a:tcPr marL="35983" marR="35983" marT="17992" marB="17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Author(s)</a:t>
                      </a:r>
                    </a:p>
                  </a:txBody>
                  <a:tcPr marL="35983" marR="35983" marT="17992" marB="17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Research Paper / Topic</a:t>
                      </a:r>
                    </a:p>
                  </a:txBody>
                  <a:tcPr marL="35983" marR="35983" marT="17992" marB="17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Publication</a:t>
                      </a:r>
                    </a:p>
                  </a:txBody>
                  <a:tcPr marL="35983" marR="35983" marT="17992" marB="17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Key Finding</a:t>
                      </a:r>
                    </a:p>
                  </a:txBody>
                  <a:tcPr marL="35983" marR="35983" marT="17992" marB="17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Limitation</a:t>
                      </a:r>
                    </a:p>
                  </a:txBody>
                  <a:tcPr marL="35983" marR="35983" marT="17992" marB="17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Relevance</a:t>
                      </a:r>
                    </a:p>
                  </a:txBody>
                  <a:tcPr marL="35983" marR="35983" marT="17992" marB="17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73631198"/>
                  </a:ext>
                </a:extLst>
              </a:tr>
              <a:tr h="1947057">
                <a:tc>
                  <a:txBody>
                    <a:bodyPr/>
                    <a:lstStyle/>
                    <a:p>
                      <a:r>
                        <a:rPr lang="en-IN" sz="1400" dirty="0">
                          <a:latin typeface="Times New Roman" panose="02020603050405020304" pitchFamily="18" charset="0"/>
                          <a:cs typeface="Times New Roman" panose="02020603050405020304" pitchFamily="18" charset="0"/>
                        </a:rPr>
                        <a:t>2013</a:t>
                      </a:r>
                    </a:p>
                  </a:txBody>
                  <a:tcPr marL="35983" marR="35983" marT="17992" marB="17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pt-BR" sz="1400">
                          <a:latin typeface="Times New Roman" panose="02020603050405020304" pitchFamily="18" charset="0"/>
                          <a:cs typeface="Times New Roman" panose="02020603050405020304" pitchFamily="18" charset="0"/>
                        </a:rPr>
                        <a:t>I. da Paz Lopes, W. Scaff, O. Horikawa</a:t>
                      </a:r>
                    </a:p>
                  </a:txBody>
                  <a:tcPr marL="35983" marR="35983" marT="17992" marB="17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Times New Roman" panose="02020603050405020304" pitchFamily="18" charset="0"/>
                          <a:cs typeface="Times New Roman" panose="02020603050405020304" pitchFamily="18" charset="0"/>
                        </a:rPr>
                        <a:t>Development A Nonconducting Manipulator, McKibben Pneumatic Artificial Muscle</a:t>
                      </a:r>
                    </a:p>
                  </a:txBody>
                  <a:tcPr marL="35983" marR="35983" marT="17992" marB="17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COBEM 2013</a:t>
                      </a:r>
                    </a:p>
                  </a:txBody>
                  <a:tcPr marL="35983" marR="35983" marT="17992" marB="17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Developed and experimentally tested a nonconducting McKibben actuator for a robotic manipulator.</a:t>
                      </a:r>
                    </a:p>
                  </a:txBody>
                  <a:tcPr marL="35983" marR="35983" marT="17992" marB="17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Relatively low force and force reduction was observed, possibly due to leakage.</a:t>
                      </a:r>
                    </a:p>
                  </a:txBody>
                  <a:tcPr marL="35983" marR="35983" marT="17992" marB="17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Useful for actuator fabrication and robotic integration.</a:t>
                      </a:r>
                    </a:p>
                  </a:txBody>
                  <a:tcPr marL="35983" marR="35983" marT="17992" marB="17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41380532"/>
                  </a:ext>
                </a:extLst>
              </a:tr>
              <a:tr h="2490422">
                <a:tc>
                  <a:txBody>
                    <a:bodyPr/>
                    <a:lstStyle/>
                    <a:p>
                      <a:r>
                        <a:rPr lang="en-IN" sz="1400">
                          <a:latin typeface="Times New Roman" panose="02020603050405020304" pitchFamily="18" charset="0"/>
                          <a:cs typeface="Times New Roman" panose="02020603050405020304" pitchFamily="18" charset="0"/>
                        </a:rPr>
                        <a:t>2012</a:t>
                      </a:r>
                    </a:p>
                  </a:txBody>
                  <a:tcPr marL="35983" marR="35983" marT="17992" marB="17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it-IT" sz="1400">
                          <a:latin typeface="Times New Roman" panose="02020603050405020304" pitchFamily="18" charset="0"/>
                          <a:cs typeface="Times New Roman" panose="02020603050405020304" pitchFamily="18" charset="0"/>
                        </a:rPr>
                        <a:t>K. Iwata, K. Suzumori, S. Wakimoto</a:t>
                      </a:r>
                    </a:p>
                  </a:txBody>
                  <a:tcPr marL="35983" marR="35983" marT="17992" marB="17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A Method of Designing and Fabricating McKibben Muscles Driven by 7 MPa Hydraulics</a:t>
                      </a:r>
                    </a:p>
                  </a:txBody>
                  <a:tcPr marL="35983" marR="35983" marT="17992" marB="17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International Journal of Automation Technology</a:t>
                      </a:r>
                    </a:p>
                  </a:txBody>
                  <a:tcPr marL="35983" marR="35983" marT="17992" marB="17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Developed a hydraulic McKibben muscle and achieved about 8 kN contraction force at 7 MPa. FEM was used to optimize the sleeve angle.</a:t>
                      </a:r>
                    </a:p>
                  </a:txBody>
                  <a:tcPr marL="35983" marR="35983" marT="17992" marB="17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Focused on high-pressure hydraulic operation.</a:t>
                      </a:r>
                    </a:p>
                  </a:txBody>
                  <a:tcPr marL="35983" marR="35983" marT="17992" marB="17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Times New Roman" panose="02020603050405020304" pitchFamily="18" charset="0"/>
                          <a:cs typeface="Times New Roman" panose="02020603050405020304" pitchFamily="18" charset="0"/>
                        </a:rPr>
                        <a:t>The most directly relevant paper to our hydraulic McKibben actuator and sheath design.</a:t>
                      </a:r>
                    </a:p>
                  </a:txBody>
                  <a:tcPr marL="35983" marR="35983" marT="17992" marB="179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08711894"/>
                  </a:ext>
                </a:extLst>
              </a:tr>
            </a:tbl>
          </a:graphicData>
        </a:graphic>
      </p:graphicFrame>
    </p:spTree>
    <p:extLst>
      <p:ext uri="{BB962C8B-B14F-4D97-AF65-F5344CB8AC3E}">
        <p14:creationId xmlns:p14="http://schemas.microsoft.com/office/powerpoint/2010/main" val="20065067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B534A-ED3F-CB0D-6BDD-C0DE08BD8DCC}"/>
              </a:ext>
            </a:extLst>
          </p:cNvPr>
          <p:cNvSpPr>
            <a:spLocks noGrp="1"/>
          </p:cNvSpPr>
          <p:nvPr>
            <p:ph type="title"/>
          </p:nvPr>
        </p:nvSpPr>
        <p:spPr>
          <a:xfrm>
            <a:off x="1725170" y="624110"/>
            <a:ext cx="8911687" cy="719498"/>
          </a:xfrm>
        </p:spPr>
        <p:txBody>
          <a:bodyPr/>
          <a:lstStyle/>
          <a:p>
            <a:r>
              <a:rPr lang="en-US" dirty="0">
                <a:latin typeface="Times New Roman" panose="02020603050405020304" pitchFamily="18" charset="0"/>
                <a:cs typeface="Times New Roman" panose="02020603050405020304" pitchFamily="18" charset="0"/>
              </a:rPr>
              <a:t>Literature Survey:</a:t>
            </a:r>
            <a:endParaRPr lang="en-IN"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71751E34-5D14-B7D8-9B3A-1F49608FB0B4}"/>
              </a:ext>
            </a:extLst>
          </p:cNvPr>
          <p:cNvGraphicFramePr>
            <a:graphicFrameLocks noGrp="1"/>
          </p:cNvGraphicFramePr>
          <p:nvPr>
            <p:extLst>
              <p:ext uri="{D42A27DB-BD31-4B8C-83A1-F6EECF244321}">
                <p14:modId xmlns:p14="http://schemas.microsoft.com/office/powerpoint/2010/main" val="665388646"/>
              </p:ext>
            </p:extLst>
          </p:nvPr>
        </p:nvGraphicFramePr>
        <p:xfrm>
          <a:off x="1895071" y="1343608"/>
          <a:ext cx="9125765" cy="2802702"/>
        </p:xfrm>
        <a:graphic>
          <a:graphicData uri="http://schemas.openxmlformats.org/drawingml/2006/table">
            <a:tbl>
              <a:tblPr/>
              <a:tblGrid>
                <a:gridCol w="628210">
                  <a:extLst>
                    <a:ext uri="{9D8B030D-6E8A-4147-A177-3AD203B41FA5}">
                      <a16:colId xmlns:a16="http://schemas.microsoft.com/office/drawing/2014/main" val="3483630056"/>
                    </a:ext>
                  </a:extLst>
                </a:gridCol>
                <a:gridCol w="1493134">
                  <a:extLst>
                    <a:ext uri="{9D8B030D-6E8A-4147-A177-3AD203B41FA5}">
                      <a16:colId xmlns:a16="http://schemas.microsoft.com/office/drawing/2014/main" val="2542295024"/>
                    </a:ext>
                  </a:extLst>
                </a:gridCol>
                <a:gridCol w="2268638">
                  <a:extLst>
                    <a:ext uri="{9D8B030D-6E8A-4147-A177-3AD203B41FA5}">
                      <a16:colId xmlns:a16="http://schemas.microsoft.com/office/drawing/2014/main" val="2101507461"/>
                    </a:ext>
                  </a:extLst>
                </a:gridCol>
                <a:gridCol w="1169043">
                  <a:extLst>
                    <a:ext uri="{9D8B030D-6E8A-4147-A177-3AD203B41FA5}">
                      <a16:colId xmlns:a16="http://schemas.microsoft.com/office/drawing/2014/main" val="2619754582"/>
                    </a:ext>
                  </a:extLst>
                </a:gridCol>
                <a:gridCol w="1117666">
                  <a:extLst>
                    <a:ext uri="{9D8B030D-6E8A-4147-A177-3AD203B41FA5}">
                      <a16:colId xmlns:a16="http://schemas.microsoft.com/office/drawing/2014/main" val="614454482"/>
                    </a:ext>
                  </a:extLst>
                </a:gridCol>
                <a:gridCol w="1224537">
                  <a:extLst>
                    <a:ext uri="{9D8B030D-6E8A-4147-A177-3AD203B41FA5}">
                      <a16:colId xmlns:a16="http://schemas.microsoft.com/office/drawing/2014/main" val="3601833249"/>
                    </a:ext>
                  </a:extLst>
                </a:gridCol>
                <a:gridCol w="1224537">
                  <a:extLst>
                    <a:ext uri="{9D8B030D-6E8A-4147-A177-3AD203B41FA5}">
                      <a16:colId xmlns:a16="http://schemas.microsoft.com/office/drawing/2014/main" val="1893046620"/>
                    </a:ext>
                  </a:extLst>
                </a:gridCol>
              </a:tblGrid>
              <a:tr h="438893">
                <a:tc>
                  <a:txBody>
                    <a:bodyPr/>
                    <a:lstStyle/>
                    <a:p>
                      <a:r>
                        <a:rPr lang="en-IN" sz="1400" dirty="0">
                          <a:latin typeface="Times New Roman" panose="02020603050405020304" pitchFamily="18" charset="0"/>
                          <a:cs typeface="Times New Roman" panose="02020603050405020304" pitchFamily="18" charset="0"/>
                        </a:rPr>
                        <a:t>Year</a:t>
                      </a:r>
                    </a:p>
                  </a:txBody>
                  <a:tcPr marL="82685" marR="82685" marT="41343" marB="413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Author(s)</a:t>
                      </a:r>
                    </a:p>
                  </a:txBody>
                  <a:tcPr marL="82685" marR="82685" marT="41343" marB="413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dirty="0">
                          <a:latin typeface="Times New Roman" panose="02020603050405020304" pitchFamily="18" charset="0"/>
                          <a:cs typeface="Times New Roman" panose="02020603050405020304" pitchFamily="18" charset="0"/>
                        </a:rPr>
                        <a:t>Research Paper / Topic</a:t>
                      </a:r>
                    </a:p>
                  </a:txBody>
                  <a:tcPr marL="82685" marR="82685" marT="41343" marB="413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Publication</a:t>
                      </a:r>
                    </a:p>
                  </a:txBody>
                  <a:tcPr marL="82685" marR="82685" marT="41343" marB="413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Key Finding</a:t>
                      </a:r>
                    </a:p>
                  </a:txBody>
                  <a:tcPr marL="82685" marR="82685" marT="41343" marB="413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Limitation</a:t>
                      </a:r>
                    </a:p>
                  </a:txBody>
                  <a:tcPr marL="82685" marR="82685" marT="41343" marB="413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Relevance</a:t>
                      </a:r>
                    </a:p>
                  </a:txBody>
                  <a:tcPr marL="82685" marR="82685" marT="41343" marB="413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98756730"/>
                  </a:ext>
                </a:extLst>
              </a:tr>
              <a:tr h="2363809">
                <a:tc>
                  <a:txBody>
                    <a:bodyPr/>
                    <a:lstStyle/>
                    <a:p>
                      <a:r>
                        <a:rPr lang="en-IN" sz="1400" dirty="0">
                          <a:latin typeface="Times New Roman" panose="02020603050405020304" pitchFamily="18" charset="0"/>
                          <a:cs typeface="Times New Roman" panose="02020603050405020304" pitchFamily="18" charset="0"/>
                        </a:rPr>
                        <a:t>2005</a:t>
                      </a:r>
                    </a:p>
                  </a:txBody>
                  <a:tcPr marL="82685" marR="82685" marT="41343" marB="413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400">
                          <a:latin typeface="Times New Roman" panose="02020603050405020304" pitchFamily="18" charset="0"/>
                          <a:cs typeface="Times New Roman" panose="02020603050405020304" pitchFamily="18" charset="0"/>
                        </a:rPr>
                        <a:t>R. Ramasamy et al.</a:t>
                      </a:r>
                    </a:p>
                  </a:txBody>
                  <a:tcPr marL="82685" marR="82685" marT="41343" marB="413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An Application of Finite Element Modelling to Pneumatic Artificial Muscle</a:t>
                      </a:r>
                    </a:p>
                  </a:txBody>
                  <a:tcPr marL="82685" marR="82685" marT="41343" marB="413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Times New Roman" panose="02020603050405020304" pitchFamily="18" charset="0"/>
                          <a:cs typeface="Times New Roman" panose="02020603050405020304" pitchFamily="18" charset="0"/>
                        </a:rPr>
                        <a:t>American Journal of Applied Sciences</a:t>
                      </a:r>
                    </a:p>
                  </a:txBody>
                  <a:tcPr marL="82685" marR="82685" marT="41343" marB="413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Established FEM-based analysis for studying PAM deformation and force behaviour.</a:t>
                      </a:r>
                    </a:p>
                  </a:txBody>
                  <a:tcPr marL="82685" marR="82685" marT="41343" marB="413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latin typeface="Times New Roman" panose="02020603050405020304" pitchFamily="18" charset="0"/>
                          <a:cs typeface="Times New Roman" panose="02020603050405020304" pitchFamily="18" charset="0"/>
                        </a:rPr>
                        <a:t>General PAM modelling with limited detailed McKibben-specific nonlinear analysis.</a:t>
                      </a:r>
                    </a:p>
                  </a:txBody>
                  <a:tcPr marL="82685" marR="82685" marT="41343" marB="413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Times New Roman" panose="02020603050405020304" pitchFamily="18" charset="0"/>
                          <a:cs typeface="Times New Roman" panose="02020603050405020304" pitchFamily="18" charset="0"/>
                        </a:rPr>
                        <a:t>Provides the basic FEM foundation for our actuator analysis.</a:t>
                      </a:r>
                    </a:p>
                  </a:txBody>
                  <a:tcPr marL="82685" marR="82685" marT="41343" marB="413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17919430"/>
                  </a:ext>
                </a:extLst>
              </a:tr>
            </a:tbl>
          </a:graphicData>
        </a:graphic>
      </p:graphicFrame>
    </p:spTree>
    <p:extLst>
      <p:ext uri="{BB962C8B-B14F-4D97-AF65-F5344CB8AC3E}">
        <p14:creationId xmlns:p14="http://schemas.microsoft.com/office/powerpoint/2010/main" val="24346345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B534A-ED3F-CB0D-6BDD-C0DE08BD8DCC}"/>
              </a:ext>
            </a:extLst>
          </p:cNvPr>
          <p:cNvSpPr>
            <a:spLocks noGrp="1"/>
          </p:cNvSpPr>
          <p:nvPr>
            <p:ph type="title"/>
          </p:nvPr>
        </p:nvSpPr>
        <p:spPr>
          <a:xfrm>
            <a:off x="1725170" y="624110"/>
            <a:ext cx="8911687" cy="719498"/>
          </a:xfrm>
        </p:spPr>
        <p:txBody>
          <a:bodyPr/>
          <a:lstStyle/>
          <a:p>
            <a:r>
              <a:rPr lang="en-US" dirty="0">
                <a:latin typeface="Times New Roman" panose="02020603050405020304" pitchFamily="18" charset="0"/>
                <a:cs typeface="Times New Roman" panose="02020603050405020304" pitchFamily="18" charset="0"/>
              </a:rPr>
              <a:t>Literature Survey:</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63CA829-8474-3BAA-B992-41D05D3FB742}"/>
              </a:ext>
            </a:extLst>
          </p:cNvPr>
          <p:cNvSpPr>
            <a:spLocks noGrp="1"/>
          </p:cNvSpPr>
          <p:nvPr>
            <p:ph idx="1"/>
          </p:nvPr>
        </p:nvSpPr>
        <p:spPr>
          <a:xfrm>
            <a:off x="2626534" y="1433804"/>
            <a:ext cx="8990077" cy="4267200"/>
          </a:xfrm>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Previous studies on McKibben artificial muscles have mainly focused on understanding their working principle, mathematical modeling, and the influence of braid geometry on actuator performance. Analytical and experimental studies have established relationships between internal pressure, braid angle, contraction, actuator dimensions, and generated force. The literature also shows that the braided sheath plays a major role in converting radial expansion of the bladder into axial contraction. Finite Element Analysis has therefore been widely used to study deformation, stress distribution, and the effect of braid angle before fabrication. </a:t>
            </a:r>
          </a:p>
          <a:p>
            <a:pPr algn="just"/>
            <a:r>
              <a:rPr lang="en-US" dirty="0">
                <a:latin typeface="Times New Roman" panose="02020603050405020304" pitchFamily="18" charset="0"/>
                <a:cs typeface="Times New Roman" panose="02020603050405020304" pitchFamily="18" charset="0"/>
              </a:rPr>
              <a:t>Further studies have focused on improving the design and functionality of McKibben actuators. FEM-based investigations have been used for design optimization, while analytical models have been developed for predicting force and pressure-contraction behavior. Researchers have also investigated multifunctional braided muscles capable of bidirectional motion and variable stiffness. These studies demonstrate that actuator geometry, braid configuration, and material properties strongly influence the final performance of the muscle.</a:t>
            </a:r>
          </a:p>
        </p:txBody>
      </p:sp>
    </p:spTree>
    <p:extLst>
      <p:ext uri="{BB962C8B-B14F-4D97-AF65-F5344CB8AC3E}">
        <p14:creationId xmlns:p14="http://schemas.microsoft.com/office/powerpoint/2010/main" val="30280653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B534A-ED3F-CB0D-6BDD-C0DE08BD8DCC}"/>
              </a:ext>
            </a:extLst>
          </p:cNvPr>
          <p:cNvSpPr>
            <a:spLocks noGrp="1"/>
          </p:cNvSpPr>
          <p:nvPr>
            <p:ph type="title"/>
          </p:nvPr>
        </p:nvSpPr>
        <p:spPr>
          <a:xfrm>
            <a:off x="1725170" y="624110"/>
            <a:ext cx="8911687" cy="719498"/>
          </a:xfrm>
        </p:spPr>
        <p:txBody>
          <a:bodyPr/>
          <a:lstStyle/>
          <a:p>
            <a:r>
              <a:rPr lang="en-US" dirty="0">
                <a:latin typeface="Times New Roman" panose="02020603050405020304" pitchFamily="18" charset="0"/>
                <a:cs typeface="Times New Roman" panose="02020603050405020304" pitchFamily="18" charset="0"/>
              </a:rPr>
              <a:t>Literature Survey:</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63CA829-8474-3BAA-B992-41D05D3FB742}"/>
              </a:ext>
            </a:extLst>
          </p:cNvPr>
          <p:cNvSpPr>
            <a:spLocks noGrp="1"/>
          </p:cNvSpPr>
          <p:nvPr>
            <p:ph idx="1"/>
          </p:nvPr>
        </p:nvSpPr>
        <p:spPr>
          <a:xfrm>
            <a:off x="2626534" y="1433804"/>
            <a:ext cx="8990077" cy="4267200"/>
          </a:xfrm>
        </p:spPr>
        <p:txBody>
          <a:bodyPr>
            <a:normAutofit/>
          </a:bodyPr>
          <a:lstStyle/>
          <a:p>
            <a:pPr algn="just"/>
            <a:r>
              <a:rPr lang="en-US" dirty="0">
                <a:latin typeface="Times New Roman" panose="02020603050405020304" pitchFamily="18" charset="0"/>
                <a:cs typeface="Times New Roman" panose="02020603050405020304" pitchFamily="18" charset="0"/>
              </a:rPr>
              <a:t>For high-force applications, hydraulic actuation has also been investigated as an alternative to conventional pneumatic McKibben muscles. The hydraulic McKibben study by Iwata et al. demonstrated operation at pressures up to 7 MPa and investigated the design and fabrication of the braided muscle using FEM-based sleeve optimization. The reviewed hydraulic soft-actuator literature further identifies high force capability as an important advantage, while also highlighting challenges such as nonlinear deformation, hysteresis, leakage, and the need for systematic design methods.</a:t>
            </a:r>
          </a:p>
          <a:p>
            <a:pPr algn="just"/>
            <a:r>
              <a:rPr lang="en-US" dirty="0">
                <a:latin typeface="Times New Roman" panose="02020603050405020304" pitchFamily="18" charset="0"/>
                <a:cs typeface="Times New Roman" panose="02020603050405020304" pitchFamily="18" charset="0"/>
              </a:rPr>
              <a:t>Research Gap: Based on the reviewed literature, the present work focuses on applying a hydraulic McKibben muscle in a single-DOF robotic elbow joint using a biceps-triceps type arrangement, designed to lift a minimum 5 kg load. There is practical validation can also be done.</a:t>
            </a:r>
          </a:p>
        </p:txBody>
      </p:sp>
    </p:spTree>
    <p:extLst>
      <p:ext uri="{BB962C8B-B14F-4D97-AF65-F5344CB8AC3E}">
        <p14:creationId xmlns:p14="http://schemas.microsoft.com/office/powerpoint/2010/main" val="38824920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7E9AE-9871-6B83-F520-829F3936D0E9}"/>
              </a:ext>
            </a:extLst>
          </p:cNvPr>
          <p:cNvSpPr>
            <a:spLocks noGrp="1"/>
          </p:cNvSpPr>
          <p:nvPr>
            <p:ph type="title"/>
          </p:nvPr>
        </p:nvSpPr>
        <p:spPr>
          <a:xfrm>
            <a:off x="1586194" y="605448"/>
            <a:ext cx="10002384" cy="1280890"/>
          </a:xfrm>
        </p:spPr>
        <p:txBody>
          <a:bodyPr/>
          <a:lstStyle/>
          <a:p>
            <a:r>
              <a:rPr lang="en-US" dirty="0">
                <a:latin typeface="Times New Roman" panose="02020603050405020304" pitchFamily="18" charset="0"/>
                <a:cs typeface="Times New Roman" panose="02020603050405020304" pitchFamily="18" charset="0"/>
              </a:rPr>
              <a:t>Derivation For Pressure and Force Relation: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F78D876-251E-85C5-6A7D-BE0697549C31}"/>
              </a:ext>
            </a:extLst>
          </p:cNvPr>
          <p:cNvSpPr>
            <a:spLocks noGrp="1"/>
          </p:cNvSpPr>
          <p:nvPr>
            <p:ph idx="1"/>
          </p:nvPr>
        </p:nvSpPr>
        <p:spPr>
          <a:xfrm>
            <a:off x="6454147" y="1377816"/>
            <a:ext cx="4867954" cy="4790757"/>
          </a:xfrm>
        </p:spPr>
        <p:txBody>
          <a:bodyPr>
            <a:normAutofit lnSpcReduction="10000"/>
          </a:bodyPr>
          <a:lstStyle/>
          <a:p>
            <a:pPr algn="just"/>
            <a:r>
              <a:rPr lang="en-US" sz="1600" dirty="0">
                <a:latin typeface="Times New Roman" panose="02020603050405020304" pitchFamily="18" charset="0"/>
                <a:cs typeface="Times New Roman" panose="02020603050405020304" pitchFamily="18" charset="0"/>
              </a:rPr>
              <a:t>By taking reference with the “Development A Nonconducting Manipulator, McKibben Pneumatic Artificial Muscle” this research paper I have to derive the formula whether it is mathematically correct or not?</a:t>
            </a:r>
          </a:p>
          <a:p>
            <a:pPr algn="just"/>
            <a:r>
              <a:rPr lang="en-US" sz="1600" dirty="0">
                <a:latin typeface="Times New Roman" panose="02020603050405020304" pitchFamily="18" charset="0"/>
                <a:cs typeface="Times New Roman" panose="02020603050405020304" pitchFamily="18" charset="0"/>
              </a:rPr>
              <a:t>In a first approach toward the model of a McKibben type PAM, losses are not considered and thus, the gas enters the PAM and expands, generating a traction force and a work. To generate the volume increase, the gas performs a work input (Win) that can be described.</a:t>
            </a:r>
          </a:p>
          <a:p>
            <a:pPr marL="800100" lvl="2" indent="0">
              <a:spcBef>
                <a:spcPts val="600"/>
              </a:spcBef>
              <a:buNone/>
            </a:pPr>
            <a:r>
              <a:rPr lang="it-IT" sz="1800" dirty="0">
                <a:latin typeface="Times New Roman" panose="02020603050405020304" pitchFamily="18" charset="0"/>
                <a:cs typeface="Times New Roman" panose="02020603050405020304" pitchFamily="18" charset="0"/>
              </a:rPr>
              <a:t>dW</a:t>
            </a:r>
            <a:r>
              <a:rPr lang="it-IT" sz="1000" dirty="0">
                <a:latin typeface="Times New Roman" panose="02020603050405020304" pitchFamily="18" charset="0"/>
                <a:cs typeface="Times New Roman" panose="02020603050405020304" pitchFamily="18" charset="0"/>
              </a:rPr>
              <a:t>in</a:t>
            </a:r>
            <a:r>
              <a:rPr lang="it-IT" sz="1800" dirty="0">
                <a:latin typeface="Times New Roman" panose="02020603050405020304" pitchFamily="18" charset="0"/>
                <a:cs typeface="Times New Roman" panose="02020603050405020304" pitchFamily="18" charset="0"/>
              </a:rPr>
              <a:t> = ∫(P − P</a:t>
            </a:r>
            <a:r>
              <a:rPr lang="it-IT" sz="1000" dirty="0">
                <a:latin typeface="Times New Roman" panose="02020603050405020304" pitchFamily="18" charset="0"/>
                <a:cs typeface="Times New Roman" panose="02020603050405020304" pitchFamily="18" charset="0"/>
              </a:rPr>
              <a:t>ex</a:t>
            </a:r>
            <a:r>
              <a:rPr lang="it-IT" sz="1800" dirty="0">
                <a:latin typeface="Times New Roman" panose="02020603050405020304" pitchFamily="18" charset="0"/>
                <a:cs typeface="Times New Roman" panose="02020603050405020304" pitchFamily="18" charset="0"/>
              </a:rPr>
              <a:t> )dl</a:t>
            </a:r>
            <a:r>
              <a:rPr lang="it-IT" sz="1000" dirty="0">
                <a:latin typeface="Times New Roman" panose="02020603050405020304" pitchFamily="18" charset="0"/>
                <a:cs typeface="Times New Roman" panose="02020603050405020304" pitchFamily="18" charset="0"/>
              </a:rPr>
              <a:t>i</a:t>
            </a:r>
            <a:r>
              <a:rPr lang="it-IT" sz="1800" dirty="0">
                <a:latin typeface="Times New Roman" panose="02020603050405020304" pitchFamily="18" charset="0"/>
                <a:cs typeface="Times New Roman" panose="02020603050405020304" pitchFamily="18" charset="0"/>
              </a:rPr>
              <a:t>.dS</a:t>
            </a:r>
            <a:r>
              <a:rPr lang="it-IT" sz="1000" dirty="0">
                <a:latin typeface="Times New Roman" panose="02020603050405020304" pitchFamily="18" charset="0"/>
                <a:cs typeface="Times New Roman" panose="02020603050405020304" pitchFamily="18" charset="0"/>
              </a:rPr>
              <a:t>i</a:t>
            </a:r>
          </a:p>
          <a:p>
            <a:pPr marL="800100" lvl="2" indent="0">
              <a:spcBef>
                <a:spcPts val="600"/>
              </a:spcBef>
              <a:buNone/>
            </a:pPr>
            <a:r>
              <a:rPr lang="it-IT" sz="1800" dirty="0">
                <a:latin typeface="Times New Roman" panose="02020603050405020304" pitchFamily="18" charset="0"/>
                <a:cs typeface="Times New Roman" panose="02020603050405020304" pitchFamily="18" charset="0"/>
              </a:rPr>
              <a:t>	  = (P − P</a:t>
            </a:r>
            <a:r>
              <a:rPr lang="it-IT" sz="1000" dirty="0">
                <a:latin typeface="Times New Roman" panose="02020603050405020304" pitchFamily="18" charset="0"/>
                <a:cs typeface="Times New Roman" panose="02020603050405020304" pitchFamily="18" charset="0"/>
              </a:rPr>
              <a:t>ex</a:t>
            </a:r>
            <a:r>
              <a:rPr lang="it-IT" sz="1800" dirty="0">
                <a:latin typeface="Times New Roman" panose="02020603050405020304" pitchFamily="18" charset="0"/>
                <a:cs typeface="Times New Roman" panose="02020603050405020304" pitchFamily="18" charset="0"/>
              </a:rPr>
              <a:t>) ∫dl</a:t>
            </a:r>
            <a:r>
              <a:rPr lang="it-IT" sz="1000" dirty="0">
                <a:latin typeface="Times New Roman" panose="02020603050405020304" pitchFamily="18" charset="0"/>
                <a:cs typeface="Times New Roman" panose="02020603050405020304" pitchFamily="18" charset="0"/>
              </a:rPr>
              <a:t>i</a:t>
            </a:r>
            <a:r>
              <a:rPr lang="it-IT" sz="1800" dirty="0">
                <a:latin typeface="Times New Roman" panose="02020603050405020304" pitchFamily="18" charset="0"/>
                <a:cs typeface="Times New Roman" panose="02020603050405020304" pitchFamily="18" charset="0"/>
              </a:rPr>
              <a:t>.dS</a:t>
            </a:r>
            <a:r>
              <a:rPr lang="it-IT" sz="1000" dirty="0">
                <a:latin typeface="Times New Roman" panose="02020603050405020304" pitchFamily="18" charset="0"/>
                <a:cs typeface="Times New Roman" panose="02020603050405020304" pitchFamily="18" charset="0"/>
              </a:rPr>
              <a:t>i</a:t>
            </a:r>
          </a:p>
          <a:p>
            <a:pPr marL="800100" lvl="2" indent="0">
              <a:spcBef>
                <a:spcPts val="600"/>
              </a:spcBef>
              <a:buNone/>
            </a:pPr>
            <a:r>
              <a:rPr lang="it-IT" sz="1800" dirty="0">
                <a:latin typeface="Times New Roman" panose="02020603050405020304" pitchFamily="18" charset="0"/>
                <a:cs typeface="Times New Roman" panose="02020603050405020304" pitchFamily="18" charset="0"/>
              </a:rPr>
              <a:t>dW</a:t>
            </a:r>
            <a:r>
              <a:rPr lang="it-IT" sz="1000" dirty="0">
                <a:latin typeface="Times New Roman" panose="02020603050405020304" pitchFamily="18" charset="0"/>
                <a:cs typeface="Times New Roman" panose="02020603050405020304" pitchFamily="18" charset="0"/>
              </a:rPr>
              <a:t>in</a:t>
            </a:r>
            <a:r>
              <a:rPr lang="it-IT" sz="1800" dirty="0">
                <a:latin typeface="Times New Roman" panose="02020603050405020304" pitchFamily="18" charset="0"/>
                <a:cs typeface="Times New Roman" panose="02020603050405020304" pitchFamily="18" charset="0"/>
              </a:rPr>
              <a:t> = P’dV</a:t>
            </a:r>
          </a:p>
          <a:p>
            <a:pPr marL="800100" lvl="2" indent="0">
              <a:spcBef>
                <a:spcPts val="600"/>
              </a:spcBef>
              <a:buNone/>
            </a:pPr>
            <a:r>
              <a:rPr lang="it-IT" sz="1600" dirty="0">
                <a:latin typeface="Times New Roman" panose="02020603050405020304" pitchFamily="18" charset="0"/>
                <a:cs typeface="Times New Roman" panose="02020603050405020304" pitchFamily="18" charset="0"/>
              </a:rPr>
              <a:t>Where, Pex = External Force,</a:t>
            </a:r>
          </a:p>
          <a:p>
            <a:pPr marL="1257300" lvl="3" indent="0">
              <a:spcBef>
                <a:spcPts val="600"/>
              </a:spcBef>
              <a:buNone/>
            </a:pPr>
            <a:r>
              <a:rPr lang="it-IT" sz="1600" dirty="0">
                <a:latin typeface="Times New Roman" panose="02020603050405020304" pitchFamily="18" charset="0"/>
                <a:cs typeface="Times New Roman" panose="02020603050405020304" pitchFamily="18" charset="0"/>
              </a:rPr>
              <a:t>P  = Absolute Pressure</a:t>
            </a:r>
          </a:p>
          <a:p>
            <a:pPr marL="1257300" lvl="3" indent="0">
              <a:spcBef>
                <a:spcPts val="600"/>
              </a:spcBef>
              <a:buNone/>
            </a:pPr>
            <a:r>
              <a:rPr lang="it-IT" sz="1600" dirty="0">
                <a:latin typeface="Times New Roman" panose="02020603050405020304" pitchFamily="18" charset="0"/>
                <a:cs typeface="Times New Roman" panose="02020603050405020304" pitchFamily="18" charset="0"/>
              </a:rPr>
              <a:t>P’ = Relative Pressure</a:t>
            </a:r>
            <a:endParaRPr lang="en-IN" sz="16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B96A2CF-ABC7-FE87-AD0E-A0AC0718E268}"/>
              </a:ext>
            </a:extLst>
          </p:cNvPr>
          <p:cNvPicPr>
            <a:picLocks noChangeAspect="1"/>
          </p:cNvPicPr>
          <p:nvPr/>
        </p:nvPicPr>
        <p:blipFill>
          <a:blip r:embed="rId2"/>
          <a:stretch>
            <a:fillRect/>
          </a:stretch>
        </p:blipFill>
        <p:spPr>
          <a:xfrm>
            <a:off x="1340531" y="1886338"/>
            <a:ext cx="4867954" cy="3810532"/>
          </a:xfrm>
          <a:prstGeom prst="rect">
            <a:avLst/>
          </a:prstGeom>
        </p:spPr>
      </p:pic>
    </p:spTree>
    <p:extLst>
      <p:ext uri="{BB962C8B-B14F-4D97-AF65-F5344CB8AC3E}">
        <p14:creationId xmlns:p14="http://schemas.microsoft.com/office/powerpoint/2010/main" val="9034094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7E9AE-9871-6B83-F520-829F3936D0E9}"/>
              </a:ext>
            </a:extLst>
          </p:cNvPr>
          <p:cNvSpPr>
            <a:spLocks noGrp="1"/>
          </p:cNvSpPr>
          <p:nvPr>
            <p:ph type="title"/>
          </p:nvPr>
        </p:nvSpPr>
        <p:spPr>
          <a:xfrm>
            <a:off x="1586194" y="605448"/>
            <a:ext cx="10002384" cy="672846"/>
          </a:xfrm>
        </p:spPr>
        <p:txBody>
          <a:bodyPr/>
          <a:lstStyle/>
          <a:p>
            <a:r>
              <a:rPr lang="en-US" dirty="0">
                <a:latin typeface="Times New Roman" panose="02020603050405020304" pitchFamily="18" charset="0"/>
                <a:cs typeface="Times New Roman" panose="02020603050405020304" pitchFamily="18" charset="0"/>
              </a:rPr>
              <a:t>Derivation For Pressure and Force Relation: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F78D876-251E-85C5-6A7D-BE0697549C31}"/>
              </a:ext>
            </a:extLst>
          </p:cNvPr>
          <p:cNvSpPr>
            <a:spLocks noGrp="1"/>
          </p:cNvSpPr>
          <p:nvPr>
            <p:ph idx="1"/>
          </p:nvPr>
        </p:nvSpPr>
        <p:spPr>
          <a:xfrm>
            <a:off x="2056837" y="1480457"/>
            <a:ext cx="7656329" cy="4435151"/>
          </a:xfrm>
        </p:spPr>
        <p:txBody>
          <a:bodyPr>
            <a:normAutofit/>
          </a:bodyPr>
          <a:lstStyle/>
          <a:p>
            <a:pPr algn="just"/>
            <a:r>
              <a:rPr lang="en-US" sz="1600" dirty="0">
                <a:latin typeface="Times New Roman" panose="02020603050405020304" pitchFamily="18" charset="0"/>
                <a:cs typeface="Times New Roman" panose="02020603050405020304" pitchFamily="18" charset="0"/>
              </a:rPr>
              <a:t>As the pressure performs work by volume expansion and it is assumed that the system has no loss, all the work is converted into traction and can be expressed by W</a:t>
            </a:r>
            <a:r>
              <a:rPr lang="en-US" sz="1200" dirty="0">
                <a:latin typeface="Times New Roman" panose="02020603050405020304" pitchFamily="18" charset="0"/>
                <a:cs typeface="Times New Roman" panose="02020603050405020304" pitchFamily="18" charset="0"/>
              </a:rPr>
              <a:t>out</a:t>
            </a:r>
            <a:r>
              <a:rPr lang="en-US" sz="1600" dirty="0">
                <a:latin typeface="Times New Roman" panose="02020603050405020304" pitchFamily="18" charset="0"/>
                <a:cs typeface="Times New Roman" panose="02020603050405020304" pitchFamily="18" charset="0"/>
              </a:rPr>
              <a:t>, </a:t>
            </a:r>
          </a:p>
          <a:p>
            <a:pPr marL="0" indent="0">
              <a:buNone/>
            </a:pPr>
            <a:r>
              <a:rPr lang="it-IT" sz="1600" dirty="0">
                <a:latin typeface="Times New Roman" panose="02020603050405020304" pitchFamily="18" charset="0"/>
                <a:cs typeface="Times New Roman" panose="02020603050405020304" pitchFamily="18" charset="0"/>
              </a:rPr>
              <a:t>		dW</a:t>
            </a:r>
            <a:r>
              <a:rPr lang="it-IT" sz="1200" dirty="0">
                <a:latin typeface="Times New Roman" panose="02020603050405020304" pitchFamily="18" charset="0"/>
                <a:cs typeface="Times New Roman" panose="02020603050405020304" pitchFamily="18" charset="0"/>
              </a:rPr>
              <a:t>out</a:t>
            </a:r>
            <a:r>
              <a:rPr lang="it-IT" sz="1600" dirty="0">
                <a:latin typeface="Times New Roman" panose="02020603050405020304" pitchFamily="18" charset="0"/>
                <a:cs typeface="Times New Roman" panose="02020603050405020304" pitchFamily="18" charset="0"/>
              </a:rPr>
              <a:t> = -FdL</a:t>
            </a:r>
          </a:p>
          <a:p>
            <a:pPr marL="800100" lvl="2" indent="0">
              <a:spcBef>
                <a:spcPts val="600"/>
              </a:spcBef>
              <a:buNone/>
            </a:pPr>
            <a:r>
              <a:rPr lang="it-IT" sz="16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 Where, F is the axial tension and dL is the displacement.</a:t>
            </a:r>
          </a:p>
          <a:p>
            <a:pPr marL="800100" lvl="2" indent="0">
              <a:spcBef>
                <a:spcPts val="600"/>
              </a:spcBef>
              <a:buNone/>
            </a:pPr>
            <a:r>
              <a:rPr lang="en-US" sz="1600" dirty="0">
                <a:latin typeface="Times New Roman" panose="02020603050405020304" pitchFamily="18" charset="0"/>
                <a:cs typeface="Times New Roman" panose="02020603050405020304" pitchFamily="18" charset="0"/>
              </a:rPr>
              <a:t>The Conservation of Energy gives:</a:t>
            </a:r>
          </a:p>
          <a:p>
            <a:pPr marL="800100" lvl="2" indent="0">
              <a:spcBef>
                <a:spcPts val="600"/>
              </a:spcBef>
              <a:buNone/>
            </a:pPr>
            <a:r>
              <a:rPr lang="it-IT" sz="1600" dirty="0">
                <a:latin typeface="Times New Roman" panose="02020603050405020304" pitchFamily="18" charset="0"/>
                <a:cs typeface="Times New Roman" panose="02020603050405020304" pitchFamily="18" charset="0"/>
              </a:rPr>
              <a:t>		dW</a:t>
            </a:r>
            <a:r>
              <a:rPr lang="it-IT" sz="900" dirty="0">
                <a:latin typeface="Times New Roman" panose="02020603050405020304" pitchFamily="18" charset="0"/>
                <a:cs typeface="Times New Roman" panose="02020603050405020304" pitchFamily="18" charset="0"/>
              </a:rPr>
              <a:t>in</a:t>
            </a:r>
            <a:r>
              <a:rPr lang="en-US" sz="16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a:t>
            </a:r>
            <a:r>
              <a:rPr lang="it-IT" sz="1800" dirty="0">
                <a:latin typeface="Times New Roman" panose="02020603050405020304" pitchFamily="18" charset="0"/>
                <a:cs typeface="Times New Roman" panose="02020603050405020304" pitchFamily="18" charset="0"/>
              </a:rPr>
              <a:t>d</a:t>
            </a:r>
            <a:r>
              <a:rPr lang="it-IT" sz="1600" dirty="0">
                <a:latin typeface="Times New Roman" panose="02020603050405020304" pitchFamily="18" charset="0"/>
                <a:cs typeface="Times New Roman" panose="02020603050405020304" pitchFamily="18" charset="0"/>
              </a:rPr>
              <a:t>W</a:t>
            </a:r>
            <a:r>
              <a:rPr lang="it-IT" sz="1200" dirty="0">
                <a:latin typeface="Times New Roman" panose="02020603050405020304" pitchFamily="18" charset="0"/>
                <a:cs typeface="Times New Roman" panose="02020603050405020304" pitchFamily="18" charset="0"/>
              </a:rPr>
              <a:t>out</a:t>
            </a:r>
            <a:endParaRPr lang="en-US" dirty="0">
              <a:latin typeface="Times New Roman" panose="02020603050405020304" pitchFamily="18" charset="0"/>
              <a:cs typeface="Times New Roman" panose="02020603050405020304" pitchFamily="18" charset="0"/>
            </a:endParaRPr>
          </a:p>
          <a:p>
            <a:pPr marL="800100" lvl="2" indent="0">
              <a:spcBef>
                <a:spcPts val="600"/>
              </a:spcBef>
              <a:buNone/>
            </a:pPr>
            <a:r>
              <a:rPr lang="it-IT" sz="1600" dirty="0">
                <a:latin typeface="Times New Roman" panose="02020603050405020304" pitchFamily="18" charset="0"/>
                <a:cs typeface="Times New Roman" panose="02020603050405020304" pitchFamily="18" charset="0"/>
              </a:rPr>
              <a:t>P’dV = -FdL</a:t>
            </a:r>
          </a:p>
          <a:p>
            <a:pPr marL="800100" lvl="2" indent="0">
              <a:spcBef>
                <a:spcPts val="600"/>
              </a:spcBef>
              <a:buNone/>
            </a:pPr>
            <a:r>
              <a:rPr lang="it-IT" sz="1600" dirty="0">
                <a:latin typeface="Times New Roman" panose="02020603050405020304" pitchFamily="18" charset="0"/>
                <a:cs typeface="Times New Roman" panose="02020603050405020304" pitchFamily="18" charset="0"/>
              </a:rPr>
              <a:t>F = - (P’ dV)/dL ........................ (1)</a:t>
            </a:r>
            <a:endParaRPr lang="en-IN" sz="1600" dirty="0">
              <a:latin typeface="Times New Roman" panose="02020603050405020304" pitchFamily="18" charset="0"/>
              <a:cs typeface="Times New Roman" panose="02020603050405020304" pitchFamily="18" charset="0"/>
            </a:endParaRPr>
          </a:p>
          <a:p>
            <a:pPr marL="285750" algn="just">
              <a:spcBef>
                <a:spcPts val="600"/>
              </a:spcBef>
            </a:pPr>
            <a:r>
              <a:rPr lang="en-US" sz="1600" dirty="0">
                <a:latin typeface="Times New Roman" panose="02020603050405020304" pitchFamily="18" charset="0"/>
                <a:cs typeface="Times New Roman" panose="02020603050405020304" pitchFamily="18" charset="0"/>
              </a:rPr>
              <a:t>With the strength defined in terms of the volume change, just missing define the volume variation permitted by the mesh. The variation stops when volume reaches its maximum. At this moment, the muscle reaches the largest contraction.</a:t>
            </a:r>
            <a:endParaRPr lang="en-IN" sz="1600" dirty="0">
              <a:latin typeface="Times New Roman" panose="02020603050405020304" pitchFamily="18" charset="0"/>
              <a:cs typeface="Times New Roman" panose="02020603050405020304" pitchFamily="18" charset="0"/>
            </a:endParaRPr>
          </a:p>
          <a:p>
            <a:pPr marL="285750">
              <a:spcBef>
                <a:spcPts val="600"/>
              </a:spcBef>
            </a:pPr>
            <a:endParaRPr lang="it-IT"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3059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7E9AE-9871-6B83-F520-829F3936D0E9}"/>
              </a:ext>
            </a:extLst>
          </p:cNvPr>
          <p:cNvSpPr>
            <a:spLocks noGrp="1"/>
          </p:cNvSpPr>
          <p:nvPr>
            <p:ph type="title"/>
          </p:nvPr>
        </p:nvSpPr>
        <p:spPr>
          <a:xfrm>
            <a:off x="1586194" y="605448"/>
            <a:ext cx="10002384" cy="679059"/>
          </a:xfrm>
        </p:spPr>
        <p:txBody>
          <a:bodyPr/>
          <a:lstStyle/>
          <a:p>
            <a:r>
              <a:rPr lang="en-US" dirty="0">
                <a:latin typeface="Times New Roman" panose="02020603050405020304" pitchFamily="18" charset="0"/>
                <a:cs typeface="Times New Roman" panose="02020603050405020304" pitchFamily="18" charset="0"/>
              </a:rPr>
              <a:t>Derivation For Pressure and Force Relation:</a:t>
            </a:r>
            <a:endParaRPr lang="en-IN"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F78D876-251E-85C5-6A7D-BE0697549C31}"/>
                  </a:ext>
                </a:extLst>
              </p:cNvPr>
              <p:cNvSpPr>
                <a:spLocks noGrp="1"/>
              </p:cNvSpPr>
              <p:nvPr>
                <p:ph idx="1"/>
              </p:nvPr>
            </p:nvSpPr>
            <p:spPr>
              <a:xfrm>
                <a:off x="5847657" y="1265842"/>
                <a:ext cx="4901208" cy="5321566"/>
              </a:xfrm>
            </p:spPr>
            <p:txBody>
              <a:bodyPr>
                <a:normAutofit lnSpcReduction="10000"/>
              </a:bodyPr>
              <a:lstStyle/>
              <a:p>
                <a:pPr algn="just"/>
                <a:r>
                  <a:rPr lang="en-US" sz="1600" dirty="0">
                    <a:latin typeface="Times New Roman" panose="02020603050405020304" pitchFamily="18" charset="0"/>
                    <a:cs typeface="Times New Roman" panose="02020603050405020304" pitchFamily="18" charset="0"/>
                  </a:rPr>
                  <a:t>Observing Fig.3, it is possible to make the length (L) and diameter (D) as a function of the angle (θ). This angle is one formed between the mesh and the axial length of the muscle. The length of fiber can be named b and n is the number of turns of the fiber around the muscle. Using b and n, it is possible to set the length and the diameter of the muscle.</a:t>
                </a:r>
              </a:p>
              <a:p>
                <a:pPr marL="0" indent="0" algn="just">
                  <a:buNone/>
                </a:pPr>
                <a:r>
                  <a:rPr lang="en-US" sz="1600" b="0" dirty="0">
                    <a:cs typeface="Times New Roman" panose="02020603050405020304" pitchFamily="18" charset="0"/>
                    <a:sym typeface="Symbol" panose="05050102010706020507" pitchFamily="18" charset="2"/>
                  </a:rPr>
                  <a:t>		</a:t>
                </a:r>
                <a14:m>
                  <m:oMath xmlns:m="http://schemas.openxmlformats.org/officeDocument/2006/math">
                    <m:r>
                      <a:rPr lang="en-US" sz="1600" b="0" i="1" smtClean="0">
                        <a:latin typeface="Cambria Math" panose="02040503050406030204" pitchFamily="18" charset="0"/>
                        <a:cs typeface="Times New Roman" panose="02020603050405020304" pitchFamily="18" charset="0"/>
                        <a:sym typeface="Symbol" panose="05050102010706020507" pitchFamily="18" charset="2"/>
                      </a:rPr>
                      <m:t>𝑐𝑜𝑠</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 </m:t>
                    </m:r>
                    <m:f>
                      <m:f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fPr>
                      <m:num>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𝐿</m:t>
                        </m:r>
                      </m:num>
                      <m:den>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𝑏</m:t>
                        </m:r>
                      </m:den>
                    </m:f>
                  </m:oMath>
                </a14:m>
                <a:r>
                  <a:rPr lang="en-IN" sz="1600" dirty="0">
                    <a:latin typeface="Times New Roman" panose="02020603050405020304" pitchFamily="18" charset="0"/>
                    <a:cs typeface="Times New Roman" panose="02020603050405020304" pitchFamily="18" charset="0"/>
                    <a:sym typeface="Symbol" panose="05050102010706020507" pitchFamily="18" charset="2"/>
                  </a:rPr>
                  <a:t>  …………………………... (1)</a:t>
                </a:r>
              </a:p>
              <a:p>
                <a:pPr marL="800100" lvl="2" indent="0" algn="just">
                  <a:spcBef>
                    <a:spcPts val="600"/>
                  </a:spcBef>
                  <a:buNone/>
                </a:pPr>
                <a14:m>
                  <m:oMath xmlns:m="http://schemas.openxmlformats.org/officeDocument/2006/math">
                    <m:r>
                      <a:rPr lang="en-IN" sz="1600" i="1" dirty="0" smtClean="0">
                        <a:latin typeface="Cambria Math" panose="02040503050406030204" pitchFamily="18" charset="0"/>
                        <a:cs typeface="Times New Roman" panose="02020603050405020304" pitchFamily="18" charset="0"/>
                        <a:sym typeface="Symbol" panose="05050102010706020507" pitchFamily="18" charset="2"/>
                      </a:rPr>
                      <m:t>	</m:t>
                    </m:r>
                    <m:r>
                      <a:rPr lang="en-IN" sz="1600" i="1" dirty="0" smtClean="0">
                        <a:latin typeface="Cambria Math" panose="02040503050406030204" pitchFamily="18" charset="0"/>
                        <a:cs typeface="Times New Roman" panose="02020603050405020304" pitchFamily="18" charset="0"/>
                        <a:sym typeface="Symbol" panose="05050102010706020507" pitchFamily="18" charset="2"/>
                      </a:rPr>
                      <m:t>𝐿</m:t>
                    </m:r>
                    <m:r>
                      <a:rPr lang="en-IN" sz="1600" i="1" dirty="0" smtClean="0">
                        <a:latin typeface="Cambria Math" panose="02040503050406030204" pitchFamily="18" charset="0"/>
                        <a:cs typeface="Times New Roman" panose="02020603050405020304" pitchFamily="18" charset="0"/>
                        <a:sym typeface="Symbol" panose="05050102010706020507" pitchFamily="18" charset="2"/>
                      </a:rPr>
                      <m:t> = </m:t>
                    </m:r>
                    <m:r>
                      <a:rPr lang="en-IN" sz="1600" i="1" dirty="0">
                        <a:latin typeface="Cambria Math" panose="02040503050406030204" pitchFamily="18" charset="0"/>
                        <a:cs typeface="Times New Roman" panose="02020603050405020304" pitchFamily="18" charset="0"/>
                        <a:sym typeface="Symbol" panose="05050102010706020507" pitchFamily="18" charset="2"/>
                      </a:rPr>
                      <m:t>𝑏</m:t>
                    </m:r>
                    <m:r>
                      <a:rPr lang="en-IN" sz="1600" i="1" dirty="0">
                        <a:latin typeface="Cambria Math" panose="02040503050406030204" pitchFamily="18" charset="0"/>
                        <a:cs typeface="Times New Roman" panose="02020603050405020304" pitchFamily="18" charset="0"/>
                      </a:rPr>
                      <m:t> </m:t>
                    </m:r>
                    <m:r>
                      <m:rPr>
                        <m:sty m:val="p"/>
                      </m:rPr>
                      <a:rPr lang="en-IN" sz="1600" i="1" dirty="0">
                        <a:latin typeface="Cambria Math" panose="02040503050406030204" pitchFamily="18" charset="0"/>
                        <a:cs typeface="Times New Roman" panose="02020603050405020304" pitchFamily="18" charset="0"/>
                      </a:rPr>
                      <m:t>cos</m:t>
                    </m:r>
                    <m:r>
                      <a:rPr lang="en-IN" sz="1600" i="1" dirty="0">
                        <a:latin typeface="Cambria Math" panose="02040503050406030204" pitchFamily="18" charset="0"/>
                        <a:cs typeface="Times New Roman" panose="02020603050405020304" pitchFamily="18" charset="0"/>
                        <a:sym typeface="Symbol" panose="05050102010706020507" pitchFamily="18" charset="2"/>
                      </a:rPr>
                      <m:t> </m:t>
                    </m:r>
                  </m:oMath>
                </a14:m>
                <a:r>
                  <a:rPr lang="en-IN" sz="1600" dirty="0">
                    <a:latin typeface="Times New Roman" panose="02020603050405020304" pitchFamily="18" charset="0"/>
                    <a:cs typeface="Times New Roman" panose="02020603050405020304" pitchFamily="18" charset="0"/>
                    <a:sym typeface="Symbol" panose="05050102010706020507" pitchFamily="18" charset="2"/>
                  </a:rPr>
                  <a:t>….……………………..… (2)</a:t>
                </a:r>
              </a:p>
              <a:p>
                <a:pPr marL="800100" lvl="2" indent="0" algn="just">
                  <a:spcBef>
                    <a:spcPts val="600"/>
                  </a:spcBef>
                  <a:buNone/>
                </a:pPr>
                <a:r>
                  <a:rPr lang="en-IN" sz="1600" dirty="0">
                    <a:cs typeface="Times New Roman" panose="02020603050405020304" pitchFamily="18" charset="0"/>
                    <a:sym typeface="Symbol" panose="05050102010706020507" pitchFamily="18" charset="2"/>
                  </a:rPr>
                  <a:t>	</a:t>
                </a:r>
                <a14:m>
                  <m:oMath xmlns:m="http://schemas.openxmlformats.org/officeDocument/2006/math">
                    <m:r>
                      <m:rPr>
                        <m:sty m:val="p"/>
                      </m:rPr>
                      <a:rPr lang="en-IN" sz="1600" i="1" dirty="0">
                        <a:latin typeface="Cambria Math" panose="02040503050406030204" pitchFamily="18" charset="0"/>
                        <a:cs typeface="Times New Roman" panose="02020603050405020304" pitchFamily="18" charset="0"/>
                        <a:sym typeface="Symbol" panose="05050102010706020507" pitchFamily="18" charset="2"/>
                      </a:rPr>
                      <m:t>s</m:t>
                    </m:r>
                    <m:r>
                      <a:rPr lang="en-US" sz="1600" b="0" i="1" dirty="0" smtClean="0">
                        <a:latin typeface="Cambria Math" panose="02040503050406030204" pitchFamily="18" charset="0"/>
                        <a:cs typeface="Times New Roman" panose="02020603050405020304" pitchFamily="18" charset="0"/>
                        <a:sym typeface="Symbol" panose="05050102010706020507" pitchFamily="18" charset="2"/>
                      </a:rPr>
                      <m:t>𝑖𝑛</m:t>
                    </m:r>
                    <m:r>
                      <a:rPr lang="en-US" sz="1600" b="0" i="1" dirty="0"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r>
                      <a:rPr lang="en-IN" sz="1600" i="1" dirty="0">
                        <a:latin typeface="Cambria Math" panose="02040503050406030204" pitchFamily="18" charset="0"/>
                        <a:cs typeface="Times New Roman" panose="02020603050405020304" pitchFamily="18" charset="0"/>
                        <a:sym typeface="Symbol" panose="05050102010706020507" pitchFamily="18" charset="2"/>
                      </a:rPr>
                      <m:t> =</m:t>
                    </m:r>
                    <m:f>
                      <m:fPr>
                        <m:ctrlPr>
                          <a:rPr lang="en-US" sz="1600" i="1" dirty="0">
                            <a:latin typeface="Cambria Math" panose="02040503050406030204" pitchFamily="18" charset="0"/>
                            <a:cs typeface="Times New Roman" panose="02020603050405020304" pitchFamily="18" charset="0"/>
                            <a:sym typeface="Symbol" panose="05050102010706020507" pitchFamily="18" charset="2"/>
                          </a:rPr>
                        </m:ctrlPr>
                      </m:fPr>
                      <m:num>
                        <m:r>
                          <a:rPr lang="en-US" sz="1600" i="1" dirty="0">
                            <a:latin typeface="Cambria Math" panose="02040503050406030204" pitchFamily="18" charset="0"/>
                            <a:cs typeface="Times New Roman" panose="02020603050405020304" pitchFamily="18" charset="0"/>
                            <a:sym typeface="Symbol" panose="05050102010706020507" pitchFamily="18" charset="2"/>
                          </a:rPr>
                          <m:t>𝐷𝑛</m:t>
                        </m:r>
                        <m:r>
                          <a:rPr lang="en-US" sz="1600" i="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𝜋</m:t>
                        </m:r>
                      </m:num>
                      <m:den>
                        <m:r>
                          <a:rPr lang="en-US" sz="1600" b="0" i="1" dirty="0"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𝑏</m:t>
                        </m:r>
                      </m:den>
                    </m:f>
                  </m:oMath>
                </a14:m>
                <a:endParaRPr lang="en-IN" sz="1600" dirty="0">
                  <a:latin typeface="Times New Roman" panose="02020603050405020304" pitchFamily="18" charset="0"/>
                  <a:cs typeface="Times New Roman" panose="02020603050405020304" pitchFamily="18" charset="0"/>
                  <a:sym typeface="Symbol" panose="05050102010706020507" pitchFamily="18" charset="2"/>
                </a:endParaRPr>
              </a:p>
              <a:p>
                <a:pPr marL="800100" lvl="2" indent="0" algn="just">
                  <a:spcBef>
                    <a:spcPts val="600"/>
                  </a:spcBef>
                  <a:buNone/>
                </a:pPr>
                <a:r>
                  <a:rPr lang="en-US" sz="1600" b="0" dirty="0">
                    <a:cs typeface="Times New Roman" panose="02020603050405020304" pitchFamily="18" charset="0"/>
                    <a:sym typeface="Symbol" panose="05050102010706020507" pitchFamily="18" charset="2"/>
                  </a:rPr>
                  <a:t>	</a:t>
                </a:r>
                <a14:m>
                  <m:oMath xmlns:m="http://schemas.openxmlformats.org/officeDocument/2006/math">
                    <m:r>
                      <a:rPr lang="en-US" sz="1600" b="0" i="1" smtClean="0">
                        <a:latin typeface="Cambria Math" panose="02040503050406030204" pitchFamily="18" charset="0"/>
                        <a:cs typeface="Times New Roman" panose="02020603050405020304" pitchFamily="18" charset="0"/>
                        <a:sym typeface="Symbol" panose="05050102010706020507" pitchFamily="18" charset="2"/>
                      </a:rPr>
                      <m:t>𝐷</m:t>
                    </m:r>
                    <m:r>
                      <a:rPr lang="en-US" sz="1600"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sz="1600" b="0" i="1" smtClean="0">
                            <a:latin typeface="Cambria Math" panose="02040503050406030204" pitchFamily="18" charset="0"/>
                            <a:cs typeface="Times New Roman" panose="02020603050405020304" pitchFamily="18" charset="0"/>
                            <a:sym typeface="Symbol" panose="05050102010706020507" pitchFamily="18" charset="2"/>
                          </a:rPr>
                          <m:t>𝑏𝑠𝑖𝑛</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num>
                      <m:den>
                        <m:r>
                          <a:rPr lang="en-US" sz="1600" b="0" i="1" smtClean="0">
                            <a:latin typeface="Cambria Math" panose="02040503050406030204" pitchFamily="18" charset="0"/>
                            <a:cs typeface="Times New Roman" panose="02020603050405020304" pitchFamily="18" charset="0"/>
                            <a:sym typeface="Symbol" panose="05050102010706020507" pitchFamily="18" charset="2"/>
                          </a:rPr>
                          <m:t>𝑛</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𝜋</m:t>
                        </m:r>
                      </m:den>
                    </m:f>
                  </m:oMath>
                </a14:m>
                <a:r>
                  <a:rPr lang="en-IN" sz="1600" dirty="0">
                    <a:latin typeface="Times New Roman" panose="02020603050405020304" pitchFamily="18" charset="0"/>
                    <a:cs typeface="Times New Roman" panose="02020603050405020304" pitchFamily="18" charset="0"/>
                    <a:sym typeface="Symbol" panose="05050102010706020507" pitchFamily="18" charset="2"/>
                  </a:rPr>
                  <a:t> …………….…….………. (3)</a:t>
                </a:r>
              </a:p>
              <a:p>
                <a:pPr marL="0" indent="0" algn="just">
                  <a:spcBef>
                    <a:spcPts val="600"/>
                  </a:spcBef>
                  <a:buNone/>
                </a:pPr>
                <a:r>
                  <a:rPr lang="en-IN" sz="1600" dirty="0">
                    <a:latin typeface="Times New Roman" panose="02020603050405020304" pitchFamily="18" charset="0"/>
                    <a:cs typeface="Times New Roman" panose="02020603050405020304" pitchFamily="18" charset="0"/>
                    <a:sym typeface="Symbol" panose="05050102010706020507" pitchFamily="18" charset="2"/>
                  </a:rPr>
                  <a:t>Making the Volume equation as function of the diameter and D &amp; length L.</a:t>
                </a:r>
              </a:p>
              <a:p>
                <a:pPr marL="400050" lvl="1" indent="0" algn="just">
                  <a:spcBef>
                    <a:spcPts val="600"/>
                  </a:spcBef>
                  <a:buNone/>
                </a:pPr>
                <a14:m>
                  <m:oMathPara xmlns:m="http://schemas.openxmlformats.org/officeDocument/2006/math">
                    <m:oMath>
                      <m:r>
                        <a:rPr lang="en-US" b="0" i="1" smtClean="0">
                          <a:latin typeface="Cambria Math" panose="02040503050406030204" pitchFamily="18" charset="0"/>
                          <a:cs typeface="Times New Roman" panose="02020603050405020304" pitchFamily="18" charset="0"/>
                          <a:sym typeface="Symbol" panose="05050102010706020507" pitchFamily="18" charset="2"/>
                        </a:rPr>
                        <m:t>𝑉</m:t>
                      </m:r>
                      <m:r>
                        <a:rPr lang="en-US"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b="0" i="1" smtClean="0">
                              <a:latin typeface="Cambria Math" panose="02040503050406030204" pitchFamily="18" charset="0"/>
                              <a:cs typeface="Times New Roman" panose="02020603050405020304" pitchFamily="18" charset="0"/>
                              <a:sym typeface="Symbol" panose="05050102010706020507" pitchFamily="18" charset="2"/>
                            </a:rPr>
                            <m:t>1</m:t>
                          </m:r>
                        </m:num>
                        <m:den>
                          <m:r>
                            <a:rPr lang="en-US" b="0" i="1" smtClean="0">
                              <a:latin typeface="Cambria Math" panose="02040503050406030204" pitchFamily="18" charset="0"/>
                              <a:cs typeface="Times New Roman" panose="02020603050405020304" pitchFamily="18" charset="0"/>
                              <a:sym typeface="Symbol" panose="05050102010706020507" pitchFamily="18" charset="2"/>
                            </a:rPr>
                            <m:t>4</m:t>
                          </m:r>
                        </m:den>
                      </m:f>
                      <m:r>
                        <a:rPr lang="en-US" b="0" i="1" smtClean="0">
                          <a:latin typeface="Cambria Math" panose="02040503050406030204" pitchFamily="18" charset="0"/>
                          <a:cs typeface="Times New Roman" panose="02020603050405020304" pitchFamily="18" charset="0"/>
                          <a:sym typeface="Symbol" panose="05050102010706020507" pitchFamily="18" charset="2"/>
                        </a:rPr>
                        <m:t>∗</m:t>
                      </m:r>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𝜋</m:t>
                      </m:r>
                      <m:sSup>
                        <m:sSupPr>
                          <m:ctrlP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pPr>
                        <m:e>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𝐷</m:t>
                          </m:r>
                        </m:e>
                        <m:sup>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2</m:t>
                          </m:r>
                        </m:sup>
                      </m:sSup>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𝐿</m:t>
                      </m:r>
                    </m:oMath>
                  </m:oMathPara>
                </a14:m>
                <a:endParaRPr lang="en-IN" dirty="0">
                  <a:latin typeface="Times New Roman" panose="02020603050405020304" pitchFamily="18" charset="0"/>
                  <a:cs typeface="Times New Roman" panose="02020603050405020304" pitchFamily="18" charset="0"/>
                  <a:sym typeface="Symbol" panose="05050102010706020507" pitchFamily="18" charset="2"/>
                </a:endParaRPr>
              </a:p>
              <a:p>
                <a:pPr marL="400050" lvl="1" indent="0" algn="just">
                  <a:spcBef>
                    <a:spcPts val="600"/>
                  </a:spcBef>
                  <a:buNone/>
                </a:pPr>
                <a:r>
                  <a:rPr lang="en-IN" dirty="0">
                    <a:latin typeface="Times New Roman" panose="02020603050405020304" pitchFamily="18" charset="0"/>
                    <a:cs typeface="Times New Roman" panose="02020603050405020304" pitchFamily="18" charset="0"/>
                    <a:sym typeface="Symbol" panose="05050102010706020507" pitchFamily="18" charset="2"/>
                  </a:rPr>
                  <a:t>By substituting D &amp; L in </a:t>
                </a:r>
                <a:r>
                  <a:rPr lang="en-IN" dirty="0" err="1">
                    <a:latin typeface="Times New Roman" panose="02020603050405020304" pitchFamily="18" charset="0"/>
                    <a:cs typeface="Times New Roman" panose="02020603050405020304" pitchFamily="18" charset="0"/>
                    <a:sym typeface="Symbol" panose="05050102010706020507" pitchFamily="18" charset="2"/>
                  </a:rPr>
                  <a:t>eq</a:t>
                </a:r>
                <a:r>
                  <a:rPr lang="en-IN" dirty="0">
                    <a:latin typeface="Times New Roman" panose="02020603050405020304" pitchFamily="18" charset="0"/>
                    <a:cs typeface="Times New Roman" panose="02020603050405020304" pitchFamily="18" charset="0"/>
                    <a:sym typeface="Symbol" panose="05050102010706020507" pitchFamily="18" charset="2"/>
                  </a:rPr>
                  <a:t> 4</a:t>
                </a:r>
              </a:p>
              <a:p>
                <a:pPr marL="400050" lvl="1" indent="0" algn="just">
                  <a:spcBef>
                    <a:spcPts val="600"/>
                  </a:spcBef>
                  <a:buNone/>
                </a:pPr>
                <a:r>
                  <a:rPr lang="en-IN" dirty="0">
                    <a:latin typeface="Times New Roman" panose="02020603050405020304" pitchFamily="18" charset="0"/>
                    <a:cs typeface="Times New Roman" panose="02020603050405020304" pitchFamily="18" charset="0"/>
                    <a:sym typeface="Symbol" panose="05050102010706020507" pitchFamily="18" charset="2"/>
                  </a:rPr>
                  <a:t>We get, 										</a:t>
                </a:r>
                <a14:m>
                  <m:oMath xmlns:m="http://schemas.openxmlformats.org/officeDocument/2006/math">
                    <m:r>
                      <a:rPr lang="en-US" sz="1800" b="0" i="1" smtClean="0">
                        <a:latin typeface="Cambria Math" panose="02040503050406030204" pitchFamily="18" charset="0"/>
                        <a:cs typeface="Times New Roman" panose="02020603050405020304" pitchFamily="18" charset="0"/>
                        <a:sym typeface="Symbol" panose="05050102010706020507" pitchFamily="18" charset="2"/>
                      </a:rPr>
                      <m:t>𝑉</m:t>
                    </m:r>
                    <m:r>
                      <a:rPr lang="en-US" sz="1800"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sz="1800" b="0" i="1" smtClean="0">
                            <a:latin typeface="Cambria Math" panose="02040503050406030204" pitchFamily="18" charset="0"/>
                            <a:cs typeface="Times New Roman" panose="02020603050405020304" pitchFamily="18" charset="0"/>
                            <a:sym typeface="Symbol" panose="05050102010706020507" pitchFamily="18" charset="2"/>
                          </a:rPr>
                        </m:ctrlPr>
                      </m:fPr>
                      <m:num>
                        <m:sSup>
                          <m:sSupPr>
                            <m:ctrlPr>
                              <a:rPr lang="en-US" sz="1800"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sz="1800" b="0" i="1" smtClean="0">
                                <a:latin typeface="Cambria Math" panose="02040503050406030204" pitchFamily="18" charset="0"/>
                                <a:cs typeface="Times New Roman" panose="02020603050405020304" pitchFamily="18" charset="0"/>
                                <a:sym typeface="Symbol" panose="05050102010706020507" pitchFamily="18" charset="2"/>
                              </a:rPr>
                              <m:t>𝑏</m:t>
                            </m:r>
                          </m:e>
                          <m:sup>
                            <m:r>
                              <a:rPr lang="en-US" sz="1800" b="0" i="1" smtClean="0">
                                <a:latin typeface="Cambria Math" panose="02040503050406030204" pitchFamily="18" charset="0"/>
                                <a:cs typeface="Times New Roman" panose="02020603050405020304" pitchFamily="18" charset="0"/>
                                <a:sym typeface="Symbol" panose="05050102010706020507" pitchFamily="18" charset="2"/>
                              </a:rPr>
                              <m:t>3</m:t>
                            </m:r>
                          </m:sup>
                        </m:sSup>
                      </m:num>
                      <m:den>
                        <m:r>
                          <a:rPr lang="en-US" sz="1800" b="0" i="1" smtClean="0">
                            <a:latin typeface="Cambria Math" panose="02040503050406030204" pitchFamily="18" charset="0"/>
                            <a:cs typeface="Times New Roman" panose="02020603050405020304" pitchFamily="18" charset="0"/>
                            <a:sym typeface="Symbol" panose="05050102010706020507" pitchFamily="18" charset="2"/>
                          </a:rPr>
                          <m:t>4</m:t>
                        </m:r>
                        <m:r>
                          <a:rPr lang="en-US" sz="18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𝜋</m:t>
                        </m:r>
                        <m:sSup>
                          <m:sSupPr>
                            <m:ctrlPr>
                              <a:rPr lang="en-US" sz="18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pPr>
                          <m:e>
                            <m:r>
                              <a:rPr lang="en-US" sz="18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𝑛</m:t>
                            </m:r>
                          </m:e>
                          <m:sup>
                            <m:r>
                              <a:rPr lang="en-US" sz="18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2</m:t>
                            </m:r>
                          </m:sup>
                        </m:sSup>
                      </m:den>
                    </m:f>
                    <m:r>
                      <a:rPr lang="en-US" sz="1800" b="0" i="1" smtClean="0">
                        <a:latin typeface="Cambria Math" panose="02040503050406030204" pitchFamily="18" charset="0"/>
                        <a:cs typeface="Times New Roman" panose="02020603050405020304" pitchFamily="18" charset="0"/>
                        <a:sym typeface="Symbol" panose="05050102010706020507" pitchFamily="18" charset="2"/>
                      </a:rPr>
                      <m:t> ∗</m:t>
                    </m:r>
                    <m:d>
                      <m:dPr>
                        <m:begChr m:val="["/>
                        <m:endChr m:val="]"/>
                        <m:ctrlPr>
                          <a:rPr lang="en-US" sz="1800" b="0" i="1" smtClean="0">
                            <a:latin typeface="Cambria Math" panose="02040503050406030204" pitchFamily="18" charset="0"/>
                            <a:cs typeface="Times New Roman" panose="02020603050405020304" pitchFamily="18" charset="0"/>
                            <a:sym typeface="Symbol" panose="05050102010706020507" pitchFamily="18" charset="2"/>
                          </a:rPr>
                        </m:ctrlPr>
                      </m:dPr>
                      <m:e>
                        <m:sSup>
                          <m:sSupPr>
                            <m:ctrlPr>
                              <a:rPr lang="en-US" sz="1800"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sz="1800" b="0" i="1" smtClean="0">
                                <a:latin typeface="Cambria Math" panose="02040503050406030204" pitchFamily="18" charset="0"/>
                                <a:cs typeface="Times New Roman" panose="02020603050405020304" pitchFamily="18" charset="0"/>
                                <a:sym typeface="Symbol" panose="05050102010706020507" pitchFamily="18" charset="2"/>
                              </a:rPr>
                              <m:t>𝑠𝑖𝑛</m:t>
                            </m:r>
                          </m:e>
                          <m:sup>
                            <m:r>
                              <a:rPr lang="en-US" sz="1800" b="0" i="1" smtClean="0">
                                <a:latin typeface="Cambria Math" panose="02040503050406030204" pitchFamily="18" charset="0"/>
                                <a:cs typeface="Times New Roman" panose="02020603050405020304" pitchFamily="18" charset="0"/>
                                <a:sym typeface="Symbol" panose="05050102010706020507" pitchFamily="18" charset="2"/>
                              </a:rPr>
                              <m:t>2</m:t>
                            </m:r>
                          </m:sup>
                        </m:sSup>
                        <m:r>
                          <a:rPr lang="en-US" sz="18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r>
                          <a:rPr lang="en-US" sz="18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m:t>
                        </m:r>
                        <m:r>
                          <a:rPr lang="en-US" sz="18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𝑐𝑜𝑠</m:t>
                        </m:r>
                        <m:r>
                          <a:rPr lang="en-US" sz="18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e>
                    </m:d>
                  </m:oMath>
                </a14:m>
                <a:r>
                  <a:rPr lang="en-IN" dirty="0">
                    <a:latin typeface="Times New Roman" panose="02020603050405020304" pitchFamily="18" charset="0"/>
                    <a:cs typeface="Times New Roman" panose="02020603050405020304" pitchFamily="18" charset="0"/>
                    <a:sym typeface="Symbol" panose="05050102010706020507" pitchFamily="18" charset="2"/>
                  </a:rPr>
                  <a:t>……... (5)</a:t>
                </a:r>
                <a:endParaRPr lang="en-IN" dirty="0">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2F78D876-251E-85C5-6A7D-BE0697549C31}"/>
                  </a:ext>
                </a:extLst>
              </p:cNvPr>
              <p:cNvSpPr>
                <a:spLocks noGrp="1" noRot="1" noChangeAspect="1" noMove="1" noResize="1" noEditPoints="1" noAdjustHandles="1" noChangeArrowheads="1" noChangeShapeType="1" noTextEdit="1"/>
              </p:cNvSpPr>
              <p:nvPr>
                <p:ph idx="1"/>
              </p:nvPr>
            </p:nvSpPr>
            <p:spPr>
              <a:xfrm>
                <a:off x="5847657" y="1265842"/>
                <a:ext cx="4901208" cy="5321566"/>
              </a:xfrm>
              <a:blipFill>
                <a:blip r:embed="rId2"/>
                <a:stretch>
                  <a:fillRect l="-622" t="-802" r="-746"/>
                </a:stretch>
              </a:blipFill>
            </p:spPr>
            <p:txBody>
              <a:bodyPr/>
              <a:lstStyle/>
              <a:p>
                <a:r>
                  <a:rPr lang="en-IN">
                    <a:noFill/>
                  </a:rPr>
                  <a:t> </a:t>
                </a:r>
              </a:p>
            </p:txBody>
          </p:sp>
        </mc:Fallback>
      </mc:AlternateContent>
      <p:pic>
        <p:nvPicPr>
          <p:cNvPr id="6" name="Picture 5">
            <a:extLst>
              <a:ext uri="{FF2B5EF4-FFF2-40B4-BE49-F238E27FC236}">
                <a16:creationId xmlns:a16="http://schemas.microsoft.com/office/drawing/2014/main" id="{8F6AF55C-D360-B5B1-F395-00C5DEB2A5E5}"/>
              </a:ext>
            </a:extLst>
          </p:cNvPr>
          <p:cNvPicPr>
            <a:picLocks noChangeAspect="1"/>
          </p:cNvPicPr>
          <p:nvPr/>
        </p:nvPicPr>
        <p:blipFill>
          <a:blip r:embed="rId3"/>
          <a:stretch>
            <a:fillRect/>
          </a:stretch>
        </p:blipFill>
        <p:spPr>
          <a:xfrm>
            <a:off x="1052059" y="1461794"/>
            <a:ext cx="4572129" cy="3138197"/>
          </a:xfrm>
          <a:prstGeom prst="rect">
            <a:avLst/>
          </a:prstGeom>
        </p:spPr>
      </p:pic>
    </p:spTree>
    <p:extLst>
      <p:ext uri="{BB962C8B-B14F-4D97-AF65-F5344CB8AC3E}">
        <p14:creationId xmlns:p14="http://schemas.microsoft.com/office/powerpoint/2010/main" val="3327274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7E9AE-9871-6B83-F520-829F3936D0E9}"/>
              </a:ext>
            </a:extLst>
          </p:cNvPr>
          <p:cNvSpPr>
            <a:spLocks noGrp="1"/>
          </p:cNvSpPr>
          <p:nvPr>
            <p:ph type="title"/>
          </p:nvPr>
        </p:nvSpPr>
        <p:spPr>
          <a:xfrm>
            <a:off x="1586194" y="605448"/>
            <a:ext cx="10002384" cy="679059"/>
          </a:xfrm>
        </p:spPr>
        <p:txBody>
          <a:bodyPr/>
          <a:lstStyle/>
          <a:p>
            <a:r>
              <a:rPr lang="en-US" dirty="0">
                <a:latin typeface="Times New Roman" panose="02020603050405020304" pitchFamily="18" charset="0"/>
                <a:cs typeface="Times New Roman" panose="02020603050405020304" pitchFamily="18" charset="0"/>
              </a:rPr>
              <a:t>Derivation For Pressure and Force Relation:</a:t>
            </a:r>
            <a:endParaRPr lang="en-IN"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F78D876-251E-85C5-6A7D-BE0697549C31}"/>
                  </a:ext>
                </a:extLst>
              </p:cNvPr>
              <p:cNvSpPr>
                <a:spLocks noGrp="1"/>
              </p:cNvSpPr>
              <p:nvPr>
                <p:ph idx="1"/>
              </p:nvPr>
            </p:nvSpPr>
            <p:spPr>
              <a:xfrm>
                <a:off x="6373281" y="1393475"/>
                <a:ext cx="5433054" cy="5106956"/>
              </a:xfrm>
            </p:spPr>
            <p:txBody>
              <a:bodyPr>
                <a:normAutofit fontScale="92500" lnSpcReduction="10000"/>
              </a:bodyPr>
              <a:lstStyle/>
              <a:p>
                <a:pPr marL="0" indent="0" algn="just">
                  <a:buNone/>
                </a:pPr>
                <a:r>
                  <a:rPr lang="en-US" sz="1600" dirty="0">
                    <a:latin typeface="Times New Roman" panose="02020603050405020304" pitchFamily="18" charset="0"/>
                    <a:cs typeface="Times New Roman" panose="02020603050405020304" pitchFamily="18" charset="0"/>
                  </a:rPr>
                  <a:t>Adopting contraction (ε) and applying Eq.9, it is possible to reach to required formulation (</a:t>
                </a:r>
                <a:r>
                  <a:rPr lang="en-US" sz="1600" dirty="0" err="1">
                    <a:latin typeface="Times New Roman" panose="02020603050405020304" pitchFamily="18" charset="0"/>
                    <a:cs typeface="Times New Roman" panose="02020603050405020304" pitchFamily="18" charset="0"/>
                  </a:rPr>
                  <a:t>Daerden</a:t>
                </a:r>
                <a:r>
                  <a:rPr lang="en-US" sz="1600" dirty="0">
                    <a:latin typeface="Times New Roman" panose="02020603050405020304" pitchFamily="18" charset="0"/>
                    <a:cs typeface="Times New Roman" panose="02020603050405020304" pitchFamily="18" charset="0"/>
                  </a:rPr>
                  <a:t> and </a:t>
                </a:r>
                <a:r>
                  <a:rPr lang="en-US" sz="1600" dirty="0" err="1">
                    <a:latin typeface="Times New Roman" panose="02020603050405020304" pitchFamily="18" charset="0"/>
                    <a:cs typeface="Times New Roman" panose="02020603050405020304" pitchFamily="18" charset="0"/>
                  </a:rPr>
                  <a:t>Lefeber</a:t>
                </a:r>
                <a:r>
                  <a:rPr lang="en-US" sz="1600" dirty="0">
                    <a:latin typeface="Times New Roman" panose="02020603050405020304" pitchFamily="18" charset="0"/>
                    <a:cs typeface="Times New Roman" panose="02020603050405020304" pitchFamily="18" charset="0"/>
                  </a:rPr>
                  <a:t>, 2000).</a:t>
                </a:r>
              </a:p>
              <a:p>
                <a:pPr marL="0" indent="0" algn="just">
                  <a:buNone/>
                </a:pPr>
                <a:r>
                  <a:rPr lang="en-IN" sz="1600" dirty="0">
                    <a:latin typeface="Times New Roman" panose="02020603050405020304" pitchFamily="18" charset="0"/>
                    <a:cs typeface="Times New Roman" panose="02020603050405020304" pitchFamily="18" charset="0"/>
                  </a:rPr>
                  <a:t>	</a:t>
                </a:r>
                <a:r>
                  <a:rPr lang="en-US" sz="1600" b="0" dirty="0">
                    <a:cs typeface="Times New Roman" panose="02020603050405020304" pitchFamily="18" charset="0"/>
                    <a:sym typeface="Symbol" panose="05050102010706020507" pitchFamily="18" charset="2"/>
                  </a:rPr>
                  <a:t> </a:t>
                </a:r>
                <a14:m>
                  <m:oMath xmlns:m="http://schemas.openxmlformats.org/officeDocument/2006/math">
                    <m:r>
                      <a:rPr lang="en-US" sz="1600" b="0" i="1" smtClean="0">
                        <a:latin typeface="Cambria Math" panose="02040503050406030204" pitchFamily="18" charset="0"/>
                        <a:cs typeface="Times New Roman" panose="02020603050405020304" pitchFamily="18" charset="0"/>
                        <a:sym typeface="Symbol" panose="05050102010706020507" pitchFamily="18" charset="2"/>
                      </a:rPr>
                      <m:t>𝐷</m:t>
                    </m:r>
                    <m:r>
                      <a:rPr lang="en-US" sz="1600"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sz="1600" b="0" i="1" smtClean="0">
                            <a:latin typeface="Cambria Math" panose="02040503050406030204" pitchFamily="18" charset="0"/>
                            <a:cs typeface="Times New Roman" panose="02020603050405020304" pitchFamily="18" charset="0"/>
                            <a:sym typeface="Symbol" panose="05050102010706020507" pitchFamily="18" charset="2"/>
                          </a:rPr>
                          <m:t>𝑏𝑠𝑖𝑛</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num>
                      <m:den>
                        <m:r>
                          <a:rPr lang="en-US" sz="1600" b="0" i="1" smtClean="0">
                            <a:latin typeface="Cambria Math" panose="02040503050406030204" pitchFamily="18" charset="0"/>
                            <a:cs typeface="Times New Roman" panose="02020603050405020304" pitchFamily="18" charset="0"/>
                            <a:sym typeface="Symbol" panose="05050102010706020507" pitchFamily="18" charset="2"/>
                          </a:rPr>
                          <m:t>𝑛</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𝜋</m:t>
                        </m:r>
                      </m:den>
                    </m:f>
                  </m:oMath>
                </a14:m>
                <a:r>
                  <a:rPr lang="en-IN" sz="1600" dirty="0">
                    <a:latin typeface="Times New Roman" panose="02020603050405020304" pitchFamily="18" charset="0"/>
                    <a:cs typeface="Times New Roman" panose="02020603050405020304" pitchFamily="18" charset="0"/>
                    <a:sym typeface="Symbol" panose="05050102010706020507" pitchFamily="18" charset="2"/>
                  </a:rPr>
                  <a:t> …………… (After applying pressure)</a:t>
                </a:r>
              </a:p>
              <a:p>
                <a:pPr marL="0" indent="0" algn="just">
                  <a:buNone/>
                </a:pPr>
                <a:r>
                  <a:rPr lang="en-IN" sz="1600" dirty="0">
                    <a:latin typeface="Times New Roman" panose="02020603050405020304" pitchFamily="18" charset="0"/>
                    <a:cs typeface="Times New Roman" panose="02020603050405020304" pitchFamily="18" charset="0"/>
                  </a:rPr>
                  <a:t>	</a:t>
                </a:r>
                <a:r>
                  <a:rPr lang="en-US" sz="1600" b="0" dirty="0">
                    <a:cs typeface="Times New Roman" panose="02020603050405020304" pitchFamily="18" charset="0"/>
                    <a:sym typeface="Symbol" panose="05050102010706020507" pitchFamily="18" charset="2"/>
                  </a:rPr>
                  <a:t> </a:t>
                </a:r>
                <a14:m>
                  <m:oMath xmlns:m="http://schemas.openxmlformats.org/officeDocument/2006/math">
                    <m:sSub>
                      <m:sSub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sSubPr>
                      <m:e>
                        <m:r>
                          <a:rPr lang="en-US" sz="1600" b="0" i="1" smtClean="0">
                            <a:latin typeface="Cambria Math" panose="02040503050406030204" pitchFamily="18" charset="0"/>
                            <a:cs typeface="Times New Roman" panose="02020603050405020304" pitchFamily="18" charset="0"/>
                            <a:sym typeface="Symbol" panose="05050102010706020507" pitchFamily="18" charset="2"/>
                          </a:rPr>
                          <m:t>𝐷</m:t>
                        </m:r>
                      </m:e>
                      <m:sub>
                        <m:r>
                          <a:rPr lang="en-US" sz="1600" b="0" i="1" smtClean="0">
                            <a:latin typeface="Cambria Math" panose="02040503050406030204" pitchFamily="18" charset="0"/>
                            <a:cs typeface="Times New Roman" panose="02020603050405020304" pitchFamily="18" charset="0"/>
                            <a:sym typeface="Symbol" panose="05050102010706020507" pitchFamily="18" charset="2"/>
                          </a:rPr>
                          <m:t>0</m:t>
                        </m:r>
                      </m:sub>
                    </m:sSub>
                    <m:r>
                      <a:rPr lang="en-US" sz="1600"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sz="1600" b="0" i="1" smtClean="0">
                            <a:latin typeface="Cambria Math" panose="02040503050406030204" pitchFamily="18" charset="0"/>
                            <a:cs typeface="Times New Roman" panose="02020603050405020304" pitchFamily="18" charset="0"/>
                            <a:sym typeface="Symbol" panose="05050102010706020507" pitchFamily="18" charset="2"/>
                          </a:rPr>
                          <m:t>𝑏𝑠𝑖𝑛</m:t>
                        </m:r>
                        <m:sSub>
                          <m:sSub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bPr>
                          <m:e>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e>
                          <m:sub>
                            <m:r>
                              <a:rPr lang="en-US" sz="1600" b="0" i="1" smtClean="0">
                                <a:latin typeface="Cambria Math" panose="02040503050406030204" pitchFamily="18" charset="0"/>
                                <a:cs typeface="Times New Roman" panose="02020603050405020304" pitchFamily="18" charset="0"/>
                                <a:sym typeface="Symbol" panose="05050102010706020507" pitchFamily="18" charset="2"/>
                              </a:rPr>
                              <m:t>0</m:t>
                            </m:r>
                          </m:sub>
                        </m:sSub>
                      </m:num>
                      <m:den>
                        <m:r>
                          <a:rPr lang="en-US" sz="1600" b="0" i="1" smtClean="0">
                            <a:latin typeface="Cambria Math" panose="02040503050406030204" pitchFamily="18" charset="0"/>
                            <a:cs typeface="Times New Roman" panose="02020603050405020304" pitchFamily="18" charset="0"/>
                            <a:sym typeface="Symbol" panose="05050102010706020507" pitchFamily="18" charset="2"/>
                          </a:rPr>
                          <m:t>𝑛</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𝜋</m:t>
                        </m:r>
                      </m:den>
                    </m:f>
                  </m:oMath>
                </a14:m>
                <a:r>
                  <a:rPr lang="en-IN" sz="1600" dirty="0">
                    <a:latin typeface="Times New Roman" panose="02020603050405020304" pitchFamily="18" charset="0"/>
                    <a:cs typeface="Times New Roman" panose="02020603050405020304" pitchFamily="18" charset="0"/>
                    <a:sym typeface="Symbol" panose="05050102010706020507" pitchFamily="18" charset="2"/>
                  </a:rPr>
                  <a:t> ………...... (Before applying pressure)</a:t>
                </a:r>
              </a:p>
              <a:p>
                <a:pPr marL="0" indent="0" algn="just">
                  <a:buNone/>
                </a:pPr>
                <a:r>
                  <a:rPr lang="en-IN" sz="1600" dirty="0">
                    <a:latin typeface="Times New Roman" panose="02020603050405020304" pitchFamily="18" charset="0"/>
                    <a:cs typeface="Times New Roman" panose="02020603050405020304" pitchFamily="18" charset="0"/>
                    <a:sym typeface="Symbol" panose="05050102010706020507" pitchFamily="18" charset="2"/>
                  </a:rPr>
                  <a:t>	</a:t>
                </a:r>
                <a14:m>
                  <m:oMath xmlns:m="http://schemas.openxmlformats.org/officeDocument/2006/math">
                    <m:r>
                      <a:rPr lang="en-IN" sz="1600" i="1" dirty="0" smtClean="0">
                        <a:latin typeface="Cambria Math" panose="02040503050406030204" pitchFamily="18" charset="0"/>
                        <a:cs typeface="Times New Roman" panose="02020603050405020304" pitchFamily="18" charset="0"/>
                        <a:sym typeface="Symbol" panose="05050102010706020507" pitchFamily="18" charset="2"/>
                      </a:rPr>
                      <m:t>𝐷</m:t>
                    </m:r>
                    <m:r>
                      <a:rPr lang="en-IN" sz="1600" i="1" dirty="0" smtClean="0">
                        <a:latin typeface="Cambria Math" panose="02040503050406030204" pitchFamily="18" charset="0"/>
                        <a:cs typeface="Times New Roman" panose="02020603050405020304" pitchFamily="18" charset="0"/>
                        <a:sym typeface="Symbol" panose="05050102010706020507" pitchFamily="18" charset="2"/>
                      </a:rPr>
                      <m:t> = </m:t>
                    </m:r>
                    <m:sSub>
                      <m:sSubPr>
                        <m:ctrlPr>
                          <a:rPr lang="en-US" sz="1600" b="0" i="1" dirty="0" smtClean="0">
                            <a:latin typeface="Cambria Math" panose="02040503050406030204" pitchFamily="18" charset="0"/>
                            <a:cs typeface="Times New Roman" panose="02020603050405020304" pitchFamily="18" charset="0"/>
                            <a:sym typeface="Symbol" panose="05050102010706020507" pitchFamily="18" charset="2"/>
                          </a:rPr>
                        </m:ctrlPr>
                      </m:sSubPr>
                      <m:e>
                        <m:r>
                          <a:rPr lang="en-US" sz="1600" b="0" i="1" dirty="0" smtClean="0">
                            <a:latin typeface="Cambria Math" panose="02040503050406030204" pitchFamily="18" charset="0"/>
                            <a:cs typeface="Times New Roman" panose="02020603050405020304" pitchFamily="18" charset="0"/>
                            <a:sym typeface="Symbol" panose="05050102010706020507" pitchFamily="18" charset="2"/>
                          </a:rPr>
                          <m:t>𝐷</m:t>
                        </m:r>
                      </m:e>
                      <m:sub>
                        <m:r>
                          <a:rPr lang="en-US" sz="1600" b="0" i="1" dirty="0" smtClean="0">
                            <a:latin typeface="Cambria Math" panose="02040503050406030204" pitchFamily="18" charset="0"/>
                            <a:cs typeface="Times New Roman" panose="02020603050405020304" pitchFamily="18" charset="0"/>
                            <a:sym typeface="Symbol" panose="05050102010706020507" pitchFamily="18" charset="2"/>
                          </a:rPr>
                          <m:t>0</m:t>
                        </m:r>
                      </m:sub>
                    </m:sSub>
                    <m:r>
                      <a:rPr lang="en-IN" sz="1050" i="1" dirty="0">
                        <a:latin typeface="Cambria Math" panose="02040503050406030204" pitchFamily="18" charset="0"/>
                        <a:cs typeface="Times New Roman" panose="02020603050405020304" pitchFamily="18" charset="0"/>
                        <a:sym typeface="Symbol" panose="05050102010706020507" pitchFamily="18" charset="2"/>
                      </a:rPr>
                      <m:t> </m:t>
                    </m:r>
                  </m:oMath>
                </a14:m>
                <a:r>
                  <a:rPr lang="en-IN" sz="1600" dirty="0">
                    <a:latin typeface="Times New Roman" panose="02020603050405020304" pitchFamily="18" charset="0"/>
                    <a:cs typeface="Times New Roman" panose="02020603050405020304" pitchFamily="18" charset="0"/>
                    <a:sym typeface="Symbol" panose="05050102010706020507" pitchFamily="18" charset="2"/>
                  </a:rPr>
                  <a:t>………. Basic Interpretation</a:t>
                </a:r>
              </a:p>
              <a:p>
                <a:pPr marL="0" indent="0" algn="just">
                  <a:buNone/>
                </a:pPr>
                <a:r>
                  <a:rPr lang="en-IN" sz="1600" dirty="0">
                    <a:latin typeface="Times New Roman" panose="02020603050405020304" pitchFamily="18" charset="0"/>
                    <a:cs typeface="Times New Roman" panose="02020603050405020304" pitchFamily="18" charset="0"/>
                    <a:sym typeface="Symbol" panose="05050102010706020507" pitchFamily="18" charset="2"/>
                  </a:rPr>
                  <a:t>So, we can replace D &amp; sin with D</a:t>
                </a:r>
                <a:r>
                  <a:rPr lang="en-IN" sz="1000" dirty="0">
                    <a:latin typeface="Times New Roman" panose="02020603050405020304" pitchFamily="18" charset="0"/>
                    <a:cs typeface="Times New Roman" panose="02020603050405020304" pitchFamily="18" charset="0"/>
                    <a:sym typeface="Symbol" panose="05050102010706020507" pitchFamily="18" charset="2"/>
                  </a:rPr>
                  <a:t>0</a:t>
                </a:r>
                <a:r>
                  <a:rPr lang="en-IN" sz="1600" dirty="0">
                    <a:latin typeface="Times New Roman" panose="02020603050405020304" pitchFamily="18" charset="0"/>
                    <a:cs typeface="Times New Roman" panose="02020603050405020304" pitchFamily="18" charset="0"/>
                    <a:sym typeface="Symbol" panose="05050102010706020507" pitchFamily="18" charset="2"/>
                  </a:rPr>
                  <a:t> &amp; sin</a:t>
                </a:r>
                <a:r>
                  <a:rPr lang="en-IN" sz="1000" dirty="0">
                    <a:latin typeface="Times New Roman" panose="02020603050405020304" pitchFamily="18" charset="0"/>
                    <a:cs typeface="Times New Roman" panose="02020603050405020304" pitchFamily="18" charset="0"/>
                    <a:sym typeface="Symbol" panose="05050102010706020507" pitchFamily="18" charset="2"/>
                  </a:rPr>
                  <a:t>0</a:t>
                </a:r>
                <a:r>
                  <a:rPr lang="en-IN" sz="1600" dirty="0">
                    <a:latin typeface="Times New Roman" panose="02020603050405020304" pitchFamily="18" charset="0"/>
                    <a:cs typeface="Times New Roman" panose="02020603050405020304" pitchFamily="18" charset="0"/>
                    <a:sym typeface="Symbol" panose="05050102010706020507" pitchFamily="18" charset="2"/>
                  </a:rPr>
                  <a:t> in </a:t>
                </a:r>
                <a:r>
                  <a:rPr lang="en-IN" sz="1600" dirty="0" err="1">
                    <a:latin typeface="Times New Roman" panose="02020603050405020304" pitchFamily="18" charset="0"/>
                    <a:cs typeface="Times New Roman" panose="02020603050405020304" pitchFamily="18" charset="0"/>
                    <a:sym typeface="Symbol" panose="05050102010706020507" pitchFamily="18" charset="2"/>
                  </a:rPr>
                  <a:t>eq</a:t>
                </a:r>
                <a:r>
                  <a:rPr lang="en-IN" sz="1600" dirty="0">
                    <a:latin typeface="Times New Roman" panose="02020603050405020304" pitchFamily="18" charset="0"/>
                    <a:cs typeface="Times New Roman" panose="02020603050405020304" pitchFamily="18" charset="0"/>
                    <a:sym typeface="Symbol" panose="05050102010706020507" pitchFamily="18" charset="2"/>
                  </a:rPr>
                  <a:t> (9) </a:t>
                </a:r>
              </a:p>
              <a:p>
                <a:pPr marL="800100" lvl="2" indent="0" algn="just">
                  <a:spcBef>
                    <a:spcPts val="600"/>
                  </a:spcBef>
                  <a:buNone/>
                </a:pPr>
                <a14:m>
                  <m:oMath xmlns:m="http://schemas.openxmlformats.org/officeDocument/2006/math">
                    <m:r>
                      <a:rPr lang="en-US" sz="1600" b="0" i="1" smtClean="0">
                        <a:latin typeface="Cambria Math" panose="02040503050406030204" pitchFamily="18" charset="0"/>
                        <a:cs typeface="Times New Roman" panose="02020603050405020304" pitchFamily="18" charset="0"/>
                        <a:sym typeface="Symbol" panose="05050102010706020507" pitchFamily="18" charset="2"/>
                      </a:rPr>
                      <m:t>𝑐𝑜𝑠</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 </m:t>
                    </m:r>
                    <m:f>
                      <m:f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fPr>
                      <m:num>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𝐿</m:t>
                        </m:r>
                      </m:num>
                      <m:den>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𝑏</m:t>
                        </m:r>
                      </m:den>
                    </m:f>
                  </m:oMath>
                </a14:m>
                <a:r>
                  <a:rPr lang="en-IN" sz="1600" dirty="0">
                    <a:latin typeface="Times New Roman" panose="02020603050405020304" pitchFamily="18" charset="0"/>
                    <a:cs typeface="Times New Roman" panose="02020603050405020304" pitchFamily="18" charset="0"/>
                    <a:sym typeface="Symbol" panose="05050102010706020507" pitchFamily="18" charset="2"/>
                  </a:rPr>
                  <a:t> </a:t>
                </a:r>
              </a:p>
              <a:p>
                <a:pPr marL="800100" lvl="2" indent="0" algn="just">
                  <a:spcBef>
                    <a:spcPts val="600"/>
                  </a:spcBef>
                  <a:buNone/>
                </a:pPr>
                <a:r>
                  <a:rPr lang="en-IN" sz="1600" dirty="0">
                    <a:cs typeface="Times New Roman" panose="02020603050405020304" pitchFamily="18" charset="0"/>
                    <a:sym typeface="Symbol" panose="05050102010706020507" pitchFamily="18" charset="2"/>
                  </a:rPr>
                  <a:t>	</a:t>
                </a:r>
                <a14:m>
                  <m:oMath xmlns:m="http://schemas.openxmlformats.org/officeDocument/2006/math">
                    <m:r>
                      <a:rPr lang="en-IN" sz="1600" i="1" dirty="0" smtClean="0">
                        <a:latin typeface="Cambria Math" panose="02040503050406030204" pitchFamily="18" charset="0"/>
                        <a:cs typeface="Times New Roman" panose="02020603050405020304" pitchFamily="18" charset="0"/>
                        <a:sym typeface="Symbol" panose="05050102010706020507" pitchFamily="18" charset="2"/>
                      </a:rPr>
                      <m:t>𝐿</m:t>
                    </m:r>
                    <m:r>
                      <a:rPr lang="en-IN" sz="1600" i="1" dirty="0" smtClean="0">
                        <a:latin typeface="Cambria Math" panose="02040503050406030204" pitchFamily="18" charset="0"/>
                        <a:cs typeface="Times New Roman" panose="02020603050405020304" pitchFamily="18" charset="0"/>
                        <a:sym typeface="Symbol" panose="05050102010706020507" pitchFamily="18" charset="2"/>
                      </a:rPr>
                      <m:t> = </m:t>
                    </m:r>
                    <m:r>
                      <a:rPr lang="en-IN" sz="1600" i="1" dirty="0">
                        <a:latin typeface="Cambria Math" panose="02040503050406030204" pitchFamily="18" charset="0"/>
                        <a:cs typeface="Times New Roman" panose="02020603050405020304" pitchFamily="18" charset="0"/>
                        <a:sym typeface="Symbol" panose="05050102010706020507" pitchFamily="18" charset="2"/>
                      </a:rPr>
                      <m:t>𝑏</m:t>
                    </m:r>
                    <m:r>
                      <a:rPr lang="en-IN" sz="1600" i="1" dirty="0">
                        <a:latin typeface="Cambria Math" panose="02040503050406030204" pitchFamily="18" charset="0"/>
                        <a:cs typeface="Times New Roman" panose="02020603050405020304" pitchFamily="18" charset="0"/>
                      </a:rPr>
                      <m:t> </m:t>
                    </m:r>
                    <m:r>
                      <a:rPr lang="en-US" sz="1600" b="0" i="1" dirty="0" smtClean="0">
                        <a:latin typeface="Cambria Math" panose="02040503050406030204" pitchFamily="18" charset="0"/>
                        <a:cs typeface="Times New Roman" panose="02020603050405020304" pitchFamily="18" charset="0"/>
                      </a:rPr>
                      <m:t>𝑐𝑜𝑠</m:t>
                    </m:r>
                    <m:r>
                      <a:rPr lang="en-IN" sz="1600" i="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oMath>
                </a14:m>
                <a:endParaRPr lang="en-IN" sz="1600" dirty="0">
                  <a:latin typeface="Times New Roman" panose="02020603050405020304" pitchFamily="18" charset="0"/>
                  <a:cs typeface="Times New Roman" panose="02020603050405020304" pitchFamily="18" charset="0"/>
                  <a:sym typeface="Symbol" panose="05050102010706020507" pitchFamily="18" charset="2"/>
                </a:endParaRPr>
              </a:p>
              <a:p>
                <a:pPr marL="0" indent="0" algn="just">
                  <a:buNone/>
                </a:pPr>
                <a:r>
                  <a:rPr lang="en-IN" sz="1600" dirty="0">
                    <a:cs typeface="Times New Roman" panose="02020603050405020304" pitchFamily="18" charset="0"/>
                    <a:sym typeface="Symbol" panose="05050102010706020507" pitchFamily="18" charset="2"/>
                  </a:rPr>
                  <a:t>		</a:t>
                </a:r>
                <a14:m>
                  <m:oMath xmlns:m="http://schemas.openxmlformats.org/officeDocument/2006/math">
                    <m:sSub>
                      <m:sSubPr>
                        <m:ctrlPr>
                          <a:rPr lang="en-US" sz="1600" b="0" i="1" dirty="0" smtClean="0">
                            <a:latin typeface="Cambria Math" panose="02040503050406030204" pitchFamily="18" charset="0"/>
                            <a:cs typeface="Times New Roman" panose="02020603050405020304" pitchFamily="18" charset="0"/>
                            <a:sym typeface="Symbol" panose="05050102010706020507" pitchFamily="18" charset="2"/>
                          </a:rPr>
                        </m:ctrlPr>
                      </m:sSubPr>
                      <m:e>
                        <m:r>
                          <a:rPr lang="en-US" sz="1600" b="0" i="1" dirty="0" smtClean="0">
                            <a:latin typeface="Cambria Math" panose="02040503050406030204" pitchFamily="18" charset="0"/>
                            <a:cs typeface="Times New Roman" panose="02020603050405020304" pitchFamily="18" charset="0"/>
                            <a:sym typeface="Symbol" panose="05050102010706020507" pitchFamily="18" charset="2"/>
                          </a:rPr>
                          <m:t>𝐿</m:t>
                        </m:r>
                      </m:e>
                      <m:sub>
                        <m:r>
                          <a:rPr lang="en-US" sz="1600" b="0" i="1" dirty="0" smtClean="0">
                            <a:latin typeface="Cambria Math" panose="02040503050406030204" pitchFamily="18" charset="0"/>
                            <a:cs typeface="Times New Roman" panose="02020603050405020304" pitchFamily="18" charset="0"/>
                            <a:sym typeface="Symbol" panose="05050102010706020507" pitchFamily="18" charset="2"/>
                          </a:rPr>
                          <m:t>0</m:t>
                        </m:r>
                      </m:sub>
                    </m:sSub>
                    <m:r>
                      <a:rPr lang="en-IN" sz="1600" i="1" dirty="0" smtClean="0">
                        <a:latin typeface="Cambria Math" panose="02040503050406030204" pitchFamily="18" charset="0"/>
                        <a:cs typeface="Times New Roman" panose="02020603050405020304" pitchFamily="18" charset="0"/>
                        <a:sym typeface="Symbol" panose="05050102010706020507" pitchFamily="18" charset="2"/>
                      </a:rPr>
                      <m:t>= </m:t>
                    </m:r>
                    <m:r>
                      <a:rPr lang="en-IN" sz="1600" i="1" dirty="0">
                        <a:latin typeface="Cambria Math" panose="02040503050406030204" pitchFamily="18" charset="0"/>
                        <a:cs typeface="Times New Roman" panose="02020603050405020304" pitchFamily="18" charset="0"/>
                        <a:sym typeface="Symbol" panose="05050102010706020507" pitchFamily="18" charset="2"/>
                      </a:rPr>
                      <m:t>𝑏</m:t>
                    </m:r>
                    <m:r>
                      <a:rPr lang="en-IN" sz="1600" i="1" dirty="0">
                        <a:latin typeface="Cambria Math" panose="02040503050406030204" pitchFamily="18" charset="0"/>
                        <a:cs typeface="Times New Roman" panose="02020603050405020304" pitchFamily="18" charset="0"/>
                      </a:rPr>
                      <m:t> </m:t>
                    </m:r>
                    <m:r>
                      <a:rPr lang="en-US" sz="1600" b="0" i="1" dirty="0" smtClean="0">
                        <a:latin typeface="Cambria Math" panose="02040503050406030204" pitchFamily="18" charset="0"/>
                        <a:cs typeface="Times New Roman" panose="02020603050405020304" pitchFamily="18" charset="0"/>
                      </a:rPr>
                      <m:t>𝑐𝑜𝑠</m:t>
                    </m:r>
                    <m:sSub>
                      <m:sSubPr>
                        <m:ctrlPr>
                          <a:rPr lang="en-US" sz="1600" b="0" i="1" dirty="0"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sz="1600" b="0" i="1" dirty="0" smtClean="0">
                            <a:latin typeface="Cambria Math" panose="02040503050406030204" pitchFamily="18" charset="0"/>
                            <a:ea typeface="Cambria Math" panose="02040503050406030204" pitchFamily="18" charset="0"/>
                            <a:cs typeface="Times New Roman" panose="02020603050405020304" pitchFamily="18" charset="0"/>
                          </a:rPr>
                          <m:t>𝜃</m:t>
                        </m:r>
                      </m:e>
                      <m:sub>
                        <m:r>
                          <a:rPr lang="en-US" sz="1600" b="0" i="1" dirty="0" smtClean="0">
                            <a:latin typeface="Cambria Math" panose="02040503050406030204" pitchFamily="18" charset="0"/>
                            <a:cs typeface="Times New Roman" panose="02020603050405020304" pitchFamily="18" charset="0"/>
                          </a:rPr>
                          <m:t>0</m:t>
                        </m:r>
                      </m:sub>
                    </m:sSub>
                  </m:oMath>
                </a14:m>
                <a:endParaRPr lang="en-US" sz="1600" b="0" i="1" dirty="0">
                  <a:latin typeface="Cambria Math" panose="02040503050406030204" pitchFamily="18" charset="0"/>
                  <a:cs typeface="Times New Roman" panose="02020603050405020304" pitchFamily="18" charset="0"/>
                </a:endParaRPr>
              </a:p>
              <a:p>
                <a:pPr marL="0" indent="0" algn="just">
                  <a:buNone/>
                </a:pPr>
                <a:r>
                  <a:rPr lang="en-IN" sz="1600" dirty="0">
                    <a:cs typeface="Times New Roman" panose="02020603050405020304" pitchFamily="18" charset="0"/>
                    <a:sym typeface="Symbol" panose="05050102010706020507" pitchFamily="18" charset="2"/>
                  </a:rPr>
                  <a:t>		</a:t>
                </a:r>
                <a14:m>
                  <m:oMath xmlns:m="http://schemas.openxmlformats.org/officeDocument/2006/math">
                    <m:f>
                      <m:f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sz="1600" b="0" i="1" smtClean="0">
                            <a:latin typeface="Cambria Math" panose="02040503050406030204" pitchFamily="18" charset="0"/>
                            <a:cs typeface="Times New Roman" panose="02020603050405020304" pitchFamily="18" charset="0"/>
                            <a:sym typeface="Symbol" panose="05050102010706020507" pitchFamily="18" charset="2"/>
                          </a:rPr>
                          <m:t>𝐿</m:t>
                        </m:r>
                      </m:num>
                      <m:den>
                        <m:sSub>
                          <m:sSub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sSubPr>
                          <m:e>
                            <m:r>
                              <a:rPr lang="en-US" sz="1600" b="0" i="1" smtClean="0">
                                <a:latin typeface="Cambria Math" panose="02040503050406030204" pitchFamily="18" charset="0"/>
                                <a:cs typeface="Times New Roman" panose="02020603050405020304" pitchFamily="18" charset="0"/>
                                <a:sym typeface="Symbol" panose="05050102010706020507" pitchFamily="18" charset="2"/>
                              </a:rPr>
                              <m:t>𝐿</m:t>
                            </m:r>
                          </m:e>
                          <m:sub>
                            <m:r>
                              <a:rPr lang="en-US" sz="1600" b="0" i="1" smtClean="0">
                                <a:latin typeface="Cambria Math" panose="02040503050406030204" pitchFamily="18" charset="0"/>
                                <a:cs typeface="Times New Roman" panose="02020603050405020304" pitchFamily="18" charset="0"/>
                                <a:sym typeface="Symbol" panose="05050102010706020507" pitchFamily="18" charset="2"/>
                              </a:rPr>
                              <m:t>0</m:t>
                            </m:r>
                          </m:sub>
                        </m:sSub>
                      </m:den>
                    </m:f>
                    <m:r>
                      <a:rPr lang="en-US" sz="1600"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sz="1600" b="0" i="1" smtClean="0">
                            <a:latin typeface="Cambria Math" panose="02040503050406030204" pitchFamily="18" charset="0"/>
                            <a:cs typeface="Times New Roman" panose="02020603050405020304" pitchFamily="18" charset="0"/>
                            <a:sym typeface="Symbol" panose="05050102010706020507" pitchFamily="18" charset="2"/>
                          </a:rPr>
                          <m:t>𝑐𝑜𝑠</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num>
                      <m:den>
                        <m:r>
                          <a:rPr lang="en-US" sz="1600" b="0" i="1" smtClean="0">
                            <a:latin typeface="Cambria Math" panose="02040503050406030204" pitchFamily="18" charset="0"/>
                            <a:cs typeface="Times New Roman" panose="02020603050405020304" pitchFamily="18" charset="0"/>
                            <a:sym typeface="Symbol" panose="05050102010706020507" pitchFamily="18" charset="2"/>
                          </a:rPr>
                          <m:t>𝑐𝑜𝑠</m:t>
                        </m:r>
                        <m:sSub>
                          <m:sSub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bPr>
                          <m:e>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e>
                          <m:sub>
                            <m:r>
                              <a:rPr lang="en-US" sz="1600" b="0" i="1" smtClean="0">
                                <a:latin typeface="Cambria Math" panose="02040503050406030204" pitchFamily="18" charset="0"/>
                                <a:cs typeface="Times New Roman" panose="02020603050405020304" pitchFamily="18" charset="0"/>
                                <a:sym typeface="Symbol" panose="05050102010706020507" pitchFamily="18" charset="2"/>
                              </a:rPr>
                              <m:t>0</m:t>
                            </m:r>
                          </m:sub>
                        </m:sSub>
                      </m:den>
                    </m:f>
                  </m:oMath>
                </a14:m>
                <a:endParaRPr lang="en-IN" sz="1600" dirty="0">
                  <a:latin typeface="Times New Roman" panose="02020603050405020304" pitchFamily="18" charset="0"/>
                  <a:cs typeface="Times New Roman" panose="02020603050405020304" pitchFamily="18" charset="0"/>
                  <a:sym typeface="Symbol" panose="05050102010706020507" pitchFamily="18" charset="2"/>
                </a:endParaRPr>
              </a:p>
              <a:p>
                <a:pPr marL="0" indent="0" algn="just">
                  <a:buNone/>
                </a:pPr>
                <a:r>
                  <a:rPr lang="en-IN" sz="1600" dirty="0">
                    <a:latin typeface="Times New Roman" panose="02020603050405020304" pitchFamily="18" charset="0"/>
                    <a:cs typeface="Times New Roman" panose="02020603050405020304" pitchFamily="18" charset="0"/>
                    <a:sym typeface="Symbol" panose="05050102010706020507" pitchFamily="18" charset="2"/>
                  </a:rPr>
                  <a:t>By Rearranging,</a:t>
                </a:r>
              </a:p>
              <a:p>
                <a:pPr marL="0" indent="0" algn="just">
                  <a:buNone/>
                </a:pPr>
                <a:r>
                  <a:rPr lang="en-US" sz="1600" b="0" dirty="0">
                    <a:cs typeface="Times New Roman" panose="02020603050405020304" pitchFamily="18" charset="0"/>
                    <a:sym typeface="Symbol" panose="05050102010706020507" pitchFamily="18" charset="2"/>
                  </a:rPr>
                  <a:t>		</a:t>
                </a:r>
                <a14:m>
                  <m:oMath xmlns:m="http://schemas.openxmlformats.org/officeDocument/2006/math">
                    <m:r>
                      <a:rPr lang="en-US" sz="1600" b="0" i="1" smtClean="0">
                        <a:latin typeface="Cambria Math" panose="02040503050406030204" pitchFamily="18" charset="0"/>
                        <a:cs typeface="Times New Roman" panose="02020603050405020304" pitchFamily="18" charset="0"/>
                        <a:sym typeface="Symbol" panose="05050102010706020507" pitchFamily="18" charset="2"/>
                      </a:rPr>
                      <m:t>𝑐𝑜𝑠</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 </m:t>
                    </m:r>
                    <m:f>
                      <m:f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sz="1600" b="0" i="1" smtClean="0">
                            <a:latin typeface="Cambria Math" panose="02040503050406030204" pitchFamily="18" charset="0"/>
                            <a:cs typeface="Times New Roman" panose="02020603050405020304" pitchFamily="18" charset="0"/>
                            <a:sym typeface="Symbol" panose="05050102010706020507" pitchFamily="18" charset="2"/>
                          </a:rPr>
                          <m:t>𝐿</m:t>
                        </m:r>
                      </m:num>
                      <m:den>
                        <m:sSub>
                          <m:sSub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sSubPr>
                          <m:e>
                            <m:r>
                              <a:rPr lang="en-US" sz="1600" b="0" i="1" smtClean="0">
                                <a:latin typeface="Cambria Math" panose="02040503050406030204" pitchFamily="18" charset="0"/>
                                <a:cs typeface="Times New Roman" panose="02020603050405020304" pitchFamily="18" charset="0"/>
                                <a:sym typeface="Symbol" panose="05050102010706020507" pitchFamily="18" charset="2"/>
                              </a:rPr>
                              <m:t>𝐿</m:t>
                            </m:r>
                          </m:e>
                          <m:sub>
                            <m:r>
                              <a:rPr lang="en-US" sz="1600" b="0" i="1" smtClean="0">
                                <a:latin typeface="Cambria Math" panose="02040503050406030204" pitchFamily="18" charset="0"/>
                                <a:cs typeface="Times New Roman" panose="02020603050405020304" pitchFamily="18" charset="0"/>
                                <a:sym typeface="Symbol" panose="05050102010706020507" pitchFamily="18" charset="2"/>
                              </a:rPr>
                              <m:t>0</m:t>
                            </m:r>
                          </m:sub>
                        </m:sSub>
                      </m:den>
                    </m:f>
                    <m:r>
                      <a:rPr lang="en-US" sz="1600" b="0" i="1" smtClean="0">
                        <a:latin typeface="Cambria Math" panose="02040503050406030204" pitchFamily="18" charset="0"/>
                        <a:cs typeface="Times New Roman" panose="02020603050405020304" pitchFamily="18" charset="0"/>
                        <a:sym typeface="Symbol" panose="05050102010706020507" pitchFamily="18" charset="2"/>
                      </a:rPr>
                      <m:t> </m:t>
                    </m:r>
                    <m:sSub>
                      <m:sSub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sSubPr>
                      <m:e>
                        <m:r>
                          <a:rPr lang="en-US" sz="1600" b="0" i="1" smtClean="0">
                            <a:latin typeface="Cambria Math" panose="02040503050406030204" pitchFamily="18" charset="0"/>
                            <a:cs typeface="Times New Roman" panose="02020603050405020304" pitchFamily="18" charset="0"/>
                            <a:sym typeface="Symbol" panose="05050102010706020507" pitchFamily="18" charset="2"/>
                          </a:rPr>
                          <m:t>𝑐𝑜𝑠</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e>
                      <m:sub>
                        <m:r>
                          <a:rPr lang="en-US" sz="1600" b="0" i="1" smtClean="0">
                            <a:latin typeface="Cambria Math" panose="02040503050406030204" pitchFamily="18" charset="0"/>
                            <a:cs typeface="Times New Roman" panose="02020603050405020304" pitchFamily="18" charset="0"/>
                            <a:sym typeface="Symbol" panose="05050102010706020507" pitchFamily="18" charset="2"/>
                          </a:rPr>
                          <m:t>0</m:t>
                        </m:r>
                      </m:sub>
                    </m:sSub>
                  </m:oMath>
                </a14:m>
                <a:r>
                  <a:rPr lang="en-IN" sz="1600" dirty="0">
                    <a:latin typeface="Times New Roman" panose="02020603050405020304" pitchFamily="18" charset="0"/>
                    <a:cs typeface="Times New Roman" panose="02020603050405020304" pitchFamily="18" charset="0"/>
                    <a:sym typeface="Symbol" panose="05050102010706020507" pitchFamily="18" charset="2"/>
                  </a:rPr>
                  <a:t> ……………………………. (10)	</a:t>
                </a:r>
              </a:p>
              <a:p>
                <a:pPr marL="0" indent="0" algn="just">
                  <a:buNone/>
                </a:pPr>
                <a:r>
                  <a:rPr lang="en-IN" sz="1600" dirty="0">
                    <a:latin typeface="Times New Roman" panose="02020603050405020304" pitchFamily="18" charset="0"/>
                    <a:cs typeface="Times New Roman" panose="02020603050405020304" pitchFamily="18" charset="0"/>
                    <a:sym typeface="Symbol" panose="05050102010706020507" pitchFamily="18" charset="2"/>
                  </a:rPr>
                  <a:t>Where, Contraction Factor ()</a:t>
                </a:r>
              </a:p>
              <a:p>
                <a:pPr marL="0" indent="0" algn="just">
                  <a:buNone/>
                </a:pPr>
                <a14:m>
                  <m:oMathPara xmlns:m="http://schemas.openxmlformats.org/officeDocument/2006/math">
                    <m:oMath>
                      <m:r>
                        <a:rPr lang="en-IN" sz="160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𝜀</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 </m:t>
                      </m:r>
                      <m:f>
                        <m:f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fPr>
                        <m:num>
                          <m:sSub>
                            <m:sSub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bPr>
                            <m:e>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𝐿</m:t>
                              </m:r>
                            </m:e>
                            <m:sub>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0</m:t>
                              </m:r>
                            </m:sub>
                          </m:sSub>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𝐿</m:t>
                          </m:r>
                        </m:num>
                        <m:den>
                          <m:sSub>
                            <m:sSub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bPr>
                            <m:e>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𝐿</m:t>
                              </m:r>
                            </m:e>
                            <m:sub>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0</m:t>
                              </m:r>
                            </m:sub>
                          </m:sSub>
                        </m:den>
                      </m:f>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=1 − </m:t>
                      </m:r>
                      <m:f>
                        <m:f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fPr>
                        <m:num>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𝐿</m:t>
                          </m:r>
                        </m:num>
                        <m:den>
                          <m:sSub>
                            <m:sSub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bPr>
                            <m:e>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𝐿</m:t>
                              </m:r>
                            </m:e>
                            <m:sub>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0</m:t>
                              </m:r>
                            </m:sub>
                          </m:sSub>
                        </m:den>
                      </m:f>
                    </m:oMath>
                  </m:oMathPara>
                </a14:m>
                <a:endParaRPr lang="en-IN" sz="1600" dirty="0">
                  <a:latin typeface="Times New Roman" panose="02020603050405020304" pitchFamily="18" charset="0"/>
                  <a:cs typeface="Times New Roman" panose="02020603050405020304" pitchFamily="18" charset="0"/>
                  <a:sym typeface="Symbol" panose="05050102010706020507" pitchFamily="18" charset="2"/>
                </a:endParaRPr>
              </a:p>
            </p:txBody>
          </p:sp>
        </mc:Choice>
        <mc:Fallback xmlns="">
          <p:sp>
            <p:nvSpPr>
              <p:cNvPr id="3" name="Content Placeholder 2">
                <a:extLst>
                  <a:ext uri="{FF2B5EF4-FFF2-40B4-BE49-F238E27FC236}">
                    <a16:creationId xmlns:a16="http://schemas.microsoft.com/office/drawing/2014/main" id="{2F78D876-251E-85C5-6A7D-BE0697549C31}"/>
                  </a:ext>
                </a:extLst>
              </p:cNvPr>
              <p:cNvSpPr>
                <a:spLocks noGrp="1" noRot="1" noChangeAspect="1" noMove="1" noResize="1" noEditPoints="1" noAdjustHandles="1" noChangeArrowheads="1" noChangeShapeType="1" noTextEdit="1"/>
              </p:cNvSpPr>
              <p:nvPr>
                <p:ph idx="1"/>
              </p:nvPr>
            </p:nvSpPr>
            <p:spPr>
              <a:xfrm>
                <a:off x="6373281" y="1393475"/>
                <a:ext cx="5433054" cy="5106956"/>
              </a:xfrm>
              <a:blipFill>
                <a:blip r:embed="rId2"/>
                <a:stretch>
                  <a:fillRect l="-448" t="-836" r="-33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9178E7A-19B5-2D3B-5C12-C52417669B35}"/>
                  </a:ext>
                </a:extLst>
              </p:cNvPr>
              <p:cNvSpPr txBox="1"/>
              <p:nvPr/>
            </p:nvSpPr>
            <p:spPr>
              <a:xfrm>
                <a:off x="1663900" y="1466151"/>
                <a:ext cx="4746232" cy="4664097"/>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Diff. eq (2) &amp; eq (5) w. r. t. </a:t>
                </a:r>
                <a:r>
                  <a:rPr lang="en-IN" sz="1600" dirty="0">
                    <a:latin typeface="Times New Roman" panose="02020603050405020304" pitchFamily="18" charset="0"/>
                    <a:cs typeface="Times New Roman" panose="02020603050405020304" pitchFamily="18" charset="0"/>
                    <a:sym typeface="Symbol" panose="05050102010706020507" pitchFamily="18" charset="2"/>
                  </a:rPr>
                  <a:t> </a:t>
                </a:r>
              </a:p>
              <a:p>
                <a:r>
                  <a:rPr lang="en-IN" sz="1600" dirty="0">
                    <a:cs typeface="Times New Roman" panose="02020603050405020304" pitchFamily="18" charset="0"/>
                    <a:sym typeface="Symbol" panose="05050102010706020507" pitchFamily="18" charset="2"/>
                  </a:rPr>
                  <a:t>	</a:t>
                </a:r>
                <a14:m>
                  <m:oMath xmlns:m="http://schemas.openxmlformats.org/officeDocument/2006/math">
                    <m:f>
                      <m:fPr>
                        <m:ctrlPr>
                          <a:rPr lang="en-US"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b="0" i="1" smtClean="0">
                            <a:latin typeface="Cambria Math" panose="02040503050406030204" pitchFamily="18" charset="0"/>
                            <a:cs typeface="Times New Roman" panose="02020603050405020304" pitchFamily="18" charset="0"/>
                            <a:sym typeface="Symbol" panose="05050102010706020507" pitchFamily="18" charset="2"/>
                          </a:rPr>
                          <m:t>𝑑𝐿</m:t>
                        </m:r>
                      </m:num>
                      <m:den>
                        <m:r>
                          <a:rPr lang="en-US" b="0" i="1" smtClean="0">
                            <a:latin typeface="Cambria Math" panose="02040503050406030204" pitchFamily="18" charset="0"/>
                            <a:cs typeface="Times New Roman" panose="02020603050405020304" pitchFamily="18" charset="0"/>
                            <a:sym typeface="Symbol" panose="05050102010706020507" pitchFamily="18" charset="2"/>
                          </a:rPr>
                          <m:t>𝑑</m:t>
                        </m:r>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den>
                    </m:f>
                    <m:r>
                      <a:rPr lang="en-US" b="0" i="1" smtClean="0">
                        <a:latin typeface="Cambria Math" panose="02040503050406030204" pitchFamily="18" charset="0"/>
                        <a:cs typeface="Times New Roman" panose="02020603050405020304" pitchFamily="18" charset="0"/>
                        <a:sym typeface="Symbol" panose="05050102010706020507" pitchFamily="18" charset="2"/>
                      </a:rPr>
                      <m:t>=−</m:t>
                    </m:r>
                    <m:r>
                      <a:rPr lang="en-US" b="0" i="1" smtClean="0">
                        <a:latin typeface="Cambria Math" panose="02040503050406030204" pitchFamily="18" charset="0"/>
                        <a:cs typeface="Times New Roman" panose="02020603050405020304" pitchFamily="18" charset="0"/>
                        <a:sym typeface="Symbol" panose="05050102010706020507" pitchFamily="18" charset="2"/>
                      </a:rPr>
                      <m:t>𝑏𝑠𝑖𝑛</m:t>
                    </m:r>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oMath>
                </a14:m>
                <a:r>
                  <a:rPr lang="en-IN" sz="1600" dirty="0">
                    <a:latin typeface="Times New Roman" panose="02020603050405020304" pitchFamily="18" charset="0"/>
                    <a:cs typeface="Times New Roman" panose="02020603050405020304" pitchFamily="18" charset="0"/>
                    <a:sym typeface="Symbol" panose="05050102010706020507" pitchFamily="18" charset="2"/>
                  </a:rPr>
                  <a:t> …….…..……………………. (6)</a:t>
                </a:r>
              </a:p>
              <a:p>
                <a:r>
                  <a:rPr lang="en-IN" sz="1600" dirty="0">
                    <a:latin typeface="Times New Roman" panose="02020603050405020304" pitchFamily="18" charset="0"/>
                    <a:cs typeface="Times New Roman" panose="02020603050405020304" pitchFamily="18" charset="0"/>
                    <a:sym typeface="Symbol" panose="05050102010706020507" pitchFamily="18" charset="2"/>
                  </a:rPr>
                  <a:t>	</a:t>
                </a:r>
                <a14:m>
                  <m:oMath xmlns:m="http://schemas.openxmlformats.org/officeDocument/2006/math">
                    <m:f>
                      <m:fPr>
                        <m:ctrlPr>
                          <a:rPr lang="en-US"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b="0" i="1" smtClean="0">
                            <a:latin typeface="Cambria Math" panose="02040503050406030204" pitchFamily="18" charset="0"/>
                            <a:cs typeface="Times New Roman" panose="02020603050405020304" pitchFamily="18" charset="0"/>
                            <a:sym typeface="Symbol" panose="05050102010706020507" pitchFamily="18" charset="2"/>
                          </a:rPr>
                          <m:t>𝑑𝑉</m:t>
                        </m:r>
                      </m:num>
                      <m:den>
                        <m:r>
                          <a:rPr lang="en-US" b="0" i="1" smtClean="0">
                            <a:latin typeface="Cambria Math" panose="02040503050406030204" pitchFamily="18" charset="0"/>
                            <a:cs typeface="Times New Roman" panose="02020603050405020304" pitchFamily="18" charset="0"/>
                            <a:sym typeface="Symbol" panose="05050102010706020507" pitchFamily="18" charset="2"/>
                          </a:rPr>
                          <m:t>𝑑</m:t>
                        </m:r>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den>
                    </m:f>
                    <m:r>
                      <a:rPr lang="en-US"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b="0" i="1" smtClean="0">
                            <a:latin typeface="Cambria Math" panose="02040503050406030204" pitchFamily="18" charset="0"/>
                            <a:cs typeface="Times New Roman" panose="02020603050405020304" pitchFamily="18" charset="0"/>
                            <a:sym typeface="Symbol" panose="05050102010706020507" pitchFamily="18" charset="2"/>
                          </a:rPr>
                        </m:ctrlPr>
                      </m:fPr>
                      <m:num>
                        <m:sSup>
                          <m:sSupPr>
                            <m:ctrlPr>
                              <a:rPr lang="en-US"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b="0" i="1" smtClean="0">
                                <a:latin typeface="Cambria Math" panose="02040503050406030204" pitchFamily="18" charset="0"/>
                                <a:cs typeface="Times New Roman" panose="02020603050405020304" pitchFamily="18" charset="0"/>
                                <a:sym typeface="Symbol" panose="05050102010706020507" pitchFamily="18" charset="2"/>
                              </a:rPr>
                              <m:t>𝑏</m:t>
                            </m:r>
                          </m:e>
                          <m:sup>
                            <m:r>
                              <a:rPr lang="en-US" b="0" i="1" smtClean="0">
                                <a:latin typeface="Cambria Math" panose="02040503050406030204" pitchFamily="18" charset="0"/>
                                <a:cs typeface="Times New Roman" panose="02020603050405020304" pitchFamily="18" charset="0"/>
                                <a:sym typeface="Symbol" panose="05050102010706020507" pitchFamily="18" charset="2"/>
                              </a:rPr>
                              <m:t>3</m:t>
                            </m:r>
                          </m:sup>
                        </m:sSup>
                      </m:num>
                      <m:den>
                        <m:r>
                          <a:rPr lang="en-US" b="0" i="1" smtClean="0">
                            <a:latin typeface="Cambria Math" panose="02040503050406030204" pitchFamily="18" charset="0"/>
                            <a:cs typeface="Times New Roman" panose="02020603050405020304" pitchFamily="18" charset="0"/>
                            <a:sym typeface="Symbol" panose="05050102010706020507" pitchFamily="18" charset="2"/>
                          </a:rPr>
                          <m:t>4</m:t>
                        </m:r>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𝜋</m:t>
                        </m:r>
                        <m:sSup>
                          <m:sSupPr>
                            <m:ctrlP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pPr>
                          <m:e>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𝑛</m:t>
                            </m:r>
                          </m:e>
                          <m:sup>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2</m:t>
                            </m:r>
                          </m:sup>
                        </m:sSup>
                      </m:den>
                    </m:f>
                    <m:r>
                      <a:rPr lang="en-US" b="0" i="1" smtClean="0">
                        <a:latin typeface="Cambria Math" panose="02040503050406030204" pitchFamily="18" charset="0"/>
                        <a:cs typeface="Times New Roman" panose="02020603050405020304" pitchFamily="18" charset="0"/>
                        <a:sym typeface="Symbol" panose="05050102010706020507" pitchFamily="18" charset="2"/>
                      </a:rPr>
                      <m:t> ∗[3</m:t>
                    </m:r>
                    <m:sSup>
                      <m:sSupPr>
                        <m:ctrlPr>
                          <a:rPr lang="en-US"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b="0" i="1" smtClean="0">
                            <a:latin typeface="Cambria Math" panose="02040503050406030204" pitchFamily="18" charset="0"/>
                            <a:cs typeface="Times New Roman" panose="02020603050405020304" pitchFamily="18" charset="0"/>
                            <a:sym typeface="Symbol" panose="05050102010706020507" pitchFamily="18" charset="2"/>
                          </a:rPr>
                          <m:t>𝑐𝑜𝑠</m:t>
                        </m:r>
                      </m:e>
                      <m:sup>
                        <m:r>
                          <a:rPr lang="en-US" b="0" i="1" smtClean="0">
                            <a:latin typeface="Cambria Math" panose="02040503050406030204" pitchFamily="18" charset="0"/>
                            <a:cs typeface="Times New Roman" panose="02020603050405020304" pitchFamily="18" charset="0"/>
                            <a:sym typeface="Symbol" panose="05050102010706020507" pitchFamily="18" charset="2"/>
                          </a:rPr>
                          <m:t>2</m:t>
                        </m:r>
                      </m:sup>
                    </m:sSup>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 −1]</m:t>
                    </m:r>
                  </m:oMath>
                </a14:m>
                <a:r>
                  <a:rPr lang="en-IN" sz="1600" dirty="0">
                    <a:latin typeface="Times New Roman" panose="02020603050405020304" pitchFamily="18" charset="0"/>
                    <a:cs typeface="Times New Roman" panose="02020603050405020304" pitchFamily="18" charset="0"/>
                    <a:sym typeface="Symbol" panose="05050102010706020507" pitchFamily="18" charset="2"/>
                  </a:rPr>
                  <a:t> …….………. (7)</a:t>
                </a:r>
              </a:p>
              <a:p>
                <a:r>
                  <a:rPr lang="en-IN" sz="1600" dirty="0">
                    <a:latin typeface="Times New Roman" panose="02020603050405020304" pitchFamily="18" charset="0"/>
                    <a:cs typeface="Times New Roman" panose="02020603050405020304" pitchFamily="18" charset="0"/>
                    <a:sym typeface="Symbol" panose="05050102010706020507" pitchFamily="18" charset="2"/>
                  </a:rPr>
                  <a:t>Substitute the value of </a:t>
                </a:r>
                <a:r>
                  <a:rPr lang="en-IN" sz="1600" dirty="0" err="1">
                    <a:latin typeface="Times New Roman" panose="02020603050405020304" pitchFamily="18" charset="0"/>
                    <a:cs typeface="Times New Roman" panose="02020603050405020304" pitchFamily="18" charset="0"/>
                    <a:sym typeface="Symbol" panose="05050102010706020507" pitchFamily="18" charset="2"/>
                  </a:rPr>
                  <a:t>eq</a:t>
                </a:r>
                <a:r>
                  <a:rPr lang="en-IN" sz="1600" dirty="0">
                    <a:latin typeface="Times New Roman" panose="02020603050405020304" pitchFamily="18" charset="0"/>
                    <a:cs typeface="Times New Roman" panose="02020603050405020304" pitchFamily="18" charset="0"/>
                    <a:sym typeface="Symbol" panose="05050102010706020507" pitchFamily="18" charset="2"/>
                  </a:rPr>
                  <a:t> (6) &amp; </a:t>
                </a:r>
                <a:r>
                  <a:rPr lang="en-IN" sz="1600" dirty="0" err="1">
                    <a:latin typeface="Times New Roman" panose="02020603050405020304" pitchFamily="18" charset="0"/>
                    <a:cs typeface="Times New Roman" panose="02020603050405020304" pitchFamily="18" charset="0"/>
                    <a:sym typeface="Symbol" panose="05050102010706020507" pitchFamily="18" charset="2"/>
                  </a:rPr>
                  <a:t>eq</a:t>
                </a:r>
                <a:r>
                  <a:rPr lang="en-IN" sz="1600" dirty="0">
                    <a:latin typeface="Times New Roman" panose="02020603050405020304" pitchFamily="18" charset="0"/>
                    <a:cs typeface="Times New Roman" panose="02020603050405020304" pitchFamily="18" charset="0"/>
                    <a:sym typeface="Symbol" panose="05050102010706020507" pitchFamily="18" charset="2"/>
                  </a:rPr>
                  <a:t> (7) in </a:t>
                </a:r>
                <a:r>
                  <a:rPr lang="en-IN" sz="1600" dirty="0" err="1">
                    <a:latin typeface="Times New Roman" panose="02020603050405020304" pitchFamily="18" charset="0"/>
                    <a:cs typeface="Times New Roman" panose="02020603050405020304" pitchFamily="18" charset="0"/>
                    <a:sym typeface="Symbol" panose="05050102010706020507" pitchFamily="18" charset="2"/>
                  </a:rPr>
                  <a:t>eq</a:t>
                </a:r>
                <a:r>
                  <a:rPr lang="en-IN" sz="1600" dirty="0">
                    <a:latin typeface="Times New Roman" panose="02020603050405020304" pitchFamily="18" charset="0"/>
                    <a:cs typeface="Times New Roman" panose="02020603050405020304" pitchFamily="18" charset="0"/>
                    <a:sym typeface="Symbol" panose="05050102010706020507" pitchFamily="18" charset="2"/>
                  </a:rPr>
                  <a:t> (1)</a:t>
                </a:r>
              </a:p>
              <a:p>
                <a:r>
                  <a:rPr lang="en-IN" sz="1600" dirty="0">
                    <a:latin typeface="Times New Roman" panose="02020603050405020304" pitchFamily="18" charset="0"/>
                    <a:cs typeface="Times New Roman" panose="02020603050405020304" pitchFamily="18" charset="0"/>
                    <a:sym typeface="Symbol" panose="05050102010706020507" pitchFamily="18" charset="2"/>
                  </a:rPr>
                  <a:t>	</a:t>
                </a:r>
                <a14:m>
                  <m:oMath xmlns:m="http://schemas.openxmlformats.org/officeDocument/2006/math">
                    <m:r>
                      <a:rPr lang="en-US" b="0" i="1" smtClean="0">
                        <a:latin typeface="Cambria Math" panose="02040503050406030204" pitchFamily="18" charset="0"/>
                        <a:cs typeface="Times New Roman" panose="02020603050405020304" pitchFamily="18" charset="0"/>
                        <a:sym typeface="Symbol" panose="05050102010706020507" pitchFamily="18" charset="2"/>
                      </a:rPr>
                      <m:t>𝐹</m:t>
                    </m:r>
                    <m:r>
                      <a:rPr lang="en-US" b="0" i="1" smtClean="0">
                        <a:latin typeface="Cambria Math" panose="02040503050406030204" pitchFamily="18" charset="0"/>
                        <a:cs typeface="Times New Roman" panose="02020603050405020304" pitchFamily="18" charset="0"/>
                        <a:sym typeface="Symbol" panose="05050102010706020507" pitchFamily="18" charset="2"/>
                      </a:rPr>
                      <m:t>=−</m:t>
                    </m:r>
                    <m:sSup>
                      <m:sSupPr>
                        <m:ctrlPr>
                          <a:rPr lang="en-US"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b="0" i="1" smtClean="0">
                            <a:latin typeface="Cambria Math" panose="02040503050406030204" pitchFamily="18" charset="0"/>
                            <a:cs typeface="Times New Roman" panose="02020603050405020304" pitchFamily="18" charset="0"/>
                            <a:sym typeface="Symbol" panose="05050102010706020507" pitchFamily="18" charset="2"/>
                          </a:rPr>
                          <m:t>𝑃</m:t>
                        </m:r>
                      </m:e>
                      <m:sup>
                        <m:r>
                          <a:rPr lang="en-US" b="0" i="1" smtClean="0">
                            <a:latin typeface="Cambria Math" panose="02040503050406030204" pitchFamily="18" charset="0"/>
                            <a:cs typeface="Times New Roman" panose="02020603050405020304" pitchFamily="18" charset="0"/>
                            <a:sym typeface="Symbol" panose="05050102010706020507" pitchFamily="18" charset="2"/>
                          </a:rPr>
                          <m:t>′</m:t>
                        </m:r>
                      </m:sup>
                    </m:sSup>
                    <m:r>
                      <a:rPr lang="en-US"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b="0" i="1" smtClean="0">
                            <a:latin typeface="Cambria Math" panose="02040503050406030204" pitchFamily="18" charset="0"/>
                            <a:cs typeface="Times New Roman" panose="02020603050405020304" pitchFamily="18" charset="0"/>
                            <a:sym typeface="Symbol" panose="05050102010706020507" pitchFamily="18" charset="2"/>
                          </a:rPr>
                          <m:t>𝑑𝑉</m:t>
                        </m:r>
                      </m:num>
                      <m:den>
                        <m:r>
                          <a:rPr lang="en-US" b="0" i="1" smtClean="0">
                            <a:latin typeface="Cambria Math" panose="02040503050406030204" pitchFamily="18" charset="0"/>
                            <a:cs typeface="Times New Roman" panose="02020603050405020304" pitchFamily="18" charset="0"/>
                            <a:sym typeface="Symbol" panose="05050102010706020507" pitchFamily="18" charset="2"/>
                          </a:rPr>
                          <m:t>𝑑𝐿</m:t>
                        </m:r>
                      </m:den>
                    </m:f>
                    <m:r>
                      <a:rPr lang="en-US" b="0" i="1" smtClean="0">
                        <a:latin typeface="Cambria Math" panose="02040503050406030204" pitchFamily="18" charset="0"/>
                        <a:cs typeface="Times New Roman" panose="02020603050405020304" pitchFamily="18" charset="0"/>
                        <a:sym typeface="Symbol" panose="05050102010706020507" pitchFamily="18" charset="2"/>
                      </a:rPr>
                      <m:t>=−</m:t>
                    </m:r>
                    <m:sSup>
                      <m:sSupPr>
                        <m:ctrlPr>
                          <a:rPr lang="en-US"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b="0" i="1" smtClean="0">
                            <a:latin typeface="Cambria Math" panose="02040503050406030204" pitchFamily="18" charset="0"/>
                            <a:cs typeface="Times New Roman" panose="02020603050405020304" pitchFamily="18" charset="0"/>
                            <a:sym typeface="Symbol" panose="05050102010706020507" pitchFamily="18" charset="2"/>
                          </a:rPr>
                          <m:t>𝑃</m:t>
                        </m:r>
                      </m:e>
                      <m:sup>
                        <m:r>
                          <a:rPr lang="en-US" b="0" i="1" smtClean="0">
                            <a:latin typeface="Cambria Math" panose="02040503050406030204" pitchFamily="18" charset="0"/>
                            <a:cs typeface="Times New Roman" panose="02020603050405020304" pitchFamily="18" charset="0"/>
                            <a:sym typeface="Symbol" panose="05050102010706020507" pitchFamily="18" charset="2"/>
                          </a:rPr>
                          <m:t>′</m:t>
                        </m:r>
                      </m:sup>
                    </m:sSup>
                    <m:r>
                      <a:rPr lang="en-US"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b="0" i="1" smtClean="0">
                            <a:latin typeface="Cambria Math" panose="02040503050406030204" pitchFamily="18" charset="0"/>
                            <a:cs typeface="Times New Roman" panose="02020603050405020304" pitchFamily="18" charset="0"/>
                            <a:sym typeface="Symbol" panose="05050102010706020507" pitchFamily="18" charset="2"/>
                          </a:rPr>
                        </m:ctrlPr>
                      </m:fPr>
                      <m:num>
                        <m:f>
                          <m:fPr>
                            <m:ctrlPr>
                              <a:rPr lang="en-US"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b="0" i="1" smtClean="0">
                                <a:latin typeface="Cambria Math" panose="02040503050406030204" pitchFamily="18" charset="0"/>
                                <a:cs typeface="Times New Roman" panose="02020603050405020304" pitchFamily="18" charset="0"/>
                                <a:sym typeface="Symbol" panose="05050102010706020507" pitchFamily="18" charset="2"/>
                              </a:rPr>
                              <m:t>𝑑𝑉</m:t>
                            </m:r>
                          </m:num>
                          <m:den>
                            <m:r>
                              <a:rPr lang="en-US" b="0" i="1" smtClean="0">
                                <a:latin typeface="Cambria Math" panose="02040503050406030204" pitchFamily="18" charset="0"/>
                                <a:cs typeface="Times New Roman" panose="02020603050405020304" pitchFamily="18" charset="0"/>
                                <a:sym typeface="Symbol" panose="05050102010706020507" pitchFamily="18" charset="2"/>
                              </a:rPr>
                              <m:t>𝑑</m:t>
                            </m:r>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den>
                        </m:f>
                      </m:num>
                      <m:den>
                        <m:f>
                          <m:fPr>
                            <m:ctrlPr>
                              <a:rPr lang="en-US"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b="0" i="1" smtClean="0">
                                <a:latin typeface="Cambria Math" panose="02040503050406030204" pitchFamily="18" charset="0"/>
                                <a:cs typeface="Times New Roman" panose="02020603050405020304" pitchFamily="18" charset="0"/>
                                <a:sym typeface="Symbol" panose="05050102010706020507" pitchFamily="18" charset="2"/>
                              </a:rPr>
                              <m:t>𝑑𝐿</m:t>
                            </m:r>
                          </m:num>
                          <m:den>
                            <m:r>
                              <a:rPr lang="en-US" b="0" i="1" smtClean="0">
                                <a:latin typeface="Cambria Math" panose="02040503050406030204" pitchFamily="18" charset="0"/>
                                <a:cs typeface="Times New Roman" panose="02020603050405020304" pitchFamily="18" charset="0"/>
                                <a:sym typeface="Symbol" panose="05050102010706020507" pitchFamily="18" charset="2"/>
                              </a:rPr>
                              <m:t>𝑑</m:t>
                            </m:r>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den>
                        </m:f>
                      </m:den>
                    </m:f>
                  </m:oMath>
                </a14:m>
                <a:r>
                  <a:rPr lang="en-IN" sz="1600" dirty="0">
                    <a:latin typeface="Times New Roman" panose="02020603050405020304" pitchFamily="18" charset="0"/>
                    <a:cs typeface="Times New Roman" panose="02020603050405020304" pitchFamily="18" charset="0"/>
                    <a:sym typeface="Symbol" panose="05050102010706020507" pitchFamily="18" charset="2"/>
                  </a:rPr>
                  <a:t>		       </a:t>
                </a:r>
              </a:p>
              <a:p>
                <a:r>
                  <a:rPr lang="en-IN" sz="1600" dirty="0">
                    <a:latin typeface="Times New Roman" panose="02020603050405020304" pitchFamily="18" charset="0"/>
                    <a:cs typeface="Times New Roman" panose="02020603050405020304" pitchFamily="18" charset="0"/>
                  </a:rPr>
                  <a:t>After substituting and rearranging, we get:</a:t>
                </a:r>
              </a:p>
              <a:p>
                <a:r>
                  <a:rPr lang="en-IN" sz="1600" dirty="0">
                    <a:latin typeface="Times New Roman" panose="02020603050405020304" pitchFamily="18" charset="0"/>
                    <a:cs typeface="Times New Roman" panose="02020603050405020304" pitchFamily="18" charset="0"/>
                  </a:rPr>
                  <a:t>	</a:t>
                </a:r>
                <a14:m>
                  <m:oMath xmlns:m="http://schemas.openxmlformats.org/officeDocument/2006/math">
                    <m:r>
                      <a:rPr lang="en-US" b="0" i="1" smtClean="0">
                        <a:latin typeface="Cambria Math" panose="02040503050406030204" pitchFamily="18" charset="0"/>
                        <a:cs typeface="Times New Roman" panose="02020603050405020304" pitchFamily="18" charset="0"/>
                      </a:rPr>
                      <m:t>𝐹</m:t>
                    </m:r>
                    <m:r>
                      <a:rPr lang="en-US" b="0" i="1" smtClean="0">
                        <a:latin typeface="Cambria Math" panose="02040503050406030204" pitchFamily="18" charset="0"/>
                        <a:cs typeface="Times New Roman" panose="02020603050405020304" pitchFamily="18" charset="0"/>
                      </a:rPr>
                      <m:t>= </m:t>
                    </m:r>
                    <m:f>
                      <m:fPr>
                        <m:ctrlPr>
                          <a:rPr lang="en-US" b="0" i="1" smtClean="0">
                            <a:latin typeface="Cambria Math" panose="02040503050406030204" pitchFamily="18" charset="0"/>
                            <a:cs typeface="Times New Roman" panose="02020603050405020304" pitchFamily="18" charset="0"/>
                          </a:rPr>
                        </m:ctrlPr>
                      </m:fPr>
                      <m:num>
                        <m:sSup>
                          <m:sSupPr>
                            <m:ctrlPr>
                              <a:rPr lang="en-US" b="0" i="1" smtClean="0">
                                <a:latin typeface="Cambria Math" panose="02040503050406030204" pitchFamily="18" charset="0"/>
                                <a:cs typeface="Times New Roman" panose="02020603050405020304" pitchFamily="18" charset="0"/>
                              </a:rPr>
                            </m:ctrlPr>
                          </m:sSupPr>
                          <m:e>
                            <m:r>
                              <a:rPr lang="en-US" b="0" i="1" smtClean="0">
                                <a:latin typeface="Cambria Math" panose="02040503050406030204" pitchFamily="18" charset="0"/>
                                <a:cs typeface="Times New Roman" panose="02020603050405020304" pitchFamily="18" charset="0"/>
                              </a:rPr>
                              <m:t>𝑃</m:t>
                            </m:r>
                          </m:e>
                          <m:sup>
                            <m:r>
                              <a:rPr lang="en-US" b="0" i="1" smtClean="0">
                                <a:latin typeface="Cambria Math" panose="02040503050406030204" pitchFamily="18" charset="0"/>
                                <a:cs typeface="Times New Roman" panose="02020603050405020304" pitchFamily="18" charset="0"/>
                              </a:rPr>
                              <m:t>′</m:t>
                            </m:r>
                          </m:sup>
                        </m:sSup>
                        <m:sSup>
                          <m:sSupPr>
                            <m:ctrlPr>
                              <a:rPr lang="en-US" b="0" i="1" smtClean="0">
                                <a:latin typeface="Cambria Math" panose="02040503050406030204" pitchFamily="18" charset="0"/>
                                <a:cs typeface="Times New Roman" panose="02020603050405020304" pitchFamily="18" charset="0"/>
                              </a:rPr>
                            </m:ctrlPr>
                          </m:sSupPr>
                          <m:e>
                            <m:r>
                              <a:rPr lang="en-US" b="0" i="1" smtClean="0">
                                <a:latin typeface="Cambria Math" panose="02040503050406030204" pitchFamily="18" charset="0"/>
                                <a:cs typeface="Times New Roman" panose="02020603050405020304" pitchFamily="18" charset="0"/>
                              </a:rPr>
                              <m:t>𝐷</m:t>
                            </m:r>
                          </m:e>
                          <m:sup>
                            <m:r>
                              <a:rPr lang="en-US" b="0" i="1" smtClean="0">
                                <a:latin typeface="Cambria Math" panose="02040503050406030204" pitchFamily="18" charset="0"/>
                                <a:cs typeface="Times New Roman" panose="02020603050405020304" pitchFamily="18" charset="0"/>
                              </a:rPr>
                              <m:t>2</m:t>
                            </m:r>
                          </m:sup>
                        </m:sSup>
                        <m:r>
                          <a:rPr lang="en-US" b="0" i="1" smtClean="0">
                            <a:latin typeface="Cambria Math" panose="02040503050406030204" pitchFamily="18" charset="0"/>
                            <a:cs typeface="Times New Roman" panose="02020603050405020304" pitchFamily="18" charset="0"/>
                          </a:rPr>
                          <m:t> (3</m:t>
                        </m:r>
                        <m:sSup>
                          <m:sSupPr>
                            <m:ctrlPr>
                              <a:rPr lang="en-US" b="0" i="1" smtClean="0">
                                <a:latin typeface="Cambria Math" panose="02040503050406030204" pitchFamily="18" charset="0"/>
                                <a:cs typeface="Times New Roman" panose="02020603050405020304" pitchFamily="18" charset="0"/>
                              </a:rPr>
                            </m:ctrlPr>
                          </m:sSupPr>
                          <m:e>
                            <m:r>
                              <a:rPr lang="en-US" b="0" i="1" smtClean="0">
                                <a:latin typeface="Cambria Math" panose="02040503050406030204" pitchFamily="18" charset="0"/>
                                <a:cs typeface="Times New Roman" panose="02020603050405020304" pitchFamily="18" charset="0"/>
                              </a:rPr>
                              <m:t>𝑐𝑜𝑠</m:t>
                            </m:r>
                          </m:e>
                          <m:sup>
                            <m:r>
                              <a:rPr lang="en-US" b="0" i="1" smtClean="0">
                                <a:latin typeface="Cambria Math" panose="02040503050406030204" pitchFamily="18" charset="0"/>
                                <a:cs typeface="Times New Roman" panose="02020603050405020304" pitchFamily="18" charset="0"/>
                              </a:rPr>
                              <m:t>2</m:t>
                            </m:r>
                          </m:sup>
                        </m:sSup>
                        <m:r>
                          <a:rPr lang="en-US" b="0" i="1" smtClean="0">
                            <a:latin typeface="Cambria Math" panose="02040503050406030204" pitchFamily="18" charset="0"/>
                            <a:ea typeface="Cambria Math" panose="02040503050406030204" pitchFamily="18" charset="0"/>
                            <a:cs typeface="Times New Roman" panose="02020603050405020304" pitchFamily="18" charset="0"/>
                          </a:rPr>
                          <m:t>𝜃</m:t>
                        </m:r>
                        <m:r>
                          <a:rPr lang="en-US" b="0" i="1" smtClean="0">
                            <a:latin typeface="Cambria Math" panose="02040503050406030204" pitchFamily="18" charset="0"/>
                            <a:ea typeface="Cambria Math" panose="02040503050406030204" pitchFamily="18" charset="0"/>
                            <a:cs typeface="Times New Roman" panose="02020603050405020304" pitchFamily="18" charset="0"/>
                          </a:rPr>
                          <m:t> −1)</m:t>
                        </m:r>
                      </m:num>
                      <m:den>
                        <m:r>
                          <a:rPr lang="en-US" b="0" i="1" smtClean="0">
                            <a:latin typeface="Cambria Math" panose="02040503050406030204" pitchFamily="18" charset="0"/>
                            <a:cs typeface="Times New Roman" panose="02020603050405020304" pitchFamily="18" charset="0"/>
                          </a:rPr>
                          <m:t>4</m:t>
                        </m:r>
                        <m:r>
                          <a:rPr lang="en-US" b="0" i="1" smtClean="0">
                            <a:latin typeface="Cambria Math" panose="02040503050406030204" pitchFamily="18" charset="0"/>
                            <a:ea typeface="Cambria Math" panose="02040503050406030204" pitchFamily="18" charset="0"/>
                            <a:cs typeface="Times New Roman" panose="02020603050405020304" pitchFamily="18" charset="0"/>
                          </a:rPr>
                          <m:t>𝜋</m:t>
                        </m:r>
                        <m:sSup>
                          <m:sSupPr>
                            <m:ctrlPr>
                              <a:rPr lang="en-US"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US" b="0" i="1" smtClean="0">
                                <a:latin typeface="Cambria Math" panose="02040503050406030204" pitchFamily="18" charset="0"/>
                                <a:ea typeface="Cambria Math" panose="02040503050406030204" pitchFamily="18" charset="0"/>
                                <a:cs typeface="Times New Roman" panose="02020603050405020304" pitchFamily="18" charset="0"/>
                              </a:rPr>
                              <m:t>𝑛</m:t>
                            </m:r>
                          </m:e>
                          <m:sup>
                            <m:r>
                              <a:rPr lang="en-US" b="0" i="1" smtClean="0">
                                <a:latin typeface="Cambria Math" panose="02040503050406030204" pitchFamily="18" charset="0"/>
                                <a:ea typeface="Cambria Math" panose="02040503050406030204" pitchFamily="18" charset="0"/>
                                <a:cs typeface="Times New Roman" panose="02020603050405020304" pitchFamily="18" charset="0"/>
                              </a:rPr>
                              <m:t>2</m:t>
                            </m:r>
                          </m:sup>
                        </m:sSup>
                      </m:den>
                    </m:f>
                  </m:oMath>
                </a14:m>
                <a:r>
                  <a:rPr lang="en-IN" sz="1600" dirty="0">
                    <a:latin typeface="Times New Roman" panose="02020603050405020304" pitchFamily="18" charset="0"/>
                    <a:cs typeface="Times New Roman" panose="02020603050405020304" pitchFamily="18" charset="0"/>
                  </a:rPr>
                  <a:t> ……………………... (8)</a:t>
                </a:r>
              </a:p>
              <a:p>
                <a:r>
                  <a:rPr lang="en-IN" sz="1600" dirty="0">
                    <a:latin typeface="Times New Roman" panose="02020603050405020304" pitchFamily="18" charset="0"/>
                    <a:cs typeface="Times New Roman" panose="02020603050405020304" pitchFamily="18" charset="0"/>
                  </a:rPr>
                  <a:t>	</a:t>
                </a:r>
                <a:r>
                  <a:rPr lang="en-US" b="0" dirty="0">
                    <a:cs typeface="Times New Roman" panose="02020603050405020304" pitchFamily="18" charset="0"/>
                    <a:sym typeface="Symbol" panose="05050102010706020507" pitchFamily="18" charset="2"/>
                  </a:rPr>
                  <a:t> </a:t>
                </a:r>
                <a14:m>
                  <m:oMath xmlns:m="http://schemas.openxmlformats.org/officeDocument/2006/math">
                    <m:r>
                      <a:rPr lang="en-US" b="0" i="1" smtClean="0">
                        <a:latin typeface="Cambria Math" panose="02040503050406030204" pitchFamily="18" charset="0"/>
                        <a:cs typeface="Times New Roman" panose="02020603050405020304" pitchFamily="18" charset="0"/>
                        <a:sym typeface="Symbol" panose="05050102010706020507" pitchFamily="18" charset="2"/>
                      </a:rPr>
                      <m:t>𝐷</m:t>
                    </m:r>
                    <m:r>
                      <a:rPr lang="en-US"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b="0" i="1" smtClean="0">
                            <a:latin typeface="Cambria Math" panose="02040503050406030204" pitchFamily="18" charset="0"/>
                            <a:cs typeface="Times New Roman" panose="02020603050405020304" pitchFamily="18" charset="0"/>
                            <a:sym typeface="Symbol" panose="05050102010706020507" pitchFamily="18" charset="2"/>
                          </a:rPr>
                          <m:t>𝑏𝑠𝑖𝑛</m:t>
                        </m:r>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num>
                      <m:den>
                        <m:r>
                          <a:rPr lang="en-US" b="0" i="1" smtClean="0">
                            <a:latin typeface="Cambria Math" panose="02040503050406030204" pitchFamily="18" charset="0"/>
                            <a:cs typeface="Times New Roman" panose="02020603050405020304" pitchFamily="18" charset="0"/>
                            <a:sym typeface="Symbol" panose="05050102010706020507" pitchFamily="18" charset="2"/>
                          </a:rPr>
                          <m:t>𝑛</m:t>
                        </m:r>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𝜋</m:t>
                        </m:r>
                      </m:den>
                    </m:f>
                  </m:oMath>
                </a14:m>
                <a:r>
                  <a:rPr lang="en-IN" dirty="0">
                    <a:latin typeface="Times New Roman" panose="02020603050405020304" pitchFamily="18" charset="0"/>
                    <a:cs typeface="Times New Roman" panose="02020603050405020304" pitchFamily="18" charset="0"/>
                    <a:sym typeface="Symbol" panose="05050102010706020507" pitchFamily="18" charset="2"/>
                  </a:rPr>
                  <a:t> </a:t>
                </a:r>
                <a:endParaRPr lang="en-IN" sz="1600" dirty="0">
                  <a:latin typeface="Times New Roman" panose="02020603050405020304" pitchFamily="18" charset="0"/>
                  <a:cs typeface="Times New Roman" panose="02020603050405020304" pitchFamily="18" charset="0"/>
                  <a:sym typeface="Symbol" panose="05050102010706020507" pitchFamily="18" charset="2"/>
                </a:endParaRPr>
              </a:p>
              <a:p>
                <a:r>
                  <a:rPr lang="en-US" sz="1600" dirty="0">
                    <a:cs typeface="Times New Roman" panose="02020603050405020304" pitchFamily="18" charset="0"/>
                    <a:sym typeface="Symbol" panose="05050102010706020507" pitchFamily="18" charset="2"/>
                  </a:rPr>
                  <a:t>	</a:t>
                </a:r>
                <a14:m>
                  <m:oMath xmlns:m="http://schemas.openxmlformats.org/officeDocument/2006/math">
                    <m:f>
                      <m:fPr>
                        <m:ctrlPr>
                          <a:rPr lang="en-US"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b="0" i="1" smtClean="0">
                            <a:latin typeface="Cambria Math" panose="02040503050406030204" pitchFamily="18" charset="0"/>
                            <a:cs typeface="Times New Roman" panose="02020603050405020304" pitchFamily="18" charset="0"/>
                            <a:sym typeface="Symbol" panose="05050102010706020507" pitchFamily="18" charset="2"/>
                          </a:rPr>
                          <m:t>𝐷</m:t>
                        </m:r>
                      </m:num>
                      <m:den>
                        <m:r>
                          <a:rPr lang="en-US" b="0" i="1" smtClean="0">
                            <a:latin typeface="Cambria Math" panose="02040503050406030204" pitchFamily="18" charset="0"/>
                            <a:cs typeface="Times New Roman" panose="02020603050405020304" pitchFamily="18" charset="0"/>
                            <a:sym typeface="Symbol" panose="05050102010706020507" pitchFamily="18" charset="2"/>
                          </a:rPr>
                          <m:t>𝑠𝑖𝑛</m:t>
                        </m:r>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den>
                    </m:f>
                    <m:r>
                      <a:rPr lang="en-US"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b="0" i="1" smtClean="0">
                            <a:latin typeface="Cambria Math" panose="02040503050406030204" pitchFamily="18" charset="0"/>
                            <a:cs typeface="Times New Roman" panose="02020603050405020304" pitchFamily="18" charset="0"/>
                            <a:sym typeface="Symbol" panose="05050102010706020507" pitchFamily="18" charset="2"/>
                          </a:rPr>
                          <m:t>𝑏</m:t>
                        </m:r>
                      </m:num>
                      <m:den>
                        <m:r>
                          <a:rPr lang="en-US" b="0" i="1" smtClean="0">
                            <a:latin typeface="Cambria Math" panose="02040503050406030204" pitchFamily="18" charset="0"/>
                            <a:cs typeface="Times New Roman" panose="02020603050405020304" pitchFamily="18" charset="0"/>
                            <a:sym typeface="Symbol" panose="05050102010706020507" pitchFamily="18" charset="2"/>
                          </a:rPr>
                          <m:t>𝑛</m:t>
                        </m:r>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𝜋</m:t>
                        </m:r>
                      </m:den>
                    </m:f>
                  </m:oMath>
                </a14:m>
                <a:endParaRPr lang="en-US" b="0" dirty="0">
                  <a:ea typeface="Cambria Math" panose="02040503050406030204" pitchFamily="18" charset="0"/>
                  <a:cs typeface="Times New Roman" panose="02020603050405020304" pitchFamily="18" charset="0"/>
                  <a:sym typeface="Symbol" panose="05050102010706020507" pitchFamily="18" charset="2"/>
                </a:endParaRPr>
              </a:p>
              <a:p>
                <a:endParaRPr lang="en-IN" sz="1600" dirty="0">
                  <a:latin typeface="Times New Roman" panose="02020603050405020304" pitchFamily="18" charset="0"/>
                  <a:cs typeface="Times New Roman" panose="02020603050405020304" pitchFamily="18" charset="0"/>
                  <a:sym typeface="Symbol" panose="05050102010706020507" pitchFamily="18" charset="2"/>
                </a:endParaRPr>
              </a:p>
              <a:p>
                <a:pPr marL="0" indent="0" algn="just">
                  <a:buNone/>
                </a:pPr>
                <a:r>
                  <a:rPr lang="en-IN" sz="1600" dirty="0">
                    <a:latin typeface="Times New Roman" panose="02020603050405020304" pitchFamily="18" charset="0"/>
                    <a:cs typeface="Times New Roman" panose="02020603050405020304" pitchFamily="18" charset="0"/>
                    <a:sym typeface="Symbol" panose="05050102010706020507" pitchFamily="18" charset="2"/>
                  </a:rPr>
                  <a:t>By substituting the value of D &amp; trigonometric relation in </a:t>
                </a:r>
                <a:r>
                  <a:rPr lang="en-IN" sz="1600" dirty="0" err="1">
                    <a:latin typeface="Times New Roman" panose="02020603050405020304" pitchFamily="18" charset="0"/>
                    <a:cs typeface="Times New Roman" panose="02020603050405020304" pitchFamily="18" charset="0"/>
                    <a:sym typeface="Symbol" panose="05050102010706020507" pitchFamily="18" charset="2"/>
                  </a:rPr>
                  <a:t>eq</a:t>
                </a:r>
                <a:r>
                  <a:rPr lang="en-IN" sz="1600" dirty="0">
                    <a:latin typeface="Times New Roman" panose="02020603050405020304" pitchFamily="18" charset="0"/>
                    <a:cs typeface="Times New Roman" panose="02020603050405020304" pitchFamily="18" charset="0"/>
                    <a:sym typeface="Symbol" panose="05050102010706020507" pitchFamily="18" charset="2"/>
                  </a:rPr>
                  <a:t> (8)</a:t>
                </a:r>
              </a:p>
              <a:p>
                <a:pPr marL="0" indent="0" algn="just">
                  <a:buNone/>
                </a:pPr>
                <a:r>
                  <a:rPr lang="en-IN" sz="1600" dirty="0">
                    <a:latin typeface="Times New Roman" panose="02020603050405020304" pitchFamily="18" charset="0"/>
                    <a:cs typeface="Times New Roman" panose="02020603050405020304" pitchFamily="18" charset="0"/>
                    <a:sym typeface="Symbol" panose="05050102010706020507" pitchFamily="18" charset="2"/>
                  </a:rPr>
                  <a:t>	    </a:t>
                </a:r>
                <a14:m>
                  <m:oMath xmlns:m="http://schemas.openxmlformats.org/officeDocument/2006/math">
                    <m:r>
                      <a:rPr lang="en-US" sz="1600" b="0" i="1" smtClean="0">
                        <a:latin typeface="Cambria Math" panose="02040503050406030204" pitchFamily="18" charset="0"/>
                        <a:cs typeface="Times New Roman" panose="02020603050405020304" pitchFamily="18" charset="0"/>
                        <a:sym typeface="Symbol" panose="05050102010706020507" pitchFamily="18" charset="2"/>
                      </a:rPr>
                      <m:t>𝐹</m:t>
                    </m:r>
                    <m:r>
                      <a:rPr lang="en-US" sz="1600"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fPr>
                      <m:num>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𝜋</m:t>
                        </m:r>
                      </m:num>
                      <m:den>
                        <m:r>
                          <a:rPr lang="en-US" sz="1600" b="0" i="1" smtClean="0">
                            <a:latin typeface="Cambria Math" panose="02040503050406030204" pitchFamily="18" charset="0"/>
                            <a:cs typeface="Times New Roman" panose="02020603050405020304" pitchFamily="18" charset="0"/>
                            <a:sym typeface="Symbol" panose="05050102010706020507" pitchFamily="18" charset="2"/>
                          </a:rPr>
                          <m:t>4</m:t>
                        </m:r>
                      </m:den>
                    </m:f>
                    <m:r>
                      <a:rPr lang="en-US" sz="1600" b="0" i="1" smtClean="0">
                        <a:latin typeface="Cambria Math" panose="02040503050406030204" pitchFamily="18" charset="0"/>
                        <a:cs typeface="Times New Roman" panose="02020603050405020304" pitchFamily="18" charset="0"/>
                        <a:sym typeface="Symbol" panose="05050102010706020507" pitchFamily="18" charset="2"/>
                      </a:rPr>
                      <m:t> </m:t>
                    </m:r>
                    <m:sSup>
                      <m:sSup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sz="1600" b="0" i="1" smtClean="0">
                            <a:latin typeface="Cambria Math" panose="02040503050406030204" pitchFamily="18" charset="0"/>
                            <a:cs typeface="Times New Roman" panose="02020603050405020304" pitchFamily="18" charset="0"/>
                            <a:sym typeface="Symbol" panose="05050102010706020507" pitchFamily="18" charset="2"/>
                          </a:rPr>
                          <m:t>𝑃</m:t>
                        </m:r>
                      </m:e>
                      <m:sup>
                        <m:r>
                          <a:rPr lang="en-US" sz="1600" b="0" i="1" smtClean="0">
                            <a:latin typeface="Cambria Math" panose="02040503050406030204" pitchFamily="18" charset="0"/>
                            <a:cs typeface="Times New Roman" panose="02020603050405020304" pitchFamily="18" charset="0"/>
                            <a:sym typeface="Symbol" panose="05050102010706020507" pitchFamily="18" charset="2"/>
                          </a:rPr>
                          <m:t>′</m:t>
                        </m:r>
                      </m:sup>
                    </m:sSup>
                    <m:sSup>
                      <m:sSup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sz="1600" b="0" i="1" smtClean="0">
                            <a:latin typeface="Cambria Math" panose="02040503050406030204" pitchFamily="18" charset="0"/>
                            <a:cs typeface="Times New Roman" panose="02020603050405020304" pitchFamily="18" charset="0"/>
                            <a:sym typeface="Symbol" panose="05050102010706020507" pitchFamily="18" charset="2"/>
                          </a:rPr>
                          <m:t>𝐷</m:t>
                        </m:r>
                      </m:e>
                      <m:sup>
                        <m:r>
                          <a:rPr lang="en-US" sz="1600" b="0" i="1" smtClean="0">
                            <a:latin typeface="Cambria Math" panose="02040503050406030204" pitchFamily="18" charset="0"/>
                            <a:cs typeface="Times New Roman" panose="02020603050405020304" pitchFamily="18" charset="0"/>
                            <a:sym typeface="Symbol" panose="05050102010706020507" pitchFamily="18" charset="2"/>
                          </a:rPr>
                          <m:t>2</m:t>
                        </m:r>
                      </m:sup>
                    </m:sSup>
                    <m:r>
                      <a:rPr lang="en-US" sz="1600"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sz="1600" b="0" i="1" smtClean="0">
                            <a:latin typeface="Cambria Math" panose="02040503050406030204" pitchFamily="18" charset="0"/>
                            <a:cs typeface="Times New Roman" panose="02020603050405020304" pitchFamily="18" charset="0"/>
                            <a:sym typeface="Symbol" panose="05050102010706020507" pitchFamily="18" charset="2"/>
                          </a:rPr>
                          <m:t>(3</m:t>
                        </m:r>
                        <m:sSup>
                          <m:sSup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sz="1600" b="0" i="1" smtClean="0">
                                <a:latin typeface="Cambria Math" panose="02040503050406030204" pitchFamily="18" charset="0"/>
                                <a:cs typeface="Times New Roman" panose="02020603050405020304" pitchFamily="18" charset="0"/>
                                <a:sym typeface="Symbol" panose="05050102010706020507" pitchFamily="18" charset="2"/>
                              </a:rPr>
                              <m:t>𝑐𝑜𝑠</m:t>
                            </m:r>
                          </m:e>
                          <m:sup>
                            <m:r>
                              <a:rPr lang="en-US" sz="1600" b="0" i="1" smtClean="0">
                                <a:latin typeface="Cambria Math" panose="02040503050406030204" pitchFamily="18" charset="0"/>
                                <a:cs typeface="Times New Roman" panose="02020603050405020304" pitchFamily="18" charset="0"/>
                                <a:sym typeface="Symbol" panose="05050102010706020507" pitchFamily="18" charset="2"/>
                              </a:rPr>
                              <m:t>2</m:t>
                            </m:r>
                          </m:sup>
                        </m:sSup>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 −1)</m:t>
                        </m:r>
                      </m:num>
                      <m:den>
                        <m:sSup>
                          <m:sSup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sz="1600" b="0" i="1" smtClean="0">
                                <a:latin typeface="Cambria Math" panose="02040503050406030204" pitchFamily="18" charset="0"/>
                                <a:cs typeface="Times New Roman" panose="02020603050405020304" pitchFamily="18" charset="0"/>
                                <a:sym typeface="Symbol" panose="05050102010706020507" pitchFamily="18" charset="2"/>
                              </a:rPr>
                              <m:t>𝑠𝑖𝑛</m:t>
                            </m:r>
                          </m:e>
                          <m:sup>
                            <m:r>
                              <a:rPr lang="en-US" sz="1600" b="0" i="1" smtClean="0">
                                <a:latin typeface="Cambria Math" panose="02040503050406030204" pitchFamily="18" charset="0"/>
                                <a:cs typeface="Times New Roman" panose="02020603050405020304" pitchFamily="18" charset="0"/>
                                <a:sym typeface="Symbol" panose="05050102010706020507" pitchFamily="18" charset="2"/>
                              </a:rPr>
                              <m:t>2</m:t>
                            </m:r>
                          </m:sup>
                        </m:sSup>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den>
                    </m:f>
                  </m:oMath>
                </a14:m>
                <a:r>
                  <a:rPr lang="en-IN" sz="1600" dirty="0">
                    <a:latin typeface="Times New Roman" panose="02020603050405020304" pitchFamily="18" charset="0"/>
                    <a:cs typeface="Times New Roman" panose="02020603050405020304" pitchFamily="18" charset="0"/>
                    <a:sym typeface="Symbol" panose="05050102010706020507" pitchFamily="18" charset="2"/>
                  </a:rPr>
                  <a:t> ……………….. (9)</a:t>
                </a:r>
              </a:p>
            </p:txBody>
          </p:sp>
        </mc:Choice>
        <mc:Fallback xmlns="">
          <p:sp>
            <p:nvSpPr>
              <p:cNvPr id="4" name="TextBox 3">
                <a:extLst>
                  <a:ext uri="{FF2B5EF4-FFF2-40B4-BE49-F238E27FC236}">
                    <a16:creationId xmlns:a16="http://schemas.microsoft.com/office/drawing/2014/main" id="{C9178E7A-19B5-2D3B-5C12-C52417669B35}"/>
                  </a:ext>
                </a:extLst>
              </p:cNvPr>
              <p:cNvSpPr txBox="1">
                <a:spLocks noRot="1" noChangeAspect="1" noMove="1" noResize="1" noEditPoints="1" noAdjustHandles="1" noChangeArrowheads="1" noChangeShapeType="1" noTextEdit="1"/>
              </p:cNvSpPr>
              <p:nvPr/>
            </p:nvSpPr>
            <p:spPr>
              <a:xfrm>
                <a:off x="1663900" y="1466151"/>
                <a:ext cx="4746232" cy="4664097"/>
              </a:xfrm>
              <a:prstGeom prst="rect">
                <a:avLst/>
              </a:prstGeom>
              <a:blipFill>
                <a:blip r:embed="rId3"/>
                <a:stretch>
                  <a:fillRect l="-770" t="-523" r="-513"/>
                </a:stretch>
              </a:blipFill>
            </p:spPr>
            <p:txBody>
              <a:bodyPr/>
              <a:lstStyle/>
              <a:p>
                <a:r>
                  <a:rPr lang="en-US">
                    <a:noFill/>
                  </a:rPr>
                  <a:t> </a:t>
                </a:r>
              </a:p>
            </p:txBody>
          </p:sp>
        </mc:Fallback>
      </mc:AlternateContent>
    </p:spTree>
    <p:extLst>
      <p:ext uri="{BB962C8B-B14F-4D97-AF65-F5344CB8AC3E}">
        <p14:creationId xmlns:p14="http://schemas.microsoft.com/office/powerpoint/2010/main" val="118631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D33AA-4472-5B45-A46D-F4421A1F167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DFDA5C2-7FDB-F59D-7DFA-3BFE3A76C49D}"/>
                  </a:ext>
                </a:extLst>
              </p:cNvPr>
              <p:cNvSpPr txBox="1"/>
              <p:nvPr/>
            </p:nvSpPr>
            <p:spPr>
              <a:xfrm>
                <a:off x="1663900" y="1466151"/>
                <a:ext cx="4746232" cy="3927485"/>
              </a:xfrm>
              <a:prstGeom prst="rect">
                <a:avLst/>
              </a:prstGeom>
              <a:noFill/>
            </p:spPr>
            <p:txBody>
              <a:bodyPr wrap="square" rtlCol="0">
                <a:spAutoFit/>
              </a:bodyPr>
              <a:lstStyle/>
              <a:p>
                <a:r>
                  <a:rPr lang="en-US" sz="1600" b="0" dirty="0">
                    <a:ea typeface="Cambria Math" panose="02040503050406030204" pitchFamily="18" charset="0"/>
                    <a:cs typeface="Times New Roman" panose="02020603050405020304" pitchFamily="18" charset="0"/>
                    <a:sym typeface="Symbol" panose="05050102010706020507" pitchFamily="18" charset="2"/>
                  </a:rPr>
                  <a:t>	</a:t>
                </a:r>
                <a14:m>
                  <m:oMath xmlns:m="http://schemas.openxmlformats.org/officeDocument/2006/math">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1−</m:t>
                    </m:r>
                    <m:r>
                      <a:rPr lang="en-IN" sz="160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𝜀</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 </m:t>
                    </m:r>
                    <m:f>
                      <m:f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fPr>
                      <m:num>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𝐿</m:t>
                        </m:r>
                      </m:num>
                      <m:den>
                        <m:sSub>
                          <m:sSub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bPr>
                          <m:e>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𝐿</m:t>
                            </m:r>
                          </m:e>
                          <m:sub>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0</m:t>
                            </m:r>
                          </m:sub>
                        </m:sSub>
                      </m:den>
                    </m:f>
                  </m:oMath>
                </a14:m>
                <a:endParaRPr lang="en-IN" sz="1600" dirty="0">
                  <a:latin typeface="Times New Roman" panose="02020603050405020304" pitchFamily="18" charset="0"/>
                  <a:cs typeface="Times New Roman" panose="02020603050405020304" pitchFamily="18" charset="0"/>
                  <a:sym typeface="Symbol" panose="05050102010706020507" pitchFamily="18" charset="2"/>
                </a:endParaRPr>
              </a:p>
              <a:p>
                <a:endParaRPr lang="en-IN" sz="1600" dirty="0">
                  <a:latin typeface="Times New Roman" panose="02020603050405020304" pitchFamily="18" charset="0"/>
                  <a:cs typeface="Times New Roman" panose="02020603050405020304" pitchFamily="18" charset="0"/>
                  <a:sym typeface="Symbol" panose="05050102010706020507" pitchFamily="18" charset="2"/>
                </a:endParaRPr>
              </a:p>
              <a:p>
                <a:r>
                  <a:rPr lang="en-IN" sz="1600" dirty="0">
                    <a:latin typeface="Times New Roman" panose="02020603050405020304" pitchFamily="18" charset="0"/>
                    <a:cs typeface="Times New Roman" panose="02020603050405020304" pitchFamily="18" charset="0"/>
                    <a:sym typeface="Symbol" panose="05050102010706020507" pitchFamily="18" charset="2"/>
                  </a:rPr>
                  <a:t>Put this value in </a:t>
                </a:r>
                <a:r>
                  <a:rPr lang="en-IN" sz="1600" dirty="0" err="1">
                    <a:latin typeface="Times New Roman" panose="02020603050405020304" pitchFamily="18" charset="0"/>
                    <a:cs typeface="Times New Roman" panose="02020603050405020304" pitchFamily="18" charset="0"/>
                    <a:sym typeface="Symbol" panose="05050102010706020507" pitchFamily="18" charset="2"/>
                  </a:rPr>
                  <a:t>eq</a:t>
                </a:r>
                <a:r>
                  <a:rPr lang="en-IN" sz="1600" dirty="0">
                    <a:latin typeface="Times New Roman" panose="02020603050405020304" pitchFamily="18" charset="0"/>
                    <a:cs typeface="Times New Roman" panose="02020603050405020304" pitchFamily="18" charset="0"/>
                    <a:sym typeface="Symbol" panose="05050102010706020507" pitchFamily="18" charset="2"/>
                  </a:rPr>
                  <a:t> (10)</a:t>
                </a:r>
              </a:p>
              <a:p>
                <a:r>
                  <a:rPr lang="en-IN" sz="1600" dirty="0">
                    <a:latin typeface="Times New Roman" panose="02020603050405020304" pitchFamily="18" charset="0"/>
                    <a:cs typeface="Times New Roman" panose="02020603050405020304" pitchFamily="18" charset="0"/>
                    <a:sym typeface="Symbol" panose="05050102010706020507" pitchFamily="18" charset="2"/>
                  </a:rPr>
                  <a:t>	</a:t>
                </a:r>
                <a:r>
                  <a:rPr lang="en-US" sz="1600" b="0" dirty="0">
                    <a:cs typeface="Times New Roman" panose="02020603050405020304" pitchFamily="18" charset="0"/>
                    <a:sym typeface="Symbol" panose="05050102010706020507" pitchFamily="18" charset="2"/>
                  </a:rPr>
                  <a:t> </a:t>
                </a:r>
                <a14:m>
                  <m:oMath xmlns:m="http://schemas.openxmlformats.org/officeDocument/2006/math">
                    <m:r>
                      <a:rPr lang="en-US" b="0" i="1" smtClean="0">
                        <a:latin typeface="Cambria Math" panose="02040503050406030204" pitchFamily="18" charset="0"/>
                        <a:cs typeface="Times New Roman" panose="02020603050405020304" pitchFamily="18" charset="0"/>
                        <a:sym typeface="Symbol" panose="05050102010706020507" pitchFamily="18" charset="2"/>
                      </a:rPr>
                      <m:t>𝑐𝑜𝑠</m:t>
                    </m:r>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=(1−</m:t>
                    </m:r>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𝜀</m:t>
                    </m:r>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m:t>
                    </m:r>
                    <m:sSub>
                      <m:sSubPr>
                        <m:ctrlPr>
                          <a:rPr lang="en-US" b="0" i="1" smtClean="0">
                            <a:latin typeface="Cambria Math" panose="02040503050406030204" pitchFamily="18" charset="0"/>
                            <a:cs typeface="Times New Roman" panose="02020603050405020304" pitchFamily="18" charset="0"/>
                            <a:sym typeface="Symbol" panose="05050102010706020507" pitchFamily="18" charset="2"/>
                          </a:rPr>
                        </m:ctrlPr>
                      </m:sSubPr>
                      <m:e>
                        <m:r>
                          <a:rPr lang="en-US" b="0" i="1" smtClean="0">
                            <a:latin typeface="Cambria Math" panose="02040503050406030204" pitchFamily="18" charset="0"/>
                            <a:cs typeface="Times New Roman" panose="02020603050405020304" pitchFamily="18" charset="0"/>
                            <a:sym typeface="Symbol" panose="05050102010706020507" pitchFamily="18" charset="2"/>
                          </a:rPr>
                          <m:t> ∗ </m:t>
                        </m:r>
                        <m:r>
                          <a:rPr lang="en-US" b="0" i="1" smtClean="0">
                            <a:latin typeface="Cambria Math" panose="02040503050406030204" pitchFamily="18" charset="0"/>
                            <a:cs typeface="Times New Roman" panose="02020603050405020304" pitchFamily="18" charset="0"/>
                            <a:sym typeface="Symbol" panose="05050102010706020507" pitchFamily="18" charset="2"/>
                          </a:rPr>
                          <m:t>𝑐𝑜𝑠</m:t>
                        </m:r>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e>
                      <m:sub>
                        <m:r>
                          <a:rPr lang="en-US" b="0" i="1" smtClean="0">
                            <a:latin typeface="Cambria Math" panose="02040503050406030204" pitchFamily="18" charset="0"/>
                            <a:cs typeface="Times New Roman" panose="02020603050405020304" pitchFamily="18" charset="0"/>
                            <a:sym typeface="Symbol" panose="05050102010706020507" pitchFamily="18" charset="2"/>
                          </a:rPr>
                          <m:t>0</m:t>
                        </m:r>
                      </m:sub>
                    </m:sSub>
                  </m:oMath>
                </a14:m>
                <a:r>
                  <a:rPr lang="en-IN" dirty="0">
                    <a:latin typeface="Times New Roman" panose="02020603050405020304" pitchFamily="18" charset="0"/>
                    <a:cs typeface="Times New Roman" panose="02020603050405020304" pitchFamily="18" charset="0"/>
                    <a:sym typeface="Symbol" panose="05050102010706020507" pitchFamily="18" charset="2"/>
                  </a:rPr>
                  <a:t>       </a:t>
                </a:r>
                <a:endParaRPr lang="en-IN" sz="1600" dirty="0">
                  <a:latin typeface="Times New Roman" panose="02020603050405020304" pitchFamily="18" charset="0"/>
                  <a:cs typeface="Times New Roman" panose="02020603050405020304" pitchFamily="18" charset="0"/>
                  <a:sym typeface="Symbol" panose="05050102010706020507" pitchFamily="18" charset="2"/>
                </a:endParaRPr>
              </a:p>
              <a:p>
                <a:endParaRPr lang="en-IN" sz="1600" dirty="0">
                  <a:latin typeface="Times New Roman" panose="02020603050405020304" pitchFamily="18" charset="0"/>
                  <a:cs typeface="Times New Roman" panose="02020603050405020304" pitchFamily="18" charset="0"/>
                  <a:sym typeface="Symbol" panose="05050102010706020507" pitchFamily="18" charset="2"/>
                </a:endParaRPr>
              </a:p>
              <a:p>
                <a:r>
                  <a:rPr lang="en-IN" sz="1600" dirty="0">
                    <a:latin typeface="Times New Roman" panose="02020603050405020304" pitchFamily="18" charset="0"/>
                    <a:cs typeface="Times New Roman" panose="02020603050405020304" pitchFamily="18" charset="0"/>
                  </a:rPr>
                  <a:t>Substitute cos</a:t>
                </a:r>
                <a:r>
                  <a:rPr lang="en-IN" sz="1600" dirty="0">
                    <a:latin typeface="Times New Roman" panose="02020603050405020304" pitchFamily="18" charset="0"/>
                    <a:cs typeface="Times New Roman" panose="02020603050405020304" pitchFamily="18" charset="0"/>
                    <a:sym typeface="Symbol" panose="05050102010706020507" pitchFamily="18" charset="2"/>
                  </a:rPr>
                  <a:t>, D = D</a:t>
                </a:r>
                <a:r>
                  <a:rPr lang="en-IN" sz="1000" dirty="0">
                    <a:latin typeface="Times New Roman" panose="02020603050405020304" pitchFamily="18" charset="0"/>
                    <a:cs typeface="Times New Roman" panose="02020603050405020304" pitchFamily="18" charset="0"/>
                    <a:sym typeface="Symbol" panose="05050102010706020507" pitchFamily="18" charset="2"/>
                  </a:rPr>
                  <a:t>0</a:t>
                </a:r>
                <a:r>
                  <a:rPr lang="en-IN" sz="1600" dirty="0">
                    <a:latin typeface="Times New Roman" panose="02020603050405020304" pitchFamily="18" charset="0"/>
                    <a:cs typeface="Times New Roman" panose="02020603050405020304" pitchFamily="18" charset="0"/>
                    <a:sym typeface="Symbol" panose="05050102010706020507" pitchFamily="18" charset="2"/>
                  </a:rPr>
                  <a:t> &amp; sin = sin</a:t>
                </a:r>
                <a:r>
                  <a:rPr lang="en-IN" sz="1000" dirty="0">
                    <a:latin typeface="Times New Roman" panose="02020603050405020304" pitchFamily="18" charset="0"/>
                    <a:cs typeface="Times New Roman" panose="02020603050405020304" pitchFamily="18" charset="0"/>
                    <a:sym typeface="Symbol" panose="05050102010706020507" pitchFamily="18" charset="2"/>
                  </a:rPr>
                  <a:t>0 </a:t>
                </a:r>
                <a:r>
                  <a:rPr lang="en-IN" sz="1600" dirty="0">
                    <a:latin typeface="Times New Roman" panose="02020603050405020304" pitchFamily="18" charset="0"/>
                    <a:cs typeface="Times New Roman" panose="02020603050405020304" pitchFamily="18" charset="0"/>
                    <a:sym typeface="Symbol" panose="05050102010706020507" pitchFamily="18" charset="2"/>
                  </a:rPr>
                  <a:t>in </a:t>
                </a:r>
                <a:r>
                  <a:rPr lang="en-IN" sz="1600" dirty="0" err="1">
                    <a:latin typeface="Times New Roman" panose="02020603050405020304" pitchFamily="18" charset="0"/>
                    <a:cs typeface="Times New Roman" panose="02020603050405020304" pitchFamily="18" charset="0"/>
                    <a:sym typeface="Symbol" panose="05050102010706020507" pitchFamily="18" charset="2"/>
                  </a:rPr>
                  <a:t>eq</a:t>
                </a:r>
                <a:r>
                  <a:rPr lang="en-IN" sz="1600" dirty="0">
                    <a:latin typeface="Times New Roman" panose="02020603050405020304" pitchFamily="18" charset="0"/>
                    <a:cs typeface="Times New Roman" panose="02020603050405020304" pitchFamily="18" charset="0"/>
                    <a:sym typeface="Symbol" panose="05050102010706020507" pitchFamily="18" charset="2"/>
                  </a:rPr>
                  <a:t> (9)</a:t>
                </a: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	</a:t>
                </a:r>
                <a:r>
                  <a:rPr lang="en-US" sz="1600" b="0" dirty="0">
                    <a:cs typeface="Times New Roman" panose="02020603050405020304" pitchFamily="18" charset="0"/>
                    <a:sym typeface="Symbol" panose="05050102010706020507" pitchFamily="18" charset="2"/>
                  </a:rPr>
                  <a:t> </a:t>
                </a:r>
                <a14:m>
                  <m:oMath xmlns:m="http://schemas.openxmlformats.org/officeDocument/2006/math">
                    <m:r>
                      <a:rPr lang="en-US" b="0" i="1" smtClean="0">
                        <a:latin typeface="Cambria Math" panose="02040503050406030204" pitchFamily="18" charset="0"/>
                        <a:cs typeface="Times New Roman" panose="02020603050405020304" pitchFamily="18" charset="0"/>
                        <a:sym typeface="Symbol" panose="05050102010706020507" pitchFamily="18" charset="2"/>
                      </a:rPr>
                      <m:t>𝐹</m:t>
                    </m:r>
                    <m:r>
                      <a:rPr lang="en-US"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fPr>
                      <m:num>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𝜋</m:t>
                        </m:r>
                      </m:num>
                      <m:den>
                        <m:r>
                          <a:rPr lang="en-US" b="0" i="1" smtClean="0">
                            <a:latin typeface="Cambria Math" panose="02040503050406030204" pitchFamily="18" charset="0"/>
                            <a:cs typeface="Times New Roman" panose="02020603050405020304" pitchFamily="18" charset="0"/>
                            <a:sym typeface="Symbol" panose="05050102010706020507" pitchFamily="18" charset="2"/>
                          </a:rPr>
                          <m:t>4</m:t>
                        </m:r>
                      </m:den>
                    </m:f>
                    <m:r>
                      <a:rPr lang="en-US" b="0" i="1" smtClean="0">
                        <a:latin typeface="Cambria Math" panose="02040503050406030204" pitchFamily="18" charset="0"/>
                        <a:cs typeface="Times New Roman" panose="02020603050405020304" pitchFamily="18" charset="0"/>
                        <a:sym typeface="Symbol" panose="05050102010706020507" pitchFamily="18" charset="2"/>
                      </a:rPr>
                      <m:t> </m:t>
                    </m:r>
                    <m:sSup>
                      <m:sSupPr>
                        <m:ctrlPr>
                          <a:rPr lang="en-US"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b="0" i="1" smtClean="0">
                            <a:latin typeface="Cambria Math" panose="02040503050406030204" pitchFamily="18" charset="0"/>
                            <a:cs typeface="Times New Roman" panose="02020603050405020304" pitchFamily="18" charset="0"/>
                            <a:sym typeface="Symbol" panose="05050102010706020507" pitchFamily="18" charset="2"/>
                          </a:rPr>
                          <m:t>𝑃</m:t>
                        </m:r>
                      </m:e>
                      <m:sup>
                        <m:r>
                          <a:rPr lang="en-US" b="0" i="1" smtClean="0">
                            <a:latin typeface="Cambria Math" panose="02040503050406030204" pitchFamily="18" charset="0"/>
                            <a:cs typeface="Times New Roman" panose="02020603050405020304" pitchFamily="18" charset="0"/>
                            <a:sym typeface="Symbol" panose="05050102010706020507" pitchFamily="18" charset="2"/>
                          </a:rPr>
                          <m:t>′</m:t>
                        </m:r>
                      </m:sup>
                    </m:sSup>
                    <m:sSup>
                      <m:sSupPr>
                        <m:ctrlPr>
                          <a:rPr lang="en-US"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b="0" i="1" smtClean="0">
                            <a:latin typeface="Cambria Math" panose="02040503050406030204" pitchFamily="18" charset="0"/>
                            <a:cs typeface="Times New Roman" panose="02020603050405020304" pitchFamily="18" charset="0"/>
                            <a:sym typeface="Symbol" panose="05050102010706020507" pitchFamily="18" charset="2"/>
                          </a:rPr>
                          <m:t>𝐷</m:t>
                        </m:r>
                      </m:e>
                      <m:sup>
                        <m:r>
                          <a:rPr lang="en-US" b="0" i="1" smtClean="0">
                            <a:latin typeface="Cambria Math" panose="02040503050406030204" pitchFamily="18" charset="0"/>
                            <a:cs typeface="Times New Roman" panose="02020603050405020304" pitchFamily="18" charset="0"/>
                            <a:sym typeface="Symbol" panose="05050102010706020507" pitchFamily="18" charset="2"/>
                          </a:rPr>
                          <m:t>2</m:t>
                        </m:r>
                      </m:sup>
                    </m:sSup>
                    <m:r>
                      <a:rPr lang="en-US"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b="0" i="1" smtClean="0">
                            <a:latin typeface="Cambria Math" panose="02040503050406030204" pitchFamily="18" charset="0"/>
                            <a:cs typeface="Times New Roman" panose="02020603050405020304" pitchFamily="18" charset="0"/>
                            <a:sym typeface="Symbol" panose="05050102010706020507" pitchFamily="18" charset="2"/>
                          </a:rPr>
                          <m:t>(3</m:t>
                        </m:r>
                        <m:sSup>
                          <m:sSupPr>
                            <m:ctrlPr>
                              <a:rPr lang="en-US"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pPr>
                          <m:e>
                            <m:r>
                              <a:rPr lang="en-US"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(1−</m:t>
                            </m:r>
                            <m:r>
                              <a:rPr lang="en-US"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𝜀</m:t>
                            </m:r>
                            <m:r>
                              <a:rPr lang="en-US"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m:t>
                            </m:r>
                          </m:e>
                          <m:sup>
                            <m:r>
                              <a:rPr lang="en-US"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2</m:t>
                            </m:r>
                          </m:sup>
                        </m:sSup>
                        <m:sSub>
                          <m:sSubPr>
                            <m:ctrlPr>
                              <a:rPr lang="en-US" i="1">
                                <a:latin typeface="Cambria Math" panose="02040503050406030204" pitchFamily="18" charset="0"/>
                                <a:cs typeface="Times New Roman" panose="02020603050405020304" pitchFamily="18" charset="0"/>
                                <a:sym typeface="Symbol" panose="05050102010706020507" pitchFamily="18" charset="2"/>
                              </a:rPr>
                            </m:ctrlPr>
                          </m:sSubPr>
                          <m:e>
                            <m:r>
                              <a:rPr lang="en-US" i="1">
                                <a:latin typeface="Cambria Math" panose="02040503050406030204" pitchFamily="18" charset="0"/>
                                <a:cs typeface="Times New Roman" panose="02020603050405020304" pitchFamily="18" charset="0"/>
                                <a:sym typeface="Symbol" panose="05050102010706020507" pitchFamily="18" charset="2"/>
                              </a:rPr>
                              <m:t> ∗ </m:t>
                            </m:r>
                            <m:sSup>
                              <m:sSupPr>
                                <m:ctrlPr>
                                  <a:rPr lang="en-US"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b="0" i="1" smtClean="0">
                                    <a:latin typeface="Cambria Math" panose="02040503050406030204" pitchFamily="18" charset="0"/>
                                    <a:cs typeface="Times New Roman" panose="02020603050405020304" pitchFamily="18" charset="0"/>
                                    <a:sym typeface="Symbol" panose="05050102010706020507" pitchFamily="18" charset="2"/>
                                  </a:rPr>
                                  <m:t>𝑐𝑜𝑠</m:t>
                                </m:r>
                              </m:e>
                              <m:sup>
                                <m:r>
                                  <a:rPr lang="en-US" b="0" i="1" smtClean="0">
                                    <a:latin typeface="Cambria Math" panose="02040503050406030204" pitchFamily="18" charset="0"/>
                                    <a:cs typeface="Times New Roman" panose="02020603050405020304" pitchFamily="18" charset="0"/>
                                    <a:sym typeface="Symbol" panose="05050102010706020507" pitchFamily="18" charset="2"/>
                                  </a:rPr>
                                  <m:t>2</m:t>
                                </m:r>
                              </m:sup>
                            </m:sSup>
                            <m:r>
                              <a:rPr lang="en-US"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e>
                          <m:sub>
                            <m:r>
                              <a:rPr lang="en-US" i="1">
                                <a:latin typeface="Cambria Math" panose="02040503050406030204" pitchFamily="18" charset="0"/>
                                <a:cs typeface="Times New Roman" panose="02020603050405020304" pitchFamily="18" charset="0"/>
                                <a:sym typeface="Symbol" panose="05050102010706020507" pitchFamily="18" charset="2"/>
                              </a:rPr>
                              <m:t>0</m:t>
                            </m:r>
                          </m:sub>
                        </m:sSub>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−1)</m:t>
                        </m:r>
                      </m:num>
                      <m:den>
                        <m:sSup>
                          <m:sSupPr>
                            <m:ctrlPr>
                              <a:rPr lang="en-US"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b="0" i="1" smtClean="0">
                                <a:latin typeface="Cambria Math" panose="02040503050406030204" pitchFamily="18" charset="0"/>
                                <a:cs typeface="Times New Roman" panose="02020603050405020304" pitchFamily="18" charset="0"/>
                                <a:sym typeface="Symbol" panose="05050102010706020507" pitchFamily="18" charset="2"/>
                              </a:rPr>
                              <m:t>𝑠𝑖𝑛</m:t>
                            </m:r>
                          </m:e>
                          <m:sup>
                            <m:r>
                              <a:rPr lang="en-US" b="0" i="1" smtClean="0">
                                <a:latin typeface="Cambria Math" panose="02040503050406030204" pitchFamily="18" charset="0"/>
                                <a:cs typeface="Times New Roman" panose="02020603050405020304" pitchFamily="18" charset="0"/>
                                <a:sym typeface="Symbol" panose="05050102010706020507" pitchFamily="18" charset="2"/>
                              </a:rPr>
                              <m:t>2</m:t>
                            </m:r>
                          </m:sup>
                        </m:sSup>
                        <m:sSub>
                          <m:sSubPr>
                            <m:ctrlP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bPr>
                          <m:e>
                            <m:r>
                              <a:rPr lang="en-US"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e>
                          <m:sub>
                            <m:r>
                              <a:rPr lang="en-US" b="0" i="1" smtClean="0">
                                <a:latin typeface="Cambria Math" panose="02040503050406030204" pitchFamily="18" charset="0"/>
                                <a:cs typeface="Times New Roman" panose="02020603050405020304" pitchFamily="18" charset="0"/>
                                <a:sym typeface="Symbol" panose="05050102010706020507" pitchFamily="18" charset="2"/>
                              </a:rPr>
                              <m:t>0</m:t>
                            </m:r>
                          </m:sub>
                        </m:sSub>
                      </m:den>
                    </m:f>
                  </m:oMath>
                </a14:m>
                <a:endParaRPr lang="en-IN" dirty="0">
                  <a:latin typeface="Times New Roman" panose="02020603050405020304" pitchFamily="18" charset="0"/>
                  <a:cs typeface="Times New Roman" panose="02020603050405020304" pitchFamily="18" charset="0"/>
                  <a:sym typeface="Symbol" panose="05050102010706020507" pitchFamily="18" charset="2"/>
                </a:endParaRPr>
              </a:p>
              <a:p>
                <a:endParaRPr lang="en-IN" sz="1600" dirty="0">
                  <a:latin typeface="Times New Roman" panose="02020603050405020304" pitchFamily="18" charset="0"/>
                  <a:cs typeface="Times New Roman" panose="02020603050405020304" pitchFamily="18" charset="0"/>
                  <a:sym typeface="Symbol" panose="05050102010706020507" pitchFamily="18" charset="2"/>
                </a:endParaRPr>
              </a:p>
              <a:p>
                <a:r>
                  <a:rPr lang="en-IN" sz="1600" dirty="0">
                    <a:latin typeface="Times New Roman" panose="02020603050405020304" pitchFamily="18" charset="0"/>
                    <a:cs typeface="Times New Roman" panose="02020603050405020304" pitchFamily="18" charset="0"/>
                    <a:sym typeface="Symbol" panose="05050102010706020507" pitchFamily="18" charset="2"/>
                  </a:rPr>
                  <a:t>This Calculations for Static Conditions </a:t>
                </a:r>
              </a:p>
              <a:p>
                <a:endParaRPr lang="en-IN" sz="1600" dirty="0">
                  <a:latin typeface="Times New Roman" panose="02020603050405020304" pitchFamily="18" charset="0"/>
                  <a:cs typeface="Times New Roman" panose="02020603050405020304" pitchFamily="18" charset="0"/>
                  <a:sym typeface="Symbol" panose="05050102010706020507" pitchFamily="18" charset="2"/>
                </a:endParaRPr>
              </a:p>
              <a:p>
                <a:r>
                  <a:rPr lang="en-IN" sz="1600" dirty="0">
                    <a:latin typeface="Times New Roman" panose="02020603050405020304" pitchFamily="18" charset="0"/>
                    <a:cs typeface="Times New Roman" panose="02020603050405020304" pitchFamily="18" charset="0"/>
                    <a:sym typeface="Symbol" panose="05050102010706020507" pitchFamily="18" charset="2"/>
                  </a:rPr>
                  <a:t>Formula for Pressure by rearranging,</a:t>
                </a:r>
              </a:p>
              <a:p>
                <a:pPr/>
                <a14:m>
                  <m:oMathPara xmlns:m="http://schemas.openxmlformats.org/officeDocument/2006/math">
                    <m:oMath>
                      <m:sSup>
                        <m:sSupPr>
                          <m:ctrlPr>
                            <a:rPr lang="en-US" sz="1400" i="1">
                              <a:latin typeface="Cambria Math" panose="02040503050406030204" pitchFamily="18" charset="0"/>
                              <a:cs typeface="Times New Roman" panose="02020603050405020304" pitchFamily="18" charset="0"/>
                              <a:sym typeface="Symbol" panose="05050102010706020507" pitchFamily="18" charset="2"/>
                            </a:rPr>
                          </m:ctrlPr>
                        </m:sSupPr>
                        <m:e>
                          <m:r>
                            <a:rPr lang="en-US" sz="1400" i="1">
                              <a:latin typeface="Cambria Math" panose="02040503050406030204" pitchFamily="18" charset="0"/>
                              <a:cs typeface="Times New Roman" panose="02020603050405020304" pitchFamily="18" charset="0"/>
                              <a:sym typeface="Symbol" panose="05050102010706020507" pitchFamily="18" charset="2"/>
                            </a:rPr>
                            <m:t>𝑃</m:t>
                          </m:r>
                        </m:e>
                        <m:sup>
                          <m:r>
                            <a:rPr lang="en-US" sz="1400" i="1">
                              <a:latin typeface="Cambria Math" panose="02040503050406030204" pitchFamily="18" charset="0"/>
                              <a:cs typeface="Times New Roman" panose="02020603050405020304" pitchFamily="18" charset="0"/>
                              <a:sym typeface="Symbol" panose="05050102010706020507" pitchFamily="18" charset="2"/>
                            </a:rPr>
                            <m:t>′</m:t>
                          </m:r>
                        </m:sup>
                      </m:sSup>
                      <m:r>
                        <a:rPr lang="en-US" sz="1600" i="1">
                          <a:latin typeface="Cambria Math" panose="02040503050406030204" pitchFamily="18" charset="0"/>
                          <a:cs typeface="Times New Roman" panose="02020603050405020304" pitchFamily="18" charset="0"/>
                          <a:sym typeface="Symbol" panose="05050102010706020507" pitchFamily="18" charset="2"/>
                        </a:rPr>
                        <m:t>= </m:t>
                      </m:r>
                      <m:f>
                        <m:fPr>
                          <m:ctrlP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fPr>
                        <m:num>
                          <m: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𝐹</m:t>
                          </m:r>
                          <m: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∗4∗</m:t>
                          </m:r>
                          <m:sSup>
                            <m:sSupPr>
                              <m:ctrlP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pPr>
                            <m:e>
                              <m: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𝑠𝑖𝑛</m:t>
                              </m:r>
                            </m:e>
                            <m:sup>
                              <m: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2</m:t>
                              </m:r>
                            </m:sup>
                          </m:sSup>
                          <m:sSub>
                            <m:sSubPr>
                              <m:ctrlP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bPr>
                            <m:e>
                              <m: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e>
                            <m:sub>
                              <m: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𝑜</m:t>
                              </m:r>
                            </m:sub>
                          </m:sSub>
                        </m:num>
                        <m:den>
                          <m: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𝜋</m:t>
                          </m:r>
                          <m: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m:t>
                          </m:r>
                          <m:sSup>
                            <m:sSupPr>
                              <m:ctrlP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pPr>
                            <m:e>
                              <m: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𝐷</m:t>
                              </m:r>
                            </m:e>
                            <m:sup>
                              <m: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2</m:t>
                              </m:r>
                            </m:sup>
                          </m:sSup>
                          <m: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m:t>
                          </m:r>
                          <m:d>
                            <m:dPr>
                              <m:ctrlP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dPr>
                            <m:e>
                              <m: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3</m:t>
                              </m:r>
                              <m:sSup>
                                <m:sSupPr>
                                  <m:ctrlP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pPr>
                                <m:e>
                                  <m:d>
                                    <m:dPr>
                                      <m:ctrlP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dPr>
                                    <m:e>
                                      <m: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1−</m:t>
                                      </m:r>
                                      <m: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𝜖</m:t>
                                      </m:r>
                                    </m:e>
                                  </m:d>
                                </m:e>
                                <m:sup>
                                  <m: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2</m:t>
                                  </m:r>
                                </m:sup>
                              </m:sSup>
                              <m: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m:t>
                              </m:r>
                              <m:sSup>
                                <m:sSupPr>
                                  <m:ctrlP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pPr>
                                <m:e>
                                  <m: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𝑐𝑜𝑠</m:t>
                                  </m:r>
                                </m:e>
                                <m:sup>
                                  <m: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2</m:t>
                                  </m:r>
                                </m:sup>
                              </m:sSup>
                              <m:sSub>
                                <m:sSubPr>
                                  <m:ctrlP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bPr>
                                <m:e>
                                  <m: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e>
                                <m:sub>
                                  <m: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𝑜</m:t>
                                  </m:r>
                                </m:sub>
                              </m:sSub>
                              <m: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−1</m:t>
                              </m:r>
                            </m:e>
                          </m:d>
                          <m: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m:t>
                          </m:r>
                          <m:sSup>
                            <m:sSupPr>
                              <m:ctrlP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pPr>
                            <m:e>
                              <m: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10</m:t>
                              </m:r>
                            </m:e>
                            <m:sup>
                              <m: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5</m:t>
                              </m:r>
                            </m:sup>
                          </m:sSup>
                        </m:den>
                      </m:f>
                    </m:oMath>
                  </m:oMathPara>
                </a14:m>
                <a:endParaRPr lang="en-IN" sz="1400" dirty="0">
                  <a:latin typeface="Times New Roman" panose="02020603050405020304" pitchFamily="18" charset="0"/>
                  <a:cs typeface="Times New Roman" panose="02020603050405020304" pitchFamily="18" charset="0"/>
                  <a:sym typeface="Symbol" panose="05050102010706020507" pitchFamily="18" charset="2"/>
                </a:endParaRPr>
              </a:p>
            </p:txBody>
          </p:sp>
        </mc:Choice>
        <mc:Fallback xmlns="">
          <p:sp>
            <p:nvSpPr>
              <p:cNvPr id="4" name="TextBox 3">
                <a:extLst>
                  <a:ext uri="{FF2B5EF4-FFF2-40B4-BE49-F238E27FC236}">
                    <a16:creationId xmlns:a16="http://schemas.microsoft.com/office/drawing/2014/main" id="{ADFDA5C2-7FDB-F59D-7DFA-3BFE3A76C49D}"/>
                  </a:ext>
                </a:extLst>
              </p:cNvPr>
              <p:cNvSpPr txBox="1">
                <a:spLocks noRot="1" noChangeAspect="1" noMove="1" noResize="1" noEditPoints="1" noAdjustHandles="1" noChangeArrowheads="1" noChangeShapeType="1" noTextEdit="1"/>
              </p:cNvSpPr>
              <p:nvPr/>
            </p:nvSpPr>
            <p:spPr>
              <a:xfrm>
                <a:off x="1663900" y="1466151"/>
                <a:ext cx="4746232" cy="3927485"/>
              </a:xfrm>
              <a:prstGeom prst="rect">
                <a:avLst/>
              </a:prstGeom>
              <a:blipFill>
                <a:blip r:embed="rId2"/>
                <a:stretch>
                  <a:fillRect l="-770"/>
                </a:stretch>
              </a:blipFill>
            </p:spPr>
            <p:txBody>
              <a:bodyPr/>
              <a:lstStyle/>
              <a:p>
                <a:r>
                  <a:rPr lang="en-US">
                    <a:noFill/>
                  </a:rPr>
                  <a:t> </a:t>
                </a:r>
              </a:p>
            </p:txBody>
          </p:sp>
        </mc:Fallback>
      </mc:AlternateContent>
      <p:sp>
        <p:nvSpPr>
          <p:cNvPr id="3" name="Title 1">
            <a:extLst>
              <a:ext uri="{FF2B5EF4-FFF2-40B4-BE49-F238E27FC236}">
                <a16:creationId xmlns:a16="http://schemas.microsoft.com/office/drawing/2014/main" id="{9D77E9AE-9871-6B83-F520-829F3936D0E9}"/>
              </a:ext>
            </a:extLst>
          </p:cNvPr>
          <p:cNvSpPr txBox="1">
            <a:spLocks/>
          </p:cNvSpPr>
          <p:nvPr/>
        </p:nvSpPr>
        <p:spPr>
          <a:xfrm>
            <a:off x="1738594" y="608555"/>
            <a:ext cx="10002384" cy="679059"/>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latin typeface="Times New Roman" panose="02020603050405020304" pitchFamily="18" charset="0"/>
                <a:cs typeface="Times New Roman" panose="02020603050405020304" pitchFamily="18" charset="0"/>
              </a:rPr>
              <a:t>Derivation For Pressure and Force Relation: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051463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9178E7A-19B5-2D3B-5C12-C52417669B35}"/>
                  </a:ext>
                </a:extLst>
              </p:cNvPr>
              <p:cNvSpPr txBox="1"/>
              <p:nvPr/>
            </p:nvSpPr>
            <p:spPr>
              <a:xfrm>
                <a:off x="1841154" y="1120918"/>
                <a:ext cx="4746232" cy="5615896"/>
              </a:xfrm>
              <a:prstGeom prst="rect">
                <a:avLst/>
              </a:prstGeom>
              <a:noFill/>
            </p:spPr>
            <p:txBody>
              <a:bodyPr wrap="square" rtlCol="0">
                <a:spAutoFit/>
              </a:bodyPr>
              <a:lstStyle/>
              <a:p>
                <a:r>
                  <a:rPr lang="en-US" sz="1600" b="0" dirty="0">
                    <a:latin typeface="Times New Roman" panose="02020603050405020304" pitchFamily="18" charset="0"/>
                    <a:ea typeface="Cambria Math" panose="02040503050406030204" pitchFamily="18" charset="0"/>
                    <a:cs typeface="Times New Roman" panose="02020603050405020304" pitchFamily="18" charset="0"/>
                    <a:sym typeface="Symbol" panose="05050102010706020507" pitchFamily="18" charset="2"/>
                  </a:rPr>
                  <a:t>By using this Formula</a:t>
                </a:r>
                <a:r>
                  <a:rPr lang="en-US" sz="1400" b="0" dirty="0">
                    <a:latin typeface="Times New Roman" panose="02020603050405020304" pitchFamily="18" charset="0"/>
                    <a:ea typeface="Cambria Math" panose="02040503050406030204" pitchFamily="18" charset="0"/>
                    <a:cs typeface="Times New Roman" panose="02020603050405020304" pitchFamily="18" charset="0"/>
                    <a:sym typeface="Symbol" panose="05050102010706020507" pitchFamily="18" charset="2"/>
                  </a:rPr>
                  <a:t>:</a:t>
                </a:r>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	</a:t>
                </a:r>
                <a:r>
                  <a:rPr lang="en-US" sz="1400" b="0" dirty="0">
                    <a:latin typeface="Times New Roman" panose="02020603050405020304" pitchFamily="18" charset="0"/>
                    <a:cs typeface="Times New Roman" panose="02020603050405020304" pitchFamily="18" charset="0"/>
                    <a:sym typeface="Symbol" panose="05050102010706020507" pitchFamily="18" charset="2"/>
                  </a:rPr>
                  <a:t> </a:t>
                </a:r>
                <a14:m>
                  <m:oMath xmlns:m="http://schemas.openxmlformats.org/officeDocument/2006/math">
                    <m:r>
                      <a:rPr lang="en-US" sz="1600" b="0" i="1" smtClean="0">
                        <a:latin typeface="Cambria Math" panose="02040503050406030204" pitchFamily="18" charset="0"/>
                        <a:cs typeface="Times New Roman" panose="02020603050405020304" pitchFamily="18" charset="0"/>
                        <a:sym typeface="Symbol" panose="05050102010706020507" pitchFamily="18" charset="2"/>
                      </a:rPr>
                      <m:t>𝐹</m:t>
                    </m:r>
                    <m:r>
                      <a:rPr lang="en-US" sz="1600"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fPr>
                      <m:num>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𝜋</m:t>
                        </m:r>
                      </m:num>
                      <m:den>
                        <m:r>
                          <a:rPr lang="en-US" sz="1600" b="0" i="1" smtClean="0">
                            <a:latin typeface="Cambria Math" panose="02040503050406030204" pitchFamily="18" charset="0"/>
                            <a:cs typeface="Times New Roman" panose="02020603050405020304" pitchFamily="18" charset="0"/>
                            <a:sym typeface="Symbol" panose="05050102010706020507" pitchFamily="18" charset="2"/>
                          </a:rPr>
                          <m:t>4</m:t>
                        </m:r>
                      </m:den>
                    </m:f>
                    <m:r>
                      <a:rPr lang="en-US" sz="1600" b="0" i="1" smtClean="0">
                        <a:latin typeface="Cambria Math" panose="02040503050406030204" pitchFamily="18" charset="0"/>
                        <a:cs typeface="Times New Roman" panose="02020603050405020304" pitchFamily="18" charset="0"/>
                        <a:sym typeface="Symbol" panose="05050102010706020507" pitchFamily="18" charset="2"/>
                      </a:rPr>
                      <m:t> </m:t>
                    </m:r>
                    <m:sSup>
                      <m:sSup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sz="1600" b="0" i="1" smtClean="0">
                            <a:latin typeface="Cambria Math" panose="02040503050406030204" pitchFamily="18" charset="0"/>
                            <a:cs typeface="Times New Roman" panose="02020603050405020304" pitchFamily="18" charset="0"/>
                            <a:sym typeface="Symbol" panose="05050102010706020507" pitchFamily="18" charset="2"/>
                          </a:rPr>
                          <m:t>𝑃</m:t>
                        </m:r>
                      </m:e>
                      <m:sup>
                        <m:r>
                          <a:rPr lang="en-US" sz="1600" b="0" i="1" smtClean="0">
                            <a:latin typeface="Cambria Math" panose="02040503050406030204" pitchFamily="18" charset="0"/>
                            <a:cs typeface="Times New Roman" panose="02020603050405020304" pitchFamily="18" charset="0"/>
                            <a:sym typeface="Symbol" panose="05050102010706020507" pitchFamily="18" charset="2"/>
                          </a:rPr>
                          <m:t>′</m:t>
                        </m:r>
                      </m:sup>
                    </m:sSup>
                    <m:sSup>
                      <m:sSup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sz="1600" b="0" i="1" smtClean="0">
                            <a:latin typeface="Cambria Math" panose="02040503050406030204" pitchFamily="18" charset="0"/>
                            <a:cs typeface="Times New Roman" panose="02020603050405020304" pitchFamily="18" charset="0"/>
                            <a:sym typeface="Symbol" panose="05050102010706020507" pitchFamily="18" charset="2"/>
                          </a:rPr>
                          <m:t>𝐷</m:t>
                        </m:r>
                      </m:e>
                      <m:sup>
                        <m:r>
                          <a:rPr lang="en-US" sz="1600" b="0" i="1" smtClean="0">
                            <a:latin typeface="Cambria Math" panose="02040503050406030204" pitchFamily="18" charset="0"/>
                            <a:cs typeface="Times New Roman" panose="02020603050405020304" pitchFamily="18" charset="0"/>
                            <a:sym typeface="Symbol" panose="05050102010706020507" pitchFamily="18" charset="2"/>
                          </a:rPr>
                          <m:t>2</m:t>
                        </m:r>
                      </m:sup>
                    </m:sSup>
                    <m:r>
                      <a:rPr lang="en-US" sz="1600"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sz="1600" b="0" i="1" smtClean="0">
                            <a:latin typeface="Cambria Math" panose="02040503050406030204" pitchFamily="18" charset="0"/>
                            <a:cs typeface="Times New Roman" panose="02020603050405020304" pitchFamily="18" charset="0"/>
                            <a:sym typeface="Symbol" panose="05050102010706020507" pitchFamily="18" charset="2"/>
                          </a:rPr>
                          <m:t>(3</m:t>
                        </m:r>
                        <m:sSup>
                          <m:sSupPr>
                            <m:ctrlP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pPr>
                          <m:e>
                            <m: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(1−</m:t>
                            </m:r>
                            <m: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𝜀</m:t>
                            </m:r>
                            <m: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m:t>
                            </m:r>
                          </m:e>
                          <m:sup>
                            <m:r>
                              <a:rPr lang="en-US" sz="160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2</m:t>
                            </m:r>
                          </m:sup>
                        </m:sSup>
                        <m:sSub>
                          <m:sSubPr>
                            <m:ctrlPr>
                              <a:rPr lang="en-US" sz="1600" i="1">
                                <a:latin typeface="Cambria Math" panose="02040503050406030204" pitchFamily="18" charset="0"/>
                                <a:cs typeface="Times New Roman" panose="02020603050405020304" pitchFamily="18" charset="0"/>
                                <a:sym typeface="Symbol" panose="05050102010706020507" pitchFamily="18" charset="2"/>
                              </a:rPr>
                            </m:ctrlPr>
                          </m:sSubPr>
                          <m:e>
                            <m:r>
                              <a:rPr lang="en-US" sz="1600" i="1">
                                <a:latin typeface="Cambria Math" panose="02040503050406030204" pitchFamily="18" charset="0"/>
                                <a:cs typeface="Times New Roman" panose="02020603050405020304" pitchFamily="18" charset="0"/>
                                <a:sym typeface="Symbol" panose="05050102010706020507" pitchFamily="18" charset="2"/>
                              </a:rPr>
                              <m:t> ∗ </m:t>
                            </m:r>
                            <m:sSup>
                              <m:sSup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sz="1600" b="0" i="1" smtClean="0">
                                    <a:latin typeface="Cambria Math" panose="02040503050406030204" pitchFamily="18" charset="0"/>
                                    <a:cs typeface="Times New Roman" panose="02020603050405020304" pitchFamily="18" charset="0"/>
                                    <a:sym typeface="Symbol" panose="05050102010706020507" pitchFamily="18" charset="2"/>
                                  </a:rPr>
                                  <m:t>𝑐𝑜𝑠</m:t>
                                </m:r>
                              </m:e>
                              <m:sup>
                                <m:r>
                                  <a:rPr lang="en-US" sz="1600" b="0" i="1" smtClean="0">
                                    <a:latin typeface="Cambria Math" panose="02040503050406030204" pitchFamily="18" charset="0"/>
                                    <a:cs typeface="Times New Roman" panose="02020603050405020304" pitchFamily="18" charset="0"/>
                                    <a:sym typeface="Symbol" panose="05050102010706020507" pitchFamily="18" charset="2"/>
                                  </a:rPr>
                                  <m:t>2</m:t>
                                </m:r>
                              </m:sup>
                            </m:sSup>
                            <m: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e>
                          <m:sub>
                            <m:r>
                              <a:rPr lang="en-US" sz="1600" i="1">
                                <a:latin typeface="Cambria Math" panose="02040503050406030204" pitchFamily="18" charset="0"/>
                                <a:cs typeface="Times New Roman" panose="02020603050405020304" pitchFamily="18" charset="0"/>
                                <a:sym typeface="Symbol" panose="05050102010706020507" pitchFamily="18" charset="2"/>
                              </a:rPr>
                              <m:t>0</m:t>
                            </m:r>
                          </m:sub>
                        </m:sSub>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−1)</m:t>
                        </m:r>
                      </m:num>
                      <m:den>
                        <m:sSup>
                          <m:sSup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sz="1600" b="0" i="1" smtClean="0">
                                <a:latin typeface="Cambria Math" panose="02040503050406030204" pitchFamily="18" charset="0"/>
                                <a:cs typeface="Times New Roman" panose="02020603050405020304" pitchFamily="18" charset="0"/>
                                <a:sym typeface="Symbol" panose="05050102010706020507" pitchFamily="18" charset="2"/>
                              </a:rPr>
                              <m:t>𝑠𝑖𝑛</m:t>
                            </m:r>
                          </m:e>
                          <m:sup>
                            <m:r>
                              <a:rPr lang="en-US" sz="1600" b="0" i="1" smtClean="0">
                                <a:latin typeface="Cambria Math" panose="02040503050406030204" pitchFamily="18" charset="0"/>
                                <a:cs typeface="Times New Roman" panose="02020603050405020304" pitchFamily="18" charset="0"/>
                                <a:sym typeface="Symbol" panose="05050102010706020507" pitchFamily="18" charset="2"/>
                              </a:rPr>
                              <m:t>2</m:t>
                            </m:r>
                          </m:sup>
                        </m:sSup>
                        <m:sSub>
                          <m:sSub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bPr>
                          <m:e>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e>
                          <m:sub>
                            <m:r>
                              <a:rPr lang="en-US" sz="1600" b="0" i="1" smtClean="0">
                                <a:latin typeface="Cambria Math" panose="02040503050406030204" pitchFamily="18" charset="0"/>
                                <a:cs typeface="Times New Roman" panose="02020603050405020304" pitchFamily="18" charset="0"/>
                                <a:sym typeface="Symbol" panose="05050102010706020507" pitchFamily="18" charset="2"/>
                              </a:rPr>
                              <m:t>0</m:t>
                            </m:r>
                          </m:sub>
                        </m:sSub>
                      </m:den>
                    </m:f>
                  </m:oMath>
                </a14:m>
                <a:endParaRPr lang="en-IN" sz="1600" dirty="0">
                  <a:latin typeface="Times New Roman" panose="02020603050405020304" pitchFamily="18" charset="0"/>
                  <a:cs typeface="Times New Roman" panose="02020603050405020304" pitchFamily="18" charset="0"/>
                  <a:sym typeface="Symbol" panose="05050102010706020507" pitchFamily="18" charset="2"/>
                </a:endParaRPr>
              </a:p>
              <a:p>
                <a:r>
                  <a:rPr lang="en-IN" sz="1600" dirty="0">
                    <a:latin typeface="Times New Roman" panose="02020603050405020304" pitchFamily="18" charset="0"/>
                    <a:cs typeface="Times New Roman" panose="02020603050405020304" pitchFamily="18" charset="0"/>
                    <a:sym typeface="Symbol" panose="05050102010706020507" pitchFamily="18" charset="2"/>
                  </a:rPr>
                  <a:t>We can get the Force and Pressure relation.</a:t>
                </a:r>
              </a:p>
              <a:p>
                <a:endParaRPr lang="en-IN" sz="1600" dirty="0">
                  <a:latin typeface="Times New Roman" panose="02020603050405020304" pitchFamily="18" charset="0"/>
                  <a:cs typeface="Times New Roman" panose="02020603050405020304" pitchFamily="18" charset="0"/>
                  <a:sym typeface="Symbol" panose="05050102010706020507" pitchFamily="18" charset="2"/>
                </a:endParaRPr>
              </a:p>
              <a:p>
                <a:r>
                  <a:rPr lang="en-US" sz="1600" b="1" dirty="0">
                    <a:latin typeface="Times New Roman" panose="02020603050405020304" pitchFamily="18" charset="0"/>
                    <a:cs typeface="Times New Roman" panose="02020603050405020304" pitchFamily="18" charset="0"/>
                  </a:rPr>
                  <a:t>Actuator Parameters For test trial 1:</a:t>
                </a:r>
                <a:endParaRPr lang="en-US" sz="1600"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Length of bladder: 300mm (complete length), 250mm (active length) (we can take any length as the calculation for 0 to infinity)</a:t>
                </a:r>
              </a:p>
              <a:p>
                <a:pPr lvl="0"/>
                <a:r>
                  <a:rPr lang="en-US" sz="16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L = 300mm = 0.3m</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Diameter of bladder: by calculation go </a:t>
                </a:r>
                <a:r>
                  <a:rPr lang="en-US" sz="1600" dirty="0" err="1">
                    <a:latin typeface="Times New Roman" panose="02020603050405020304" pitchFamily="18" charset="0"/>
                    <a:cs typeface="Times New Roman" panose="02020603050405020304" pitchFamily="18" charset="0"/>
                  </a:rPr>
                  <a:t>upto</a:t>
                </a:r>
                <a:r>
                  <a:rPr lang="en-US" sz="1600" dirty="0">
                    <a:latin typeface="Times New Roman" panose="02020603050405020304" pitchFamily="18" charset="0"/>
                    <a:cs typeface="Times New Roman" panose="02020603050405020304" pitchFamily="18" charset="0"/>
                  </a:rPr>
                  <a:t> 60mm diameter, for trial we will go for 40mm</a:t>
                </a:r>
              </a:p>
              <a:p>
                <a:r>
                  <a:rPr lang="en-US" sz="1600" dirty="0">
                    <a:latin typeface="Times New Roman" panose="02020603050405020304" pitchFamily="18" charset="0"/>
                    <a:cs typeface="Times New Roman" panose="02020603050405020304" pitchFamily="18" charset="0"/>
                    <a:sym typeface="Symbol" panose="05050102010706020507" pitchFamily="18" charset="2"/>
                  </a:rPr>
                  <a:t>	</a:t>
                </a:r>
                <a:r>
                  <a:rPr lang="en-US" sz="1600" b="1" dirty="0">
                    <a:latin typeface="Times New Roman" panose="02020603050405020304" pitchFamily="18" charset="0"/>
                    <a:cs typeface="Times New Roman" panose="02020603050405020304" pitchFamily="18" charset="0"/>
                    <a:sym typeface="Symbol" panose="05050102010706020507" pitchFamily="18" charset="2"/>
                  </a:rPr>
                  <a:t>D = 40mm = 0.04m</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sym typeface="Symbol" panose="05050102010706020507" pitchFamily="18" charset="2"/>
                  </a:rPr>
                  <a:t>Contraction factor: </a:t>
                </a:r>
                <a14:m>
                  <m:oMath xmlns:m="http://schemas.openxmlformats.org/officeDocument/2006/math">
                    <m:r>
                      <a:rPr lang="en-US" sz="1600" b="1"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𝜺</m:t>
                    </m:r>
                    <m:r>
                      <a:rPr lang="en-US" sz="1600" b="1"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m:t>
                    </m:r>
                    <m:r>
                      <m:rPr>
                        <m:nor/>
                      </m:rPr>
                      <a:rPr lang="en-IN" sz="1600" b="1" i="1" dirty="0">
                        <a:latin typeface="Times New Roman" panose="02020603050405020304" pitchFamily="18" charset="0"/>
                        <a:cs typeface="Times New Roman" panose="02020603050405020304" pitchFamily="18" charset="0"/>
                        <a:sym typeface="Symbol" panose="05050102010706020507" pitchFamily="18" charset="2"/>
                      </a:rPr>
                      <m:t>0.2 to 0.25</m:t>
                    </m:r>
                  </m:oMath>
                </a14:m>
                <a:endParaRPr lang="en-IN" sz="1600" b="1" i="1" dirty="0">
                  <a:latin typeface="Times New Roman" panose="02020603050405020304" pitchFamily="18" charset="0"/>
                  <a:cs typeface="Times New Roman" panose="02020603050405020304" pitchFamily="18" charset="0"/>
                  <a:sym typeface="Symbol" panose="05050102010706020507" pitchFamily="18" charset="2"/>
                </a:endParaRP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sym typeface="Symbol" panose="05050102010706020507" pitchFamily="18" charset="2"/>
                  </a:rPr>
                  <a:t>Operating Pressure: 0 to 6 bar</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sym typeface="Symbol" panose="05050102010706020507" pitchFamily="18" charset="2"/>
                  </a:rPr>
                  <a:t>Force That required to lift the minimum of 5kg of payload</a:t>
                </a:r>
              </a:p>
              <a:p>
                <a:r>
                  <a:rPr lang="en-IN" sz="1600" dirty="0">
                    <a:latin typeface="Times New Roman" panose="02020603050405020304" pitchFamily="18" charset="0"/>
                    <a:cs typeface="Times New Roman" panose="02020603050405020304" pitchFamily="18" charset="0"/>
                    <a:sym typeface="Symbol" panose="05050102010706020507" pitchFamily="18" charset="2"/>
                  </a:rPr>
                  <a:t>	</a:t>
                </a:r>
                <a:r>
                  <a:rPr lang="en-IN" sz="1600" b="1" dirty="0">
                    <a:latin typeface="Times New Roman" panose="02020603050405020304" pitchFamily="18" charset="0"/>
                    <a:cs typeface="Times New Roman" panose="02020603050405020304" pitchFamily="18" charset="0"/>
                    <a:sym typeface="Symbol" panose="05050102010706020507" pitchFamily="18" charset="2"/>
                  </a:rPr>
                  <a:t>F = 5*9.81 = 49.05 N</a:t>
                </a:r>
              </a:p>
              <a:p>
                <a:pPr lvl="1"/>
                <a:r>
                  <a:rPr lang="en-IN" sz="1600" dirty="0">
                    <a:latin typeface="Times New Roman" panose="02020603050405020304" pitchFamily="18" charset="0"/>
                    <a:cs typeface="Times New Roman" panose="02020603050405020304" pitchFamily="18" charset="0"/>
                    <a:sym typeface="Symbol" panose="05050102010706020507" pitchFamily="18" charset="2"/>
                  </a:rPr>
                  <a:t>So, considering the required force is 10 times of payload,</a:t>
                </a:r>
              </a:p>
              <a:p>
                <a:pPr lvl="1"/>
                <a:r>
                  <a:rPr lang="en-IN" sz="1600" b="1" dirty="0">
                    <a:latin typeface="Times New Roman" panose="02020603050405020304" pitchFamily="18" charset="0"/>
                    <a:cs typeface="Times New Roman" panose="02020603050405020304" pitchFamily="18" charset="0"/>
                    <a:sym typeface="Symbol" panose="05050102010706020507" pitchFamily="18" charset="2"/>
                  </a:rPr>
                  <a:t>F = 10*5*9.81 = 490.5 N</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sym typeface="Symbol" panose="05050102010706020507" pitchFamily="18" charset="2"/>
                  </a:rPr>
                  <a:t>Initial Braid Angle: </a:t>
                </a:r>
                <a:r>
                  <a:rPr lang="en-IN" sz="1600" b="1" dirty="0">
                    <a:latin typeface="Times New Roman" panose="02020603050405020304" pitchFamily="18" charset="0"/>
                    <a:cs typeface="Times New Roman" panose="02020603050405020304" pitchFamily="18" charset="0"/>
                    <a:sym typeface="Symbol" panose="05050102010706020507" pitchFamily="18" charset="2"/>
                  </a:rPr>
                  <a:t></a:t>
                </a:r>
                <a:r>
                  <a:rPr lang="en-IN" sz="1050" b="1" dirty="0">
                    <a:latin typeface="Times New Roman" panose="02020603050405020304" pitchFamily="18" charset="0"/>
                    <a:cs typeface="Times New Roman" panose="02020603050405020304" pitchFamily="18" charset="0"/>
                    <a:sym typeface="Symbol" panose="05050102010706020507" pitchFamily="18" charset="2"/>
                  </a:rPr>
                  <a:t>o </a:t>
                </a:r>
                <a:r>
                  <a:rPr lang="en-IN" sz="1600" b="1" dirty="0">
                    <a:latin typeface="Times New Roman" panose="02020603050405020304" pitchFamily="18" charset="0"/>
                    <a:cs typeface="Times New Roman" panose="02020603050405020304" pitchFamily="18" charset="0"/>
                    <a:sym typeface="Symbol" panose="05050102010706020507" pitchFamily="18" charset="2"/>
                  </a:rPr>
                  <a:t>= 20 to 25 </a:t>
                </a:r>
              </a:p>
              <a:p>
                <a:endParaRPr lang="en-IN" sz="1400" dirty="0">
                  <a:latin typeface="Times New Roman" panose="02020603050405020304" pitchFamily="18" charset="0"/>
                  <a:cs typeface="Times New Roman" panose="02020603050405020304" pitchFamily="18" charset="0"/>
                  <a:sym typeface="Symbol" panose="05050102010706020507" pitchFamily="18" charset="2"/>
                </a:endParaRPr>
              </a:p>
            </p:txBody>
          </p:sp>
        </mc:Choice>
        <mc:Fallback xmlns="">
          <p:sp>
            <p:nvSpPr>
              <p:cNvPr id="4" name="TextBox 3">
                <a:extLst>
                  <a:ext uri="{FF2B5EF4-FFF2-40B4-BE49-F238E27FC236}">
                    <a16:creationId xmlns:a16="http://schemas.microsoft.com/office/drawing/2014/main" id="{C9178E7A-19B5-2D3B-5C12-C52417669B35}"/>
                  </a:ext>
                </a:extLst>
              </p:cNvPr>
              <p:cNvSpPr txBox="1">
                <a:spLocks noRot="1" noChangeAspect="1" noMove="1" noResize="1" noEditPoints="1" noAdjustHandles="1" noChangeArrowheads="1" noChangeShapeType="1" noTextEdit="1"/>
              </p:cNvSpPr>
              <p:nvPr/>
            </p:nvSpPr>
            <p:spPr>
              <a:xfrm>
                <a:off x="1841154" y="1120918"/>
                <a:ext cx="4746232" cy="5615896"/>
              </a:xfrm>
              <a:prstGeom prst="rect">
                <a:avLst/>
              </a:prstGeom>
              <a:blipFill>
                <a:blip r:embed="rId2"/>
                <a:stretch>
                  <a:fillRect l="-642" t="-326"/>
                </a:stretch>
              </a:blipFill>
            </p:spPr>
            <p:txBody>
              <a:bodyPr/>
              <a:lstStyle/>
              <a:p>
                <a:r>
                  <a:rPr lang="en-US">
                    <a:noFill/>
                  </a:rPr>
                  <a:t> </a:t>
                </a:r>
              </a:p>
            </p:txBody>
          </p:sp>
        </mc:Fallback>
      </mc:AlternateContent>
      <p:sp>
        <p:nvSpPr>
          <p:cNvPr id="6" name="Title 1">
            <a:extLst>
              <a:ext uri="{FF2B5EF4-FFF2-40B4-BE49-F238E27FC236}">
                <a16:creationId xmlns:a16="http://schemas.microsoft.com/office/drawing/2014/main" id="{CB370054-6784-27CE-35D5-5E917C527548}"/>
              </a:ext>
            </a:extLst>
          </p:cNvPr>
          <p:cNvSpPr>
            <a:spLocks noGrp="1"/>
          </p:cNvSpPr>
          <p:nvPr>
            <p:ph type="title"/>
          </p:nvPr>
        </p:nvSpPr>
        <p:spPr>
          <a:xfrm>
            <a:off x="1586194" y="605448"/>
            <a:ext cx="10002384" cy="679059"/>
          </a:xfrm>
        </p:spPr>
        <p:txBody>
          <a:bodyPr/>
          <a:lstStyle/>
          <a:p>
            <a:r>
              <a:rPr lang="en-US" dirty="0">
                <a:latin typeface="Times New Roman" panose="02020603050405020304" pitchFamily="18" charset="0"/>
                <a:cs typeface="Times New Roman" panose="02020603050405020304" pitchFamily="18" charset="0"/>
              </a:rPr>
              <a:t>Calculation and Dimensions for McKibben Muscle:</a:t>
            </a:r>
            <a:endParaRPr lang="en-IN"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09B35CC-EDBB-27E7-EB5F-3055576940E8}"/>
                  </a:ext>
                </a:extLst>
              </p:cNvPr>
              <p:cNvSpPr txBox="1"/>
              <p:nvPr/>
            </p:nvSpPr>
            <p:spPr>
              <a:xfrm>
                <a:off x="6714866" y="1204897"/>
                <a:ext cx="4746232" cy="4847353"/>
              </a:xfrm>
              <a:prstGeom prst="rect">
                <a:avLst/>
              </a:prstGeom>
              <a:noFill/>
            </p:spPr>
            <p:txBody>
              <a:bodyPr wrap="square" rtlCol="0">
                <a:spAutoFit/>
              </a:bodyPr>
              <a:lstStyle/>
              <a:p>
                <a:r>
                  <a:rPr lang="en-US" sz="1600" dirty="0">
                    <a:latin typeface="Times New Roman" panose="02020603050405020304" pitchFamily="18" charset="0"/>
                    <a:ea typeface="Cambria Math" panose="02040503050406030204" pitchFamily="18" charset="0"/>
                    <a:cs typeface="Times New Roman" panose="02020603050405020304" pitchFamily="18" charset="0"/>
                    <a:sym typeface="Symbol" panose="05050102010706020507" pitchFamily="18" charset="2"/>
                  </a:rPr>
                  <a:t>After</a:t>
                </a:r>
                <a:r>
                  <a:rPr lang="en-US" sz="1600" b="0" dirty="0">
                    <a:latin typeface="Times New Roman" panose="02020603050405020304" pitchFamily="18" charset="0"/>
                    <a:ea typeface="Cambria Math" panose="02040503050406030204" pitchFamily="18" charset="0"/>
                    <a:cs typeface="Times New Roman" panose="02020603050405020304" pitchFamily="18" charset="0"/>
                    <a:sym typeface="Symbol" panose="05050102010706020507" pitchFamily="18" charset="2"/>
                  </a:rPr>
                  <a:t> using this Formula:</a:t>
                </a:r>
                <a:endParaRPr lang="en-IN" sz="16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	</a:t>
                </a:r>
                <a:r>
                  <a:rPr lang="en-US" sz="1400" b="0" dirty="0">
                    <a:latin typeface="Times New Roman" panose="02020603050405020304" pitchFamily="18" charset="0"/>
                    <a:cs typeface="Times New Roman" panose="02020603050405020304" pitchFamily="18" charset="0"/>
                    <a:sym typeface="Symbol" panose="05050102010706020507" pitchFamily="18" charset="2"/>
                  </a:rPr>
                  <a:t> </a:t>
                </a:r>
                <a14:m>
                  <m:oMath xmlns:m="http://schemas.openxmlformats.org/officeDocument/2006/math">
                    <m:r>
                      <a:rPr lang="en-US" sz="1600" b="0" i="1" smtClean="0">
                        <a:latin typeface="Cambria Math" panose="02040503050406030204" pitchFamily="18" charset="0"/>
                        <a:cs typeface="Times New Roman" panose="02020603050405020304" pitchFamily="18" charset="0"/>
                        <a:sym typeface="Symbol" panose="05050102010706020507" pitchFamily="18" charset="2"/>
                      </a:rPr>
                      <m:t>𝐹</m:t>
                    </m:r>
                    <m:r>
                      <a:rPr lang="en-US" sz="1600"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fPr>
                      <m:num>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𝜋</m:t>
                        </m:r>
                      </m:num>
                      <m:den>
                        <m:r>
                          <a:rPr lang="en-US" sz="1600" b="0" i="1" smtClean="0">
                            <a:latin typeface="Cambria Math" panose="02040503050406030204" pitchFamily="18" charset="0"/>
                            <a:cs typeface="Times New Roman" panose="02020603050405020304" pitchFamily="18" charset="0"/>
                            <a:sym typeface="Symbol" panose="05050102010706020507" pitchFamily="18" charset="2"/>
                          </a:rPr>
                          <m:t>4</m:t>
                        </m:r>
                      </m:den>
                    </m:f>
                    <m:r>
                      <a:rPr lang="en-US" sz="1600" b="0" i="1" smtClean="0">
                        <a:latin typeface="Cambria Math" panose="02040503050406030204" pitchFamily="18" charset="0"/>
                        <a:cs typeface="Times New Roman" panose="02020603050405020304" pitchFamily="18" charset="0"/>
                        <a:sym typeface="Symbol" panose="05050102010706020507" pitchFamily="18" charset="2"/>
                      </a:rPr>
                      <m:t> </m:t>
                    </m:r>
                    <m:sSup>
                      <m:sSup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sz="1600" b="0" i="1" smtClean="0">
                            <a:latin typeface="Cambria Math" panose="02040503050406030204" pitchFamily="18" charset="0"/>
                            <a:cs typeface="Times New Roman" panose="02020603050405020304" pitchFamily="18" charset="0"/>
                            <a:sym typeface="Symbol" panose="05050102010706020507" pitchFamily="18" charset="2"/>
                          </a:rPr>
                          <m:t>𝑃</m:t>
                        </m:r>
                      </m:e>
                      <m:sup>
                        <m:r>
                          <a:rPr lang="en-US" sz="1600" b="0" i="1" smtClean="0">
                            <a:latin typeface="Cambria Math" panose="02040503050406030204" pitchFamily="18" charset="0"/>
                            <a:cs typeface="Times New Roman" panose="02020603050405020304" pitchFamily="18" charset="0"/>
                            <a:sym typeface="Symbol" panose="05050102010706020507" pitchFamily="18" charset="2"/>
                          </a:rPr>
                          <m:t>′</m:t>
                        </m:r>
                      </m:sup>
                    </m:sSup>
                    <m:sSup>
                      <m:sSup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sz="1600" b="0" i="1" smtClean="0">
                            <a:latin typeface="Cambria Math" panose="02040503050406030204" pitchFamily="18" charset="0"/>
                            <a:cs typeface="Times New Roman" panose="02020603050405020304" pitchFamily="18" charset="0"/>
                            <a:sym typeface="Symbol" panose="05050102010706020507" pitchFamily="18" charset="2"/>
                          </a:rPr>
                          <m:t>𝐷</m:t>
                        </m:r>
                      </m:e>
                      <m:sup>
                        <m:r>
                          <a:rPr lang="en-US" sz="1600" b="0" i="1" smtClean="0">
                            <a:latin typeface="Cambria Math" panose="02040503050406030204" pitchFamily="18" charset="0"/>
                            <a:cs typeface="Times New Roman" panose="02020603050405020304" pitchFamily="18" charset="0"/>
                            <a:sym typeface="Symbol" panose="05050102010706020507" pitchFamily="18" charset="2"/>
                          </a:rPr>
                          <m:t>2</m:t>
                        </m:r>
                      </m:sup>
                    </m:sSup>
                    <m:r>
                      <a:rPr lang="en-US" sz="1600" b="0" i="1" smtClean="0">
                        <a:latin typeface="Cambria Math" panose="02040503050406030204" pitchFamily="18" charset="0"/>
                        <a:cs typeface="Times New Roman" panose="02020603050405020304" pitchFamily="18" charset="0"/>
                        <a:sym typeface="Symbol" panose="05050102010706020507" pitchFamily="18" charset="2"/>
                      </a:rPr>
                      <m:t>∗ </m:t>
                    </m:r>
                    <m:f>
                      <m:f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fPr>
                      <m:num>
                        <m:r>
                          <a:rPr lang="en-US" sz="1600" b="0" i="1" smtClean="0">
                            <a:latin typeface="Cambria Math" panose="02040503050406030204" pitchFamily="18" charset="0"/>
                            <a:cs typeface="Times New Roman" panose="02020603050405020304" pitchFamily="18" charset="0"/>
                            <a:sym typeface="Symbol" panose="05050102010706020507" pitchFamily="18" charset="2"/>
                          </a:rPr>
                          <m:t>(3</m:t>
                        </m:r>
                        <m:sSup>
                          <m:sSupPr>
                            <m:ctrlP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pPr>
                          <m:e>
                            <m: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(1−</m:t>
                            </m:r>
                            <m: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𝜀</m:t>
                            </m:r>
                            <m: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m:t>
                            </m:r>
                          </m:e>
                          <m:sup>
                            <m:r>
                              <a:rPr lang="en-US" sz="160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2</m:t>
                            </m:r>
                          </m:sup>
                        </m:sSup>
                        <m:sSub>
                          <m:sSubPr>
                            <m:ctrlPr>
                              <a:rPr lang="en-US" sz="1600" i="1">
                                <a:latin typeface="Cambria Math" panose="02040503050406030204" pitchFamily="18" charset="0"/>
                                <a:cs typeface="Times New Roman" panose="02020603050405020304" pitchFamily="18" charset="0"/>
                                <a:sym typeface="Symbol" panose="05050102010706020507" pitchFamily="18" charset="2"/>
                              </a:rPr>
                            </m:ctrlPr>
                          </m:sSubPr>
                          <m:e>
                            <m:r>
                              <a:rPr lang="en-US" sz="1600" i="1">
                                <a:latin typeface="Cambria Math" panose="02040503050406030204" pitchFamily="18" charset="0"/>
                                <a:cs typeface="Times New Roman" panose="02020603050405020304" pitchFamily="18" charset="0"/>
                                <a:sym typeface="Symbol" panose="05050102010706020507" pitchFamily="18" charset="2"/>
                              </a:rPr>
                              <m:t> ∗ </m:t>
                            </m:r>
                            <m:sSup>
                              <m:sSup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sz="1600" b="0" i="1" smtClean="0">
                                    <a:latin typeface="Cambria Math" panose="02040503050406030204" pitchFamily="18" charset="0"/>
                                    <a:cs typeface="Times New Roman" panose="02020603050405020304" pitchFamily="18" charset="0"/>
                                    <a:sym typeface="Symbol" panose="05050102010706020507" pitchFamily="18" charset="2"/>
                                  </a:rPr>
                                  <m:t>𝑐𝑜𝑠</m:t>
                                </m:r>
                              </m:e>
                              <m:sup>
                                <m:r>
                                  <a:rPr lang="en-US" sz="1600" b="0" i="1" smtClean="0">
                                    <a:latin typeface="Cambria Math" panose="02040503050406030204" pitchFamily="18" charset="0"/>
                                    <a:cs typeface="Times New Roman" panose="02020603050405020304" pitchFamily="18" charset="0"/>
                                    <a:sym typeface="Symbol" panose="05050102010706020507" pitchFamily="18" charset="2"/>
                                  </a:rPr>
                                  <m:t>2</m:t>
                                </m:r>
                              </m:sup>
                            </m:sSup>
                            <m:r>
                              <a:rPr lang="en-US" sz="1600" i="1">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e>
                          <m:sub>
                            <m:r>
                              <a:rPr lang="en-US" sz="1600" i="1">
                                <a:latin typeface="Cambria Math" panose="02040503050406030204" pitchFamily="18" charset="0"/>
                                <a:cs typeface="Times New Roman" panose="02020603050405020304" pitchFamily="18" charset="0"/>
                                <a:sym typeface="Symbol" panose="05050102010706020507" pitchFamily="18" charset="2"/>
                              </a:rPr>
                              <m:t>0</m:t>
                            </m:r>
                          </m:sub>
                        </m:sSub>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−1)</m:t>
                        </m:r>
                      </m:num>
                      <m:den>
                        <m:sSup>
                          <m:sSupPr>
                            <m:ctrlPr>
                              <a:rPr lang="en-US" sz="1600" b="0" i="1" smtClean="0">
                                <a:latin typeface="Cambria Math" panose="02040503050406030204" pitchFamily="18" charset="0"/>
                                <a:cs typeface="Times New Roman" panose="02020603050405020304" pitchFamily="18" charset="0"/>
                                <a:sym typeface="Symbol" panose="05050102010706020507" pitchFamily="18" charset="2"/>
                              </a:rPr>
                            </m:ctrlPr>
                          </m:sSupPr>
                          <m:e>
                            <m:r>
                              <a:rPr lang="en-US" sz="1600" b="0" i="1" smtClean="0">
                                <a:latin typeface="Cambria Math" panose="02040503050406030204" pitchFamily="18" charset="0"/>
                                <a:cs typeface="Times New Roman" panose="02020603050405020304" pitchFamily="18" charset="0"/>
                                <a:sym typeface="Symbol" panose="05050102010706020507" pitchFamily="18" charset="2"/>
                              </a:rPr>
                              <m:t>𝑠𝑖𝑛</m:t>
                            </m:r>
                          </m:e>
                          <m:sup>
                            <m:r>
                              <a:rPr lang="en-US" sz="1600" b="0" i="1" smtClean="0">
                                <a:latin typeface="Cambria Math" panose="02040503050406030204" pitchFamily="18" charset="0"/>
                                <a:cs typeface="Times New Roman" panose="02020603050405020304" pitchFamily="18" charset="0"/>
                                <a:sym typeface="Symbol" panose="05050102010706020507" pitchFamily="18" charset="2"/>
                              </a:rPr>
                              <m:t>2</m:t>
                            </m:r>
                          </m:sup>
                        </m:sSup>
                        <m:sSub>
                          <m:sSub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bPr>
                          <m:e>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e>
                          <m:sub>
                            <m:r>
                              <a:rPr lang="en-US" sz="1600" b="0" i="1" smtClean="0">
                                <a:latin typeface="Cambria Math" panose="02040503050406030204" pitchFamily="18" charset="0"/>
                                <a:cs typeface="Times New Roman" panose="02020603050405020304" pitchFamily="18" charset="0"/>
                                <a:sym typeface="Symbol" panose="05050102010706020507" pitchFamily="18" charset="2"/>
                              </a:rPr>
                              <m:t>0</m:t>
                            </m:r>
                          </m:sub>
                        </m:sSub>
                      </m:den>
                    </m:f>
                  </m:oMath>
                </a14:m>
                <a:endParaRPr lang="en-IN" sz="1600" dirty="0">
                  <a:latin typeface="Times New Roman" panose="02020603050405020304" pitchFamily="18" charset="0"/>
                  <a:cs typeface="Times New Roman" panose="02020603050405020304" pitchFamily="18" charset="0"/>
                  <a:sym typeface="Symbol" panose="05050102010706020507" pitchFamily="18" charset="2"/>
                </a:endParaRPr>
              </a:p>
              <a:p>
                <a:endParaRPr lang="en-IN" sz="1600" dirty="0">
                  <a:latin typeface="Times New Roman" panose="02020603050405020304" pitchFamily="18" charset="0"/>
                  <a:cs typeface="Times New Roman" panose="02020603050405020304" pitchFamily="18" charset="0"/>
                  <a:sym typeface="Symbol" panose="05050102010706020507" pitchFamily="18" charset="2"/>
                </a:endParaRPr>
              </a:p>
              <a:p>
                <a:r>
                  <a:rPr lang="en-IN" sz="1600" dirty="0">
                    <a:latin typeface="Times New Roman" panose="02020603050405020304" pitchFamily="18" charset="0"/>
                    <a:cs typeface="Times New Roman" panose="02020603050405020304" pitchFamily="18" charset="0"/>
                    <a:sym typeface="Symbol" panose="05050102010706020507" pitchFamily="18" charset="2"/>
                  </a:rPr>
                  <a:t>We can determine the pressure value:</a:t>
                </a:r>
              </a:p>
              <a:p>
                <a:r>
                  <a:rPr lang="en-US" sz="1400" dirty="0">
                    <a:latin typeface="Times New Roman" panose="02020603050405020304" pitchFamily="18" charset="0"/>
                    <a:cs typeface="Times New Roman" panose="02020603050405020304" pitchFamily="18" charset="0"/>
                    <a:sym typeface="Symbol" panose="05050102010706020507" pitchFamily="18" charset="2"/>
                  </a:rPr>
                  <a:t>	</a:t>
                </a:r>
                <a14:m>
                  <m:oMath xmlns:m="http://schemas.openxmlformats.org/officeDocument/2006/math">
                    <m:sSup>
                      <m:sSupPr>
                        <m:ctrlPr>
                          <a:rPr lang="en-US" sz="1400" i="1">
                            <a:latin typeface="Cambria Math" panose="02040503050406030204" pitchFamily="18" charset="0"/>
                            <a:cs typeface="Times New Roman" panose="02020603050405020304" pitchFamily="18" charset="0"/>
                            <a:sym typeface="Symbol" panose="05050102010706020507" pitchFamily="18" charset="2"/>
                          </a:rPr>
                        </m:ctrlPr>
                      </m:sSupPr>
                      <m:e>
                        <m:r>
                          <a:rPr lang="en-US" sz="1400" i="1">
                            <a:latin typeface="Cambria Math" panose="02040503050406030204" pitchFamily="18" charset="0"/>
                            <a:cs typeface="Times New Roman" panose="02020603050405020304" pitchFamily="18" charset="0"/>
                            <a:sym typeface="Symbol" panose="05050102010706020507" pitchFamily="18" charset="2"/>
                          </a:rPr>
                          <m:t>𝑃</m:t>
                        </m:r>
                      </m:e>
                      <m:sup>
                        <m:r>
                          <a:rPr lang="en-US" sz="1400" i="1">
                            <a:latin typeface="Cambria Math" panose="02040503050406030204" pitchFamily="18" charset="0"/>
                            <a:cs typeface="Times New Roman" panose="02020603050405020304" pitchFamily="18" charset="0"/>
                            <a:sym typeface="Symbol" panose="05050102010706020507" pitchFamily="18" charset="2"/>
                          </a:rPr>
                          <m:t>′</m:t>
                        </m:r>
                      </m:sup>
                    </m:sSup>
                    <m:r>
                      <a:rPr lang="en-US" sz="1600" i="1">
                        <a:latin typeface="Cambria Math" panose="02040503050406030204" pitchFamily="18" charset="0"/>
                        <a:cs typeface="Times New Roman" panose="02020603050405020304" pitchFamily="18" charset="0"/>
                        <a:sym typeface="Symbol" panose="05050102010706020507" pitchFamily="18" charset="2"/>
                      </a:rPr>
                      <m:t>= </m:t>
                    </m:r>
                    <m:f>
                      <m:f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fPr>
                      <m:num>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𝐹</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∗4∗</m:t>
                        </m:r>
                        <m:sSup>
                          <m:sSup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pPr>
                          <m:e>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𝑠𝑖𝑛</m:t>
                            </m:r>
                          </m:e>
                          <m:sup>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2</m:t>
                            </m:r>
                          </m:sup>
                        </m:sSup>
                        <m:sSub>
                          <m:sSub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bPr>
                          <m:e>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e>
                          <m:sub>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𝑜</m:t>
                            </m:r>
                          </m:sub>
                        </m:sSub>
                      </m:num>
                      <m:den>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𝜋</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m:t>
                        </m:r>
                        <m:sSup>
                          <m:sSup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pPr>
                          <m:e>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𝐷</m:t>
                            </m:r>
                          </m:e>
                          <m:sup>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2</m:t>
                            </m:r>
                          </m:sup>
                        </m:sSup>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m:t>
                        </m:r>
                        <m:d>
                          <m:d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dPr>
                          <m:e>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3</m:t>
                            </m:r>
                            <m:sSup>
                              <m:sSup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pPr>
                              <m:e>
                                <m:d>
                                  <m:d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dPr>
                                  <m:e>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1−</m:t>
                                    </m:r>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𝜖</m:t>
                                    </m:r>
                                  </m:e>
                                </m:d>
                              </m:e>
                              <m:sup>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2</m:t>
                                </m:r>
                              </m:sup>
                            </m:sSup>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m:t>
                            </m:r>
                            <m:sSup>
                              <m:sSup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pPr>
                              <m:e>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𝑐𝑜𝑠</m:t>
                                </m:r>
                              </m:e>
                              <m:sup>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2</m:t>
                                </m:r>
                              </m:sup>
                            </m:sSup>
                            <m:sSub>
                              <m:sSub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bPr>
                              <m:e>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𝜃</m:t>
                                </m:r>
                              </m:e>
                              <m:sub>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𝑜</m:t>
                                </m:r>
                              </m:sub>
                            </m:sSub>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−1</m:t>
                            </m:r>
                          </m:e>
                        </m:d>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m:t>
                        </m:r>
                        <m:sSup>
                          <m:sSupPr>
                            <m:ctrlP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ctrlPr>
                          </m:sSupPr>
                          <m:e>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10</m:t>
                            </m:r>
                          </m:e>
                          <m:sup>
                            <m:r>
                              <a:rPr lang="en-US" sz="1600" b="0" i="1" smtClean="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m:t>5</m:t>
                            </m:r>
                          </m:sup>
                        </m:sSup>
                      </m:den>
                    </m:f>
                  </m:oMath>
                </a14:m>
                <a:endParaRPr lang="en-IN" sz="1600" dirty="0">
                  <a:latin typeface="Times New Roman" panose="02020603050405020304" pitchFamily="18" charset="0"/>
                  <a:cs typeface="Times New Roman" panose="02020603050405020304" pitchFamily="18" charset="0"/>
                  <a:sym typeface="Symbol" panose="05050102010706020507" pitchFamily="18" charset="2"/>
                </a:endParaRPr>
              </a:p>
              <a:p>
                <a:endParaRPr lang="en-IN" sz="1600" dirty="0">
                  <a:latin typeface="Times New Roman" panose="02020603050405020304" pitchFamily="18" charset="0"/>
                  <a:cs typeface="Times New Roman" panose="02020603050405020304" pitchFamily="18" charset="0"/>
                  <a:sym typeface="Symbol" panose="05050102010706020507" pitchFamily="18" charset="2"/>
                </a:endParaRPr>
              </a:p>
              <a:p>
                <a:r>
                  <a:rPr lang="en-IN" sz="1600" dirty="0">
                    <a:latin typeface="Times New Roman" panose="02020603050405020304" pitchFamily="18" charset="0"/>
                    <a:cs typeface="Times New Roman" panose="02020603050405020304" pitchFamily="18" charset="0"/>
                    <a:sym typeface="Symbol" panose="05050102010706020507" pitchFamily="18" charset="2"/>
                  </a:rPr>
                  <a:t>On D = 0.04m, </a:t>
                </a:r>
                <a:r>
                  <a:rPr lang="en-IN" sz="1050" dirty="0">
                    <a:latin typeface="Times New Roman" panose="02020603050405020304" pitchFamily="18" charset="0"/>
                    <a:cs typeface="Times New Roman" panose="02020603050405020304" pitchFamily="18" charset="0"/>
                    <a:sym typeface="Symbol" panose="05050102010706020507" pitchFamily="18" charset="2"/>
                  </a:rPr>
                  <a:t>o </a:t>
                </a:r>
                <a:r>
                  <a:rPr lang="en-IN" sz="1600" dirty="0">
                    <a:latin typeface="Times New Roman" panose="02020603050405020304" pitchFamily="18" charset="0"/>
                    <a:cs typeface="Times New Roman" panose="02020603050405020304" pitchFamily="18" charset="0"/>
                    <a:sym typeface="Symbol" panose="05050102010706020507" pitchFamily="18" charset="2"/>
                  </a:rPr>
                  <a:t>= 20 ,  = 0.2 and F = 490.5 N </a:t>
                </a:r>
              </a:p>
              <a:p>
                <a:pPr lvl="1"/>
                <a:r>
                  <a:rPr lang="en-IN" sz="1600" b="1" u="sng" dirty="0">
                    <a:latin typeface="Times New Roman" panose="02020603050405020304" pitchFamily="18" charset="0"/>
                    <a:cs typeface="Times New Roman" panose="02020603050405020304" pitchFamily="18" charset="0"/>
                    <a:sym typeface="Symbol" panose="05050102010706020507" pitchFamily="18" charset="2"/>
                  </a:rPr>
                  <a:t>P’ = 0.656 bar</a:t>
                </a:r>
              </a:p>
              <a:p>
                <a:r>
                  <a:rPr lang="en-IN" sz="1600" dirty="0">
                    <a:latin typeface="Times New Roman" panose="02020603050405020304" pitchFamily="18" charset="0"/>
                    <a:cs typeface="Times New Roman" panose="02020603050405020304" pitchFamily="18" charset="0"/>
                    <a:sym typeface="Symbol" panose="05050102010706020507" pitchFamily="18" charset="2"/>
                  </a:rPr>
                  <a:t>On D = 0.04m, </a:t>
                </a:r>
                <a:r>
                  <a:rPr lang="en-IN" sz="1050" dirty="0">
                    <a:latin typeface="Times New Roman" panose="02020603050405020304" pitchFamily="18" charset="0"/>
                    <a:cs typeface="Times New Roman" panose="02020603050405020304" pitchFamily="18" charset="0"/>
                    <a:sym typeface="Symbol" panose="05050102010706020507" pitchFamily="18" charset="2"/>
                  </a:rPr>
                  <a:t>o </a:t>
                </a:r>
                <a:r>
                  <a:rPr lang="en-IN" sz="1600" dirty="0">
                    <a:latin typeface="Times New Roman" panose="02020603050405020304" pitchFamily="18" charset="0"/>
                    <a:cs typeface="Times New Roman" panose="02020603050405020304" pitchFamily="18" charset="0"/>
                    <a:sym typeface="Symbol" panose="05050102010706020507" pitchFamily="18" charset="2"/>
                  </a:rPr>
                  <a:t>= 20 ,  = 0.25 and F = 490.5N</a:t>
                </a:r>
              </a:p>
              <a:p>
                <a:pPr lvl="1"/>
                <a:r>
                  <a:rPr lang="en-IN" sz="1600" b="1" u="sng" dirty="0">
                    <a:latin typeface="Times New Roman" panose="02020603050405020304" pitchFamily="18" charset="0"/>
                    <a:cs typeface="Times New Roman" panose="02020603050405020304" pitchFamily="18" charset="0"/>
                    <a:sym typeface="Symbol" panose="05050102010706020507" pitchFamily="18" charset="2"/>
                  </a:rPr>
                  <a:t>P’ = 0.932 bar</a:t>
                </a:r>
              </a:p>
              <a:p>
                <a:r>
                  <a:rPr lang="en-IN" sz="1600" dirty="0">
                    <a:latin typeface="Times New Roman" panose="02020603050405020304" pitchFamily="18" charset="0"/>
                    <a:cs typeface="Times New Roman" panose="02020603050405020304" pitchFamily="18" charset="0"/>
                    <a:sym typeface="Symbol" panose="05050102010706020507" pitchFamily="18" charset="2"/>
                  </a:rPr>
                  <a:t>On D = 0.04m, </a:t>
                </a:r>
                <a:r>
                  <a:rPr lang="en-IN" sz="1050" dirty="0">
                    <a:latin typeface="Times New Roman" panose="02020603050405020304" pitchFamily="18" charset="0"/>
                    <a:cs typeface="Times New Roman" panose="02020603050405020304" pitchFamily="18" charset="0"/>
                    <a:sym typeface="Symbol" panose="05050102010706020507" pitchFamily="18" charset="2"/>
                  </a:rPr>
                  <a:t>o </a:t>
                </a:r>
                <a:r>
                  <a:rPr lang="en-IN" sz="1600" dirty="0">
                    <a:latin typeface="Times New Roman" panose="02020603050405020304" pitchFamily="18" charset="0"/>
                    <a:cs typeface="Times New Roman" panose="02020603050405020304" pitchFamily="18" charset="0"/>
                    <a:sym typeface="Symbol" panose="05050102010706020507" pitchFamily="18" charset="2"/>
                  </a:rPr>
                  <a:t>= 25 ,  = 0.2 and F = 490.5N</a:t>
                </a:r>
              </a:p>
              <a:p>
                <a:pPr lvl="1"/>
                <a:r>
                  <a:rPr lang="en-IN" sz="1600" b="1" u="sng" dirty="0">
                    <a:latin typeface="Times New Roman" panose="02020603050405020304" pitchFamily="18" charset="0"/>
                    <a:cs typeface="Times New Roman" panose="02020603050405020304" pitchFamily="18" charset="0"/>
                    <a:sym typeface="Symbol" panose="05050102010706020507" pitchFamily="18" charset="2"/>
                  </a:rPr>
                  <a:t>P’ = 1.208 bar</a:t>
                </a:r>
              </a:p>
              <a:p>
                <a:r>
                  <a:rPr lang="en-IN" sz="1600" dirty="0">
                    <a:latin typeface="Times New Roman" panose="02020603050405020304" pitchFamily="18" charset="0"/>
                    <a:cs typeface="Times New Roman" panose="02020603050405020304" pitchFamily="18" charset="0"/>
                    <a:sym typeface="Symbol" panose="05050102010706020507" pitchFamily="18" charset="2"/>
                  </a:rPr>
                  <a:t>On D = 0.04m, </a:t>
                </a:r>
                <a:r>
                  <a:rPr lang="en-IN" sz="1050" dirty="0">
                    <a:latin typeface="Times New Roman" panose="02020603050405020304" pitchFamily="18" charset="0"/>
                    <a:cs typeface="Times New Roman" panose="02020603050405020304" pitchFamily="18" charset="0"/>
                    <a:sym typeface="Symbol" panose="05050102010706020507" pitchFamily="18" charset="2"/>
                  </a:rPr>
                  <a:t>o </a:t>
                </a:r>
                <a:r>
                  <a:rPr lang="en-IN" sz="1600" dirty="0">
                    <a:latin typeface="Times New Roman" panose="02020603050405020304" pitchFamily="18" charset="0"/>
                    <a:cs typeface="Times New Roman" panose="02020603050405020304" pitchFamily="18" charset="0"/>
                    <a:sym typeface="Symbol" panose="05050102010706020507" pitchFamily="18" charset="2"/>
                  </a:rPr>
                  <a:t>= 25 ,  = 0.25 and F = 490.5N</a:t>
                </a:r>
              </a:p>
              <a:p>
                <a:pPr lvl="1"/>
                <a:r>
                  <a:rPr lang="en-IN" sz="1600" b="1" u="sng" dirty="0">
                    <a:latin typeface="Times New Roman" panose="02020603050405020304" pitchFamily="18" charset="0"/>
                    <a:cs typeface="Times New Roman" panose="02020603050405020304" pitchFamily="18" charset="0"/>
                    <a:sym typeface="Symbol" panose="05050102010706020507" pitchFamily="18" charset="2"/>
                  </a:rPr>
                  <a:t>P’ = 1.805 bar</a:t>
                </a:r>
              </a:p>
              <a:p>
                <a:pPr lvl="1"/>
                <a:endParaRPr lang="en-IN" sz="1600" b="1" u="sng" dirty="0">
                  <a:latin typeface="Times New Roman" panose="02020603050405020304" pitchFamily="18" charset="0"/>
                  <a:cs typeface="Times New Roman" panose="02020603050405020304" pitchFamily="18" charset="0"/>
                  <a:sym typeface="Symbol" panose="05050102010706020507" pitchFamily="18" charset="2"/>
                </a:endParaRPr>
              </a:p>
              <a:p>
                <a:r>
                  <a:rPr lang="en-IN" sz="1600" dirty="0">
                    <a:latin typeface="Times New Roman" panose="02020603050405020304" pitchFamily="18" charset="0"/>
                    <a:cs typeface="Times New Roman" panose="02020603050405020304" pitchFamily="18" charset="0"/>
                    <a:sym typeface="Symbol" panose="05050102010706020507" pitchFamily="18" charset="2"/>
                  </a:rPr>
                  <a:t>Considering efficiency of 30% of maximum obtained value,</a:t>
                </a:r>
              </a:p>
              <a:p>
                <a:r>
                  <a:rPr lang="en-IN" sz="1600" dirty="0">
                    <a:latin typeface="Times New Roman" panose="02020603050405020304" pitchFamily="18" charset="0"/>
                    <a:cs typeface="Times New Roman" panose="02020603050405020304" pitchFamily="18" charset="0"/>
                    <a:sym typeface="Symbol" panose="05050102010706020507" pitchFamily="18" charset="2"/>
                  </a:rPr>
                  <a:t>	</a:t>
                </a:r>
                <a:r>
                  <a:rPr lang="en-IN" sz="1600" b="1" u="sng" dirty="0" err="1">
                    <a:latin typeface="Times New Roman" panose="02020603050405020304" pitchFamily="18" charset="0"/>
                    <a:cs typeface="Times New Roman" panose="02020603050405020304" pitchFamily="18" charset="0"/>
                    <a:sym typeface="Symbol" panose="05050102010706020507" pitchFamily="18" charset="2"/>
                  </a:rPr>
                  <a:t>P’</a:t>
                </a:r>
                <a:r>
                  <a:rPr lang="en-IN" sz="1200" b="1" u="sng" dirty="0" err="1">
                    <a:latin typeface="Times New Roman" panose="02020603050405020304" pitchFamily="18" charset="0"/>
                    <a:cs typeface="Times New Roman" panose="02020603050405020304" pitchFamily="18" charset="0"/>
                    <a:sym typeface="Symbol" panose="05050102010706020507" pitchFamily="18" charset="2"/>
                  </a:rPr>
                  <a:t>max</a:t>
                </a:r>
                <a:r>
                  <a:rPr lang="en-IN" sz="1600" b="1" u="sng" dirty="0">
                    <a:latin typeface="Times New Roman" panose="02020603050405020304" pitchFamily="18" charset="0"/>
                    <a:cs typeface="Times New Roman" panose="02020603050405020304" pitchFamily="18" charset="0"/>
                    <a:sym typeface="Symbol" panose="05050102010706020507" pitchFamily="18" charset="2"/>
                  </a:rPr>
                  <a:t> = 2.34 bar</a:t>
                </a:r>
              </a:p>
            </p:txBody>
          </p:sp>
        </mc:Choice>
        <mc:Fallback xmlns="">
          <p:sp>
            <p:nvSpPr>
              <p:cNvPr id="8" name="TextBox 7">
                <a:extLst>
                  <a:ext uri="{FF2B5EF4-FFF2-40B4-BE49-F238E27FC236}">
                    <a16:creationId xmlns:a16="http://schemas.microsoft.com/office/drawing/2014/main" id="{D09B35CC-EDBB-27E7-EB5F-3055576940E8}"/>
                  </a:ext>
                </a:extLst>
              </p:cNvPr>
              <p:cNvSpPr txBox="1">
                <a:spLocks noRot="1" noChangeAspect="1" noMove="1" noResize="1" noEditPoints="1" noAdjustHandles="1" noChangeArrowheads="1" noChangeShapeType="1" noTextEdit="1"/>
              </p:cNvSpPr>
              <p:nvPr/>
            </p:nvSpPr>
            <p:spPr>
              <a:xfrm>
                <a:off x="6714866" y="1204897"/>
                <a:ext cx="4746232" cy="4847353"/>
              </a:xfrm>
              <a:prstGeom prst="rect">
                <a:avLst/>
              </a:prstGeom>
              <a:blipFill>
                <a:blip r:embed="rId3"/>
                <a:stretch>
                  <a:fillRect l="-771" t="-377" b="-755"/>
                </a:stretch>
              </a:blipFill>
            </p:spPr>
            <p:txBody>
              <a:bodyPr/>
              <a:lstStyle/>
              <a:p>
                <a:r>
                  <a:rPr lang="en-US">
                    <a:noFill/>
                  </a:rPr>
                  <a:t> </a:t>
                </a:r>
              </a:p>
            </p:txBody>
          </p:sp>
        </mc:Fallback>
      </mc:AlternateContent>
    </p:spTree>
    <p:extLst>
      <p:ext uri="{BB962C8B-B14F-4D97-AF65-F5344CB8AC3E}">
        <p14:creationId xmlns:p14="http://schemas.microsoft.com/office/powerpoint/2010/main" val="1667430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D9840-3334-3B6C-DC1F-CFD61BF8D445}"/>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8E6AEEBD-F451-725C-1E5B-9B1019186886}"/>
              </a:ext>
            </a:extLst>
          </p:cNvPr>
          <p:cNvSpPr>
            <a:spLocks noGrp="1"/>
          </p:cNvSpPr>
          <p:nvPr>
            <p:ph type="title"/>
          </p:nvPr>
        </p:nvSpPr>
        <p:spPr>
          <a:xfrm>
            <a:off x="1586194" y="605448"/>
            <a:ext cx="10002384" cy="679059"/>
          </a:xfrm>
        </p:spPr>
        <p:txBody>
          <a:bodyPr/>
          <a:lstStyle/>
          <a:p>
            <a:r>
              <a:rPr lang="en-US" dirty="0">
                <a:latin typeface="Times New Roman" panose="02020603050405020304" pitchFamily="18" charset="0"/>
                <a:cs typeface="Times New Roman" panose="02020603050405020304" pitchFamily="18" charset="0"/>
              </a:rPr>
              <a:t>CAD Model of McKibben Muscle:</a:t>
            </a:r>
            <a:endParaRPr lang="en-IN"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E12752C3-F17C-5A25-9BC9-B6A6B329F866}"/>
              </a:ext>
            </a:extLst>
          </p:cNvPr>
          <p:cNvPicPr>
            <a:picLocks noChangeAspect="1"/>
          </p:cNvPicPr>
          <p:nvPr/>
        </p:nvPicPr>
        <p:blipFill>
          <a:blip r:embed="rId2"/>
          <a:stretch>
            <a:fillRect/>
          </a:stretch>
        </p:blipFill>
        <p:spPr>
          <a:xfrm>
            <a:off x="2151270" y="1349822"/>
            <a:ext cx="8872232" cy="4457676"/>
          </a:xfrm>
          <a:prstGeom prst="rect">
            <a:avLst/>
          </a:prstGeom>
        </p:spPr>
      </p:pic>
      <p:sp>
        <p:nvSpPr>
          <p:cNvPr id="13" name="TextBox 12">
            <a:extLst>
              <a:ext uri="{FF2B5EF4-FFF2-40B4-BE49-F238E27FC236}">
                <a16:creationId xmlns:a16="http://schemas.microsoft.com/office/drawing/2014/main" id="{F74884D1-25E5-00D8-84C4-8CA6A98AEAE9}"/>
              </a:ext>
            </a:extLst>
          </p:cNvPr>
          <p:cNvSpPr txBox="1"/>
          <p:nvPr/>
        </p:nvSpPr>
        <p:spPr>
          <a:xfrm>
            <a:off x="5131837" y="5807498"/>
            <a:ext cx="3275045"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McKibben Muscle Sheath</a:t>
            </a:r>
          </a:p>
        </p:txBody>
      </p:sp>
    </p:spTree>
    <p:extLst>
      <p:ext uri="{BB962C8B-B14F-4D97-AF65-F5344CB8AC3E}">
        <p14:creationId xmlns:p14="http://schemas.microsoft.com/office/powerpoint/2010/main" val="17214760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8DC0E-4220-BD3A-5A6B-C459CB0ACF70}"/>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145DDD29-685C-BFC0-9E0D-00C69B62DC76}"/>
              </a:ext>
            </a:extLst>
          </p:cNvPr>
          <p:cNvSpPr>
            <a:spLocks noGrp="1"/>
          </p:cNvSpPr>
          <p:nvPr>
            <p:ph type="title"/>
          </p:nvPr>
        </p:nvSpPr>
        <p:spPr>
          <a:xfrm>
            <a:off x="1586194" y="605448"/>
            <a:ext cx="10002384" cy="679059"/>
          </a:xfrm>
        </p:spPr>
        <p:txBody>
          <a:bodyPr/>
          <a:lstStyle/>
          <a:p>
            <a:r>
              <a:rPr lang="en-US" dirty="0">
                <a:latin typeface="Times New Roman" panose="02020603050405020304" pitchFamily="18" charset="0"/>
                <a:cs typeface="Times New Roman" panose="02020603050405020304" pitchFamily="18" charset="0"/>
              </a:rPr>
              <a:t>CAD Model of McKibben Muscle:</a:t>
            </a:r>
            <a:endParaRPr lang="en-IN"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FA7D2687-53D4-408A-BD0D-042F1A4DBBC8}"/>
              </a:ext>
            </a:extLst>
          </p:cNvPr>
          <p:cNvSpPr txBox="1"/>
          <p:nvPr/>
        </p:nvSpPr>
        <p:spPr>
          <a:xfrm>
            <a:off x="5131837" y="5807498"/>
            <a:ext cx="3275045"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McKibben Muscle Bladder</a:t>
            </a:r>
          </a:p>
        </p:txBody>
      </p:sp>
      <p:pic>
        <p:nvPicPr>
          <p:cNvPr id="3" name="Picture 2">
            <a:extLst>
              <a:ext uri="{FF2B5EF4-FFF2-40B4-BE49-F238E27FC236}">
                <a16:creationId xmlns:a16="http://schemas.microsoft.com/office/drawing/2014/main" id="{1BD623F4-931D-A2A0-E142-EBC47B24387E}"/>
              </a:ext>
            </a:extLst>
          </p:cNvPr>
          <p:cNvPicPr>
            <a:picLocks noChangeAspect="1"/>
          </p:cNvPicPr>
          <p:nvPr/>
        </p:nvPicPr>
        <p:blipFill>
          <a:blip r:embed="rId2"/>
          <a:stretch>
            <a:fillRect/>
          </a:stretch>
        </p:blipFill>
        <p:spPr>
          <a:xfrm>
            <a:off x="2130438" y="1309910"/>
            <a:ext cx="8913896" cy="4497588"/>
          </a:xfrm>
          <a:prstGeom prst="rect">
            <a:avLst/>
          </a:prstGeom>
        </p:spPr>
      </p:pic>
    </p:spTree>
    <p:extLst>
      <p:ext uri="{BB962C8B-B14F-4D97-AF65-F5344CB8AC3E}">
        <p14:creationId xmlns:p14="http://schemas.microsoft.com/office/powerpoint/2010/main" val="5984150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A781D-7A70-6D3E-C9E3-ECA0D7A451B0}"/>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316F29FA-99C8-2094-4689-ECE1B8F590F3}"/>
              </a:ext>
            </a:extLst>
          </p:cNvPr>
          <p:cNvSpPr>
            <a:spLocks noGrp="1"/>
          </p:cNvSpPr>
          <p:nvPr>
            <p:ph type="title"/>
          </p:nvPr>
        </p:nvSpPr>
        <p:spPr>
          <a:xfrm>
            <a:off x="1586194" y="605448"/>
            <a:ext cx="10002384" cy="679059"/>
          </a:xfrm>
        </p:spPr>
        <p:txBody>
          <a:bodyPr/>
          <a:lstStyle/>
          <a:p>
            <a:r>
              <a:rPr lang="en-US" dirty="0">
                <a:latin typeface="Times New Roman" panose="02020603050405020304" pitchFamily="18" charset="0"/>
                <a:cs typeface="Times New Roman" panose="02020603050405020304" pitchFamily="18" charset="0"/>
              </a:rPr>
              <a:t>CAD Model of McKibben Muscle:</a:t>
            </a:r>
            <a:endParaRPr lang="en-IN"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7AC011DE-92AA-ACCC-3AEB-0B957ADB4714}"/>
              </a:ext>
            </a:extLst>
          </p:cNvPr>
          <p:cNvSpPr txBox="1"/>
          <p:nvPr/>
        </p:nvSpPr>
        <p:spPr>
          <a:xfrm>
            <a:off x="5131837" y="5807498"/>
            <a:ext cx="3275045"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McKibben Muscle Assembly</a:t>
            </a:r>
          </a:p>
        </p:txBody>
      </p:sp>
      <p:pic>
        <p:nvPicPr>
          <p:cNvPr id="4" name="Picture 3">
            <a:extLst>
              <a:ext uri="{FF2B5EF4-FFF2-40B4-BE49-F238E27FC236}">
                <a16:creationId xmlns:a16="http://schemas.microsoft.com/office/drawing/2014/main" id="{B48825CB-B6D2-0B2D-4E4E-324FCDEF6F37}"/>
              </a:ext>
            </a:extLst>
          </p:cNvPr>
          <p:cNvPicPr>
            <a:picLocks noChangeAspect="1"/>
          </p:cNvPicPr>
          <p:nvPr/>
        </p:nvPicPr>
        <p:blipFill>
          <a:blip r:embed="rId2"/>
          <a:stretch>
            <a:fillRect/>
          </a:stretch>
        </p:blipFill>
        <p:spPr>
          <a:xfrm>
            <a:off x="2155371" y="1284507"/>
            <a:ext cx="9227976" cy="4512792"/>
          </a:xfrm>
          <a:prstGeom prst="rect">
            <a:avLst/>
          </a:prstGeom>
        </p:spPr>
      </p:pic>
    </p:spTree>
    <p:extLst>
      <p:ext uri="{BB962C8B-B14F-4D97-AF65-F5344CB8AC3E}">
        <p14:creationId xmlns:p14="http://schemas.microsoft.com/office/powerpoint/2010/main" val="26944854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FC13A-4896-7353-675E-B4E9BB8D6253}"/>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7D4FB184-81D2-8061-ECDD-5D70B6AC564D}"/>
              </a:ext>
            </a:extLst>
          </p:cNvPr>
          <p:cNvSpPr>
            <a:spLocks noGrp="1"/>
          </p:cNvSpPr>
          <p:nvPr>
            <p:ph type="title"/>
          </p:nvPr>
        </p:nvSpPr>
        <p:spPr>
          <a:xfrm>
            <a:off x="1586194" y="605448"/>
            <a:ext cx="10002384" cy="679059"/>
          </a:xfrm>
        </p:spPr>
        <p:txBody>
          <a:bodyPr/>
          <a:lstStyle/>
          <a:p>
            <a:r>
              <a:rPr lang="en-US" dirty="0">
                <a:latin typeface="Times New Roman" panose="02020603050405020304" pitchFamily="18" charset="0"/>
                <a:cs typeface="Times New Roman" panose="02020603050405020304" pitchFamily="18" charset="0"/>
              </a:rPr>
              <a:t>CAD Model of McKibben Muscle:</a:t>
            </a:r>
            <a:endParaRPr lang="en-IN"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5C30EAA7-706C-4666-7C79-74F5FB4A527A}"/>
              </a:ext>
            </a:extLst>
          </p:cNvPr>
          <p:cNvSpPr txBox="1"/>
          <p:nvPr/>
        </p:nvSpPr>
        <p:spPr>
          <a:xfrm>
            <a:off x="6989306" y="1284507"/>
            <a:ext cx="4963218" cy="2862322"/>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Kind of assembly we have to make:</a:t>
            </a:r>
          </a:p>
          <a:p>
            <a:pPr lvl="1"/>
            <a:r>
              <a:rPr lang="en-US" dirty="0">
                <a:latin typeface="Times New Roman" panose="02020603050405020304" pitchFamily="18" charset="0"/>
                <a:cs typeface="Times New Roman" panose="02020603050405020304" pitchFamily="18" charset="0"/>
              </a:rPr>
              <a:t>Like mostly of Biceps and triceps, using hydraulic (Water/Oil) as a working fluid for actuate the muscle.</a:t>
            </a:r>
          </a:p>
          <a:p>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Hence forth the mechanism and hydraulic power pack we have to design requiring for this actuator.</a:t>
            </a:r>
          </a:p>
          <a:p>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And enabling it’s SDOF lifting.</a:t>
            </a:r>
          </a:p>
        </p:txBody>
      </p:sp>
      <p:pic>
        <p:nvPicPr>
          <p:cNvPr id="3" name="Picture 2">
            <a:extLst>
              <a:ext uri="{FF2B5EF4-FFF2-40B4-BE49-F238E27FC236}">
                <a16:creationId xmlns:a16="http://schemas.microsoft.com/office/drawing/2014/main" id="{A3A9A107-C815-5EEE-08DC-8A0284912B7A}"/>
              </a:ext>
            </a:extLst>
          </p:cNvPr>
          <p:cNvPicPr>
            <a:picLocks noChangeAspect="1"/>
          </p:cNvPicPr>
          <p:nvPr/>
        </p:nvPicPr>
        <p:blipFill>
          <a:blip r:embed="rId2"/>
          <a:stretch>
            <a:fillRect/>
          </a:stretch>
        </p:blipFill>
        <p:spPr>
          <a:xfrm>
            <a:off x="1806141" y="1284507"/>
            <a:ext cx="4963218" cy="3562847"/>
          </a:xfrm>
          <a:prstGeom prst="rect">
            <a:avLst/>
          </a:prstGeom>
        </p:spPr>
      </p:pic>
    </p:spTree>
    <p:extLst>
      <p:ext uri="{BB962C8B-B14F-4D97-AF65-F5344CB8AC3E}">
        <p14:creationId xmlns:p14="http://schemas.microsoft.com/office/powerpoint/2010/main" val="12481845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7DEEA-1C9C-E047-7B42-BEF089823EBD}"/>
              </a:ext>
            </a:extLst>
          </p:cNvPr>
          <p:cNvSpPr>
            <a:spLocks noGrp="1"/>
          </p:cNvSpPr>
          <p:nvPr>
            <p:ph type="title"/>
          </p:nvPr>
        </p:nvSpPr>
        <p:spPr/>
        <p:txBody>
          <a:bodyPr/>
          <a:lstStyle/>
          <a:p>
            <a:r>
              <a:rPr lang="en-US" dirty="0"/>
              <a:t>Further Updates are to be done:</a:t>
            </a:r>
            <a:endParaRPr lang="en-IN" dirty="0"/>
          </a:p>
        </p:txBody>
      </p:sp>
      <p:sp>
        <p:nvSpPr>
          <p:cNvPr id="3" name="Content Placeholder 2">
            <a:extLst>
              <a:ext uri="{FF2B5EF4-FFF2-40B4-BE49-F238E27FC236}">
                <a16:creationId xmlns:a16="http://schemas.microsoft.com/office/drawing/2014/main" id="{4803B988-4A13-C509-0063-63CEE1D585FC}"/>
              </a:ext>
            </a:extLst>
          </p:cNvPr>
          <p:cNvSpPr>
            <a:spLocks noGrp="1"/>
          </p:cNvSpPr>
          <p:nvPr>
            <p:ph idx="1"/>
          </p:nvPr>
        </p:nvSpPr>
        <p:spPr>
          <a:xfrm>
            <a:off x="1848433" y="2689190"/>
            <a:ext cx="8915400" cy="1280890"/>
          </a:xfrm>
        </p:spPr>
        <p:txBody>
          <a:bodyPr>
            <a:normAutofit/>
          </a:bodyPr>
          <a:lstStyle/>
          <a:p>
            <a:pPr marL="0" indent="0" algn="ctr">
              <a:buNone/>
            </a:pPr>
            <a:r>
              <a:rPr lang="en-US" sz="6600" dirty="0"/>
              <a:t>Thank You </a:t>
            </a:r>
            <a:endParaRPr lang="en-IN" sz="6600" dirty="0"/>
          </a:p>
        </p:txBody>
      </p:sp>
    </p:spTree>
    <p:extLst>
      <p:ext uri="{BB962C8B-B14F-4D97-AF65-F5344CB8AC3E}">
        <p14:creationId xmlns:p14="http://schemas.microsoft.com/office/powerpoint/2010/main" val="17017658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Wisp">
  <a:themeElements>
    <a:clrScheme name="Wisp">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docProps/app.xml><?xml version="1.0" encoding="utf-8"?>
<Properties xmlns="http://schemas.openxmlformats.org/officeDocument/2006/extended-properties" xmlns:vt="http://schemas.openxmlformats.org/officeDocument/2006/docPropsVTypes">
  <Template>Wisp</Template>
  <TotalTime>834</TotalTime>
  <Words>2527</Words>
  <Application>Microsoft Office PowerPoint</Application>
  <PresentationFormat>Widescreen</PresentationFormat>
  <Paragraphs>255</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Cambria Math</vt:lpstr>
      <vt:lpstr>Century Gothic</vt:lpstr>
      <vt:lpstr>Times New Roman</vt:lpstr>
      <vt:lpstr>Wingdings 3</vt:lpstr>
      <vt:lpstr>Wisp</vt:lpstr>
      <vt:lpstr>DESIGN AND DEVELOPMENT OF HYDRAULIC SOFT ACTUATOR FOR SDOF</vt:lpstr>
      <vt:lpstr>The Work That I did Recently:</vt:lpstr>
      <vt:lpstr>Introduction:</vt:lpstr>
      <vt:lpstr>Problem Statement:</vt:lpstr>
      <vt:lpstr>Literature Survey:</vt:lpstr>
      <vt:lpstr>Literature Survey:</vt:lpstr>
      <vt:lpstr>Literature Survey:</vt:lpstr>
      <vt:lpstr>Literature Survey:</vt:lpstr>
      <vt:lpstr>Literature Survey:</vt:lpstr>
      <vt:lpstr>Literature Survey:</vt:lpstr>
      <vt:lpstr>Literature Survey:</vt:lpstr>
      <vt:lpstr>Derivation For Pressure and Force Relation:</vt:lpstr>
      <vt:lpstr>Derivation For Pressure and Force Relation:</vt:lpstr>
      <vt:lpstr>Derivation For Pressure and Force Relation:</vt:lpstr>
      <vt:lpstr>Derivation For Pressure and Force Relation:</vt:lpstr>
      <vt:lpstr>PowerPoint Presentation</vt:lpstr>
      <vt:lpstr>Calculation and Dimensions for McKibben Muscle:</vt:lpstr>
      <vt:lpstr>CAD Model of McKibben Muscle:</vt:lpstr>
      <vt:lpstr>CAD Model of McKibben Muscle:</vt:lpstr>
      <vt:lpstr>CAD Model of McKibben Muscle:</vt:lpstr>
      <vt:lpstr>CAD Model of McKibben Muscle:</vt:lpstr>
      <vt:lpstr>Further Updates are to be done: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HYDRAULIC SOFT ACTUATOR</dc:title>
  <dc:creator>SHIVDAS PRASAD SHANKAR</dc:creator>
  <cp:lastModifiedBy>Suraj Varma</cp:lastModifiedBy>
  <cp:revision>30</cp:revision>
  <dcterms:created xsi:type="dcterms:W3CDTF">2026-08-07T06:11:39Z</dcterms:created>
  <dcterms:modified xsi:type="dcterms:W3CDTF">2026-08-24T18:16:48Z</dcterms:modified>
</cp:coreProperties>
</file>