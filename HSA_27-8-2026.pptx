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1" r:id="rId3"/>
    <p:sldId id="286" r:id="rId4"/>
    <p:sldId id="258" r:id="rId5"/>
    <p:sldId id="257" r:id="rId6"/>
    <p:sldId id="283" r:id="rId7"/>
    <p:sldId id="284" r:id="rId8"/>
    <p:sldId id="285" r:id="rId9"/>
    <p:sldId id="259" r:id="rId10"/>
    <p:sldId id="260" r:id="rId11"/>
    <p:sldId id="261" r:id="rId12"/>
    <p:sldId id="262" r:id="rId13"/>
    <p:sldId id="263" r:id="rId14"/>
    <p:sldId id="264" r:id="rId15"/>
    <p:sldId id="276" r:id="rId16"/>
    <p:sldId id="266" r:id="rId17"/>
    <p:sldId id="282" r:id="rId18"/>
    <p:sldId id="277" r:id="rId19"/>
    <p:sldId id="278" r:id="rId20"/>
    <p:sldId id="279" r:id="rId21"/>
    <p:sldId id="280"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2" d="100"/>
          <a:sy n="82" d="100"/>
        </p:scale>
        <p:origin x="7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8/26/2026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764" y="3715809"/>
            <a:ext cx="8934093" cy="1590872"/>
          </a:xfrm>
        </p:spPr>
        <p:txBody>
          <a:bodyPr anchor="t">
            <a:normAutofit fontScale="90000"/>
          </a:bodyPr>
          <a:lstStyle/>
          <a:p>
            <a:r>
              <a:rPr lang="en-US" dirty="0">
                <a:latin typeface="Times New Roman" panose="02020603050405020304" pitchFamily="18" charset="0"/>
                <a:cs typeface="Times New Roman" panose="02020603050405020304" pitchFamily="18" charset="0"/>
              </a:rPr>
              <a:t>Design And Development Of Hydraulic Soft Actuator For SDOF</a:t>
            </a:r>
            <a:endParaRPr lang="en-IN"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968520" y="5216021"/>
            <a:ext cx="5565741" cy="1436809"/>
          </a:xfrm>
        </p:spPr>
        <p:txBody>
          <a:bodyPr>
            <a:normAutofit lnSpcReduction="10000"/>
          </a:bodyPr>
          <a:lstStyle/>
          <a:p>
            <a:r>
              <a:rPr lang="en-US" sz="1600" dirty="0">
                <a:latin typeface="Times New Roman" panose="02020603050405020304" pitchFamily="18" charset="0"/>
                <a:cs typeface="Times New Roman" panose="02020603050405020304" pitchFamily="18" charset="0"/>
              </a:rPr>
              <a:t>Name: Suraj Santram Varma </a:t>
            </a:r>
          </a:p>
          <a:p>
            <a:r>
              <a:rPr lang="en-US" sz="1600" dirty="0">
                <a:latin typeface="Times New Roman" panose="02020603050405020304" pitchFamily="18" charset="0"/>
                <a:cs typeface="Times New Roman" panose="02020603050405020304" pitchFamily="18" charset="0"/>
              </a:rPr>
              <a:t>Student Intern at ATRC</a:t>
            </a:r>
          </a:p>
          <a:p>
            <a:r>
              <a:rPr lang="en-US" sz="1600" dirty="0">
                <a:latin typeface="Times New Roman" panose="02020603050405020304" pitchFamily="18" charset="0"/>
                <a:cs typeface="Times New Roman" panose="02020603050405020304" pitchFamily="18" charset="0"/>
              </a:rPr>
              <a:t>Guide: Mr. </a:t>
            </a:r>
            <a:r>
              <a:rPr lang="en-US" sz="1600" dirty="0" err="1">
                <a:latin typeface="Times New Roman" panose="02020603050405020304" pitchFamily="18" charset="0"/>
                <a:cs typeface="Times New Roman" panose="02020603050405020304" pitchFamily="18" charset="0"/>
              </a:rPr>
              <a:t>Shivdas</a:t>
            </a:r>
            <a:r>
              <a:rPr lang="en-US" sz="1600" dirty="0">
                <a:latin typeface="Times New Roman" panose="02020603050405020304" pitchFamily="18" charset="0"/>
                <a:cs typeface="Times New Roman" panose="02020603050405020304" pitchFamily="18" charset="0"/>
              </a:rPr>
              <a:t> Prasad (Sc. E)</a:t>
            </a:r>
          </a:p>
          <a:p>
            <a:r>
              <a:rPr lang="en-US" sz="1600" dirty="0">
                <a:latin typeface="Times New Roman" panose="02020603050405020304" pitchFamily="18" charset="0"/>
                <a:cs typeface="Times New Roman" panose="02020603050405020304" pitchFamily="18" charset="0"/>
              </a:rPr>
              <a:t>R&amp;DE (</a:t>
            </a:r>
            <a:r>
              <a:rPr lang="en-US" sz="1600" dirty="0" err="1">
                <a:latin typeface="Times New Roman" panose="02020603050405020304" pitchFamily="18" charset="0"/>
                <a:cs typeface="Times New Roman" panose="02020603050405020304" pitchFamily="18" charset="0"/>
              </a:rPr>
              <a:t>Engrs</a:t>
            </a:r>
            <a:r>
              <a:rPr lang="en-US" sz="1600" dirty="0">
                <a:latin typeface="Times New Roman" panose="02020603050405020304" pitchFamily="18" charset="0"/>
                <a:cs typeface="Times New Roman" panose="02020603050405020304" pitchFamily="18" charset="0"/>
              </a:rPr>
              <a:t>), DRDO, Pune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05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38446-D590-5B3A-DC9F-3EE64830016B}"/>
              </a:ext>
            </a:extLst>
          </p:cNvPr>
          <p:cNvSpPr>
            <a:spLocks noGrp="1"/>
          </p:cNvSpPr>
          <p:nvPr>
            <p:ph type="title"/>
          </p:nvPr>
        </p:nvSpPr>
        <p:spPr>
          <a:xfrm>
            <a:off x="1790490" y="624110"/>
            <a:ext cx="9452898" cy="626192"/>
          </a:xfrm>
        </p:spPr>
        <p:txBody>
          <a:bodyPr>
            <a:normAutofit fontScale="90000"/>
          </a:bodyPr>
          <a:lstStyle/>
          <a:p>
            <a:r>
              <a:rPr lang="en-US" dirty="0">
                <a:latin typeface="Times New Roman" panose="02020603050405020304" pitchFamily="18" charset="0"/>
                <a:cs typeface="Times New Roman" panose="02020603050405020304" pitchFamily="18" charset="0"/>
              </a:rPr>
              <a:t>Assigned</a:t>
            </a:r>
            <a:r>
              <a:rPr lang="en-IN" dirty="0">
                <a:latin typeface="Times New Roman" panose="02020603050405020304" pitchFamily="18" charset="0"/>
                <a:cs typeface="Times New Roman" panose="02020603050405020304" pitchFamily="18" charset="0"/>
              </a:rPr>
              <a:t> work</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internship Period:</a:t>
            </a:r>
          </a:p>
        </p:txBody>
      </p:sp>
      <p:sp>
        <p:nvSpPr>
          <p:cNvPr id="3" name="Content Placeholder 2">
            <a:extLst>
              <a:ext uri="{FF2B5EF4-FFF2-40B4-BE49-F238E27FC236}">
                <a16:creationId xmlns:a16="http://schemas.microsoft.com/office/drawing/2014/main" id="{9A1D186D-9B76-9AD3-042E-079103E53C41}"/>
              </a:ext>
            </a:extLst>
          </p:cNvPr>
          <p:cNvSpPr>
            <a:spLocks noGrp="1"/>
          </p:cNvSpPr>
          <p:nvPr>
            <p:ph idx="1"/>
          </p:nvPr>
        </p:nvSpPr>
        <p:spPr>
          <a:xfrm>
            <a:off x="2262637" y="1306280"/>
            <a:ext cx="9176694" cy="4660920"/>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Design of Hydraulic Soft Actuator (HSA) for SDOF arm.</a:t>
            </a:r>
          </a:p>
          <a:p>
            <a:pPr marL="0" indent="0" algn="just">
              <a:buNone/>
            </a:pPr>
            <a:r>
              <a:rPr lang="en-US" b="1" dirty="0">
                <a:latin typeface="Times New Roman" panose="02020603050405020304" pitchFamily="18" charset="0"/>
                <a:cs typeface="Times New Roman" panose="02020603050405020304" pitchFamily="18" charset="0"/>
              </a:rPr>
              <a:t>Duration: </a:t>
            </a:r>
            <a:r>
              <a:rPr lang="en-US" dirty="0">
                <a:latin typeface="Times New Roman" panose="02020603050405020304" pitchFamily="18" charset="0"/>
                <a:cs typeface="Times New Roman" panose="02020603050405020304" pitchFamily="18" charset="0"/>
              </a:rPr>
              <a:t>Six Months</a:t>
            </a:r>
          </a:p>
          <a:p>
            <a:pPr marL="0" indent="0" algn="just">
              <a:buNone/>
            </a:pPr>
            <a:r>
              <a:rPr lang="en-US" b="1" dirty="0">
                <a:latin typeface="Times New Roman" panose="02020603050405020304" pitchFamily="18" charset="0"/>
                <a:cs typeface="Times New Roman" panose="02020603050405020304" pitchFamily="18" charset="0"/>
              </a:rPr>
              <a:t>Tasks:</a:t>
            </a:r>
          </a:p>
          <a:p>
            <a:pPr lvl="1" algn="just">
              <a:buFont typeface="+mj-lt"/>
              <a:buAutoNum type="arabicPeriod"/>
            </a:pPr>
            <a:r>
              <a:rPr lang="en-US" dirty="0">
                <a:latin typeface="Times New Roman" panose="02020603050405020304" pitchFamily="18" charset="0"/>
                <a:cs typeface="Times New Roman" panose="02020603050405020304" pitchFamily="18" charset="0"/>
              </a:rPr>
              <a:t>Literature Survey</a:t>
            </a:r>
          </a:p>
          <a:p>
            <a:pPr lvl="1" algn="just">
              <a:buFont typeface="+mj-lt"/>
              <a:buAutoNum type="arabicPeriod"/>
            </a:pPr>
            <a:r>
              <a:rPr lang="en-US" dirty="0">
                <a:latin typeface="Times New Roman" panose="02020603050405020304" pitchFamily="18" charset="0"/>
                <a:cs typeface="Times New Roman" panose="02020603050405020304" pitchFamily="18" charset="0"/>
              </a:rPr>
              <a:t>Selection of Configuration for HSA</a:t>
            </a:r>
          </a:p>
          <a:p>
            <a:pPr lvl="1" algn="just">
              <a:buFont typeface="+mj-lt"/>
              <a:buAutoNum type="arabicPeriod"/>
            </a:pPr>
            <a:r>
              <a:rPr lang="en-US" dirty="0">
                <a:latin typeface="Times New Roman" panose="02020603050405020304" pitchFamily="18" charset="0"/>
                <a:cs typeface="Times New Roman" panose="02020603050405020304" pitchFamily="18" charset="0"/>
              </a:rPr>
              <a:t>Design of key parameters for HSA like: diameter, internal pressure, open length, close length, etc.</a:t>
            </a:r>
          </a:p>
          <a:p>
            <a:pPr lvl="1" algn="just">
              <a:buFont typeface="+mj-lt"/>
              <a:buAutoNum type="arabicPeriod"/>
            </a:pPr>
            <a:r>
              <a:rPr lang="en-US" dirty="0">
                <a:latin typeface="Times New Roman" panose="02020603050405020304" pitchFamily="18" charset="0"/>
                <a:cs typeface="Times New Roman" panose="02020603050405020304" pitchFamily="18" charset="0"/>
              </a:rPr>
              <a:t>FEA/FEM simulation</a:t>
            </a:r>
          </a:p>
          <a:p>
            <a:pPr lvl="1" algn="just">
              <a:buFont typeface="+mj-lt"/>
              <a:buAutoNum type="arabicPeriod"/>
            </a:pPr>
            <a:r>
              <a:rPr lang="en-US" dirty="0">
                <a:latin typeface="Times New Roman" panose="02020603050405020304" pitchFamily="18" charset="0"/>
                <a:cs typeface="Times New Roman" panose="02020603050405020304" pitchFamily="18" charset="0"/>
              </a:rPr>
              <a:t>Prototype development (Possible)</a:t>
            </a:r>
          </a:p>
          <a:p>
            <a:pPr lvl="1" algn="just">
              <a:buFont typeface="+mj-lt"/>
              <a:buAutoNum type="arabicPeriod"/>
            </a:pPr>
            <a:r>
              <a:rPr lang="en-US" dirty="0">
                <a:latin typeface="Times New Roman" panose="02020603050405020304" pitchFamily="18" charset="0"/>
                <a:cs typeface="Times New Roman" panose="02020603050405020304" pitchFamily="18" charset="0"/>
              </a:rPr>
              <a:t>Report generation</a:t>
            </a:r>
          </a:p>
        </p:txBody>
      </p:sp>
    </p:spTree>
    <p:extLst>
      <p:ext uri="{BB962C8B-B14F-4D97-AF65-F5344CB8AC3E}">
        <p14:creationId xmlns:p14="http://schemas.microsoft.com/office/powerpoint/2010/main" val="385126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5EB4A-3790-A464-D899-EC87EEFC6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1482D-1AC2-B88C-E2FF-D6C33E8A1422}"/>
              </a:ext>
            </a:extLst>
          </p:cNvPr>
          <p:cNvSpPr>
            <a:spLocks noGrp="1"/>
          </p:cNvSpPr>
          <p:nvPr>
            <p:ph type="title"/>
          </p:nvPr>
        </p:nvSpPr>
        <p:spPr>
          <a:xfrm>
            <a:off x="1790490" y="624110"/>
            <a:ext cx="8911687" cy="626192"/>
          </a:xfrm>
        </p:spPr>
        <p:txBody>
          <a:bodyPr>
            <a:normAutofit fontScale="90000"/>
          </a:bodyPr>
          <a:lstStyle/>
          <a:p>
            <a:r>
              <a:rPr lang="en-US" dirty="0">
                <a:latin typeface="Times New Roman" panose="02020603050405020304" pitchFamily="18" charset="0"/>
                <a:cs typeface="Times New Roman" panose="02020603050405020304" pitchFamily="18" charset="0"/>
              </a:rPr>
              <a:t>The Work That I did Recently:</a:t>
            </a:r>
          </a:p>
        </p:txBody>
      </p:sp>
      <p:sp>
        <p:nvSpPr>
          <p:cNvPr id="3" name="Content Placeholder 2">
            <a:extLst>
              <a:ext uri="{FF2B5EF4-FFF2-40B4-BE49-F238E27FC236}">
                <a16:creationId xmlns:a16="http://schemas.microsoft.com/office/drawing/2014/main" id="{98C186BC-1950-6489-9756-9272B0969566}"/>
              </a:ext>
            </a:extLst>
          </p:cNvPr>
          <p:cNvSpPr>
            <a:spLocks noGrp="1"/>
          </p:cNvSpPr>
          <p:nvPr>
            <p:ph idx="1"/>
          </p:nvPr>
        </p:nvSpPr>
        <p:spPr>
          <a:xfrm>
            <a:off x="2262637" y="1175653"/>
            <a:ext cx="9176694" cy="5150501"/>
          </a:xfrm>
        </p:spPr>
        <p:txBody>
          <a:bodyPr>
            <a:normAutofit/>
          </a:body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Introduction: Introduce to problem statement and normal Introduction</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Literature Survey: Concept of Hydraulic Soft Actuator (HSA) and finding the research gap</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Derivation: Derived the Formula for Pressure – Force Relationship, rather than relying on the given Formula in the research paper.</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Calculation: Calculated the required pressure for lifting the </a:t>
            </a:r>
            <a:r>
              <a:rPr lang="en-US" sz="1600" dirty="0" err="1">
                <a:latin typeface="Times New Roman" panose="02020603050405020304" pitchFamily="18" charset="0"/>
                <a:cs typeface="Times New Roman" panose="02020603050405020304" pitchFamily="18" charset="0"/>
              </a:rPr>
              <a:t>atleast</a:t>
            </a:r>
            <a:r>
              <a:rPr lang="en-US" sz="1600" dirty="0">
                <a:latin typeface="Times New Roman" panose="02020603050405020304" pitchFamily="18" charset="0"/>
                <a:cs typeface="Times New Roman" panose="02020603050405020304" pitchFamily="18" charset="0"/>
              </a:rPr>
              <a:t> of 5kg of payload and also by the maximum pressure calculated the force value.</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CAD Model: Designed the 3D CAD Model of Actuator</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The Part I have to do after this:</a:t>
            </a:r>
          </a:p>
          <a:p>
            <a:pPr marL="800100" lvl="1" indent="-342900" algn="just">
              <a:buFont typeface="+mj-lt"/>
              <a:buAutoNum type="arabicPeriod"/>
            </a:pPr>
            <a:r>
              <a:rPr lang="en-US" dirty="0">
                <a:latin typeface="Times New Roman" panose="02020603050405020304" pitchFamily="18" charset="0"/>
                <a:cs typeface="Times New Roman" panose="02020603050405020304" pitchFamily="18" charset="0"/>
              </a:rPr>
              <a:t>ANSYS Simulation</a:t>
            </a:r>
          </a:p>
          <a:p>
            <a:pPr marL="800100" lvl="1" indent="-342900" algn="just">
              <a:buFont typeface="+mj-lt"/>
              <a:buAutoNum type="arabicPeriod"/>
            </a:pPr>
            <a:r>
              <a:rPr lang="en-US" dirty="0">
                <a:latin typeface="Times New Roman" panose="02020603050405020304" pitchFamily="18" charset="0"/>
                <a:cs typeface="Times New Roman" panose="02020603050405020304" pitchFamily="18" charset="0"/>
              </a:rPr>
              <a:t>Kinematic Simulation</a:t>
            </a:r>
          </a:p>
          <a:p>
            <a:pPr marL="800100" lvl="1" indent="-342900" algn="just">
              <a:buFont typeface="+mj-lt"/>
              <a:buAutoNum type="arabicPeriod"/>
            </a:pPr>
            <a:r>
              <a:rPr lang="en-US" dirty="0">
                <a:latin typeface="Times New Roman" panose="02020603050405020304" pitchFamily="18" charset="0"/>
                <a:cs typeface="Times New Roman" panose="02020603050405020304" pitchFamily="18" charset="0"/>
              </a:rPr>
              <a:t>Designing of Test Setup </a:t>
            </a:r>
          </a:p>
          <a:p>
            <a:pPr marL="800100" lvl="1" indent="-342900" algn="just">
              <a:buFont typeface="+mj-lt"/>
              <a:buAutoNum type="arabicPeriod"/>
            </a:pPr>
            <a:r>
              <a:rPr lang="en-US" dirty="0">
                <a:latin typeface="Times New Roman" panose="02020603050405020304" pitchFamily="18" charset="0"/>
                <a:cs typeface="Times New Roman" panose="02020603050405020304" pitchFamily="18" charset="0"/>
              </a:rPr>
              <a:t>Verify by Practical Test</a:t>
            </a:r>
          </a:p>
          <a:p>
            <a:pPr marL="800100" lvl="1" indent="-342900" algn="just">
              <a:buFont typeface="+mj-lt"/>
              <a:buAutoNum type="arabicPeriod"/>
            </a:pPr>
            <a:r>
              <a:rPr lang="en-US" dirty="0">
                <a:latin typeface="Times New Roman" panose="02020603050405020304" pitchFamily="18" charset="0"/>
                <a:cs typeface="Times New Roman" panose="02020603050405020304" pitchFamily="18" charset="0"/>
              </a:rPr>
              <a:t>Documentation</a:t>
            </a:r>
          </a:p>
        </p:txBody>
      </p:sp>
    </p:spTree>
    <p:extLst>
      <p:ext uri="{BB962C8B-B14F-4D97-AF65-F5344CB8AC3E}">
        <p14:creationId xmlns:p14="http://schemas.microsoft.com/office/powerpoint/2010/main" val="18407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124" y="689428"/>
            <a:ext cx="8911687" cy="623082"/>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51139" y="1247408"/>
            <a:ext cx="8814334" cy="935958"/>
          </a:xfrm>
        </p:spPr>
        <p:txBody>
          <a:bodyPr/>
          <a:lstStyle/>
          <a:p>
            <a:pPr marL="0" indent="0" algn="just">
              <a:buNone/>
            </a:pPr>
            <a:r>
              <a:rPr lang="en-US" sz="1600" dirty="0">
                <a:latin typeface="Times New Roman" panose="02020603050405020304" pitchFamily="18" charset="0"/>
                <a:cs typeface="Times New Roman" panose="02020603050405020304" pitchFamily="18" charset="0"/>
              </a:rPr>
              <a:t>To design and develop a single-degree-of-freedom robotic elbow joint using a HSA in an antagonistic biceps-triceps configuration, capable of lifting a minimum 5 kg load while providing the required joint torque, motion, and structural safety.</a:t>
            </a:r>
          </a:p>
        </p:txBody>
      </p:sp>
      <p:sp>
        <p:nvSpPr>
          <p:cNvPr id="4" name="Title 1">
            <a:extLst>
              <a:ext uri="{FF2B5EF4-FFF2-40B4-BE49-F238E27FC236}">
                <a16:creationId xmlns:a16="http://schemas.microsoft.com/office/drawing/2014/main" id="{41CFEC92-EEB1-CB3B-B8D5-3567E0A526AF}"/>
              </a:ext>
            </a:extLst>
          </p:cNvPr>
          <p:cNvSpPr txBox="1">
            <a:spLocks/>
          </p:cNvSpPr>
          <p:nvPr/>
        </p:nvSpPr>
        <p:spPr>
          <a:xfrm>
            <a:off x="1752124" y="2375675"/>
            <a:ext cx="2126295" cy="62308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Objective:</a:t>
            </a:r>
            <a:endParaRPr lang="en-IN" sz="32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3D7FDE61-FB3C-0298-EDF8-A52535F19A7C}"/>
              </a:ext>
            </a:extLst>
          </p:cNvPr>
          <p:cNvSpPr txBox="1">
            <a:spLocks/>
          </p:cNvSpPr>
          <p:nvPr/>
        </p:nvSpPr>
        <p:spPr>
          <a:xfrm>
            <a:off x="2051142" y="2917866"/>
            <a:ext cx="4047963" cy="259003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gn="just" defTabSz="914400" eaLnBrk="0" fontAlgn="base" hangingPunct="0">
              <a:spcBef>
                <a:spcPct val="0"/>
              </a:spcBef>
              <a:spcAft>
                <a:spcPct val="0"/>
              </a:spcAft>
              <a:buClrTx/>
              <a:buFont typeface="+mj-lt"/>
              <a:buAutoNum type="arabi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the working principle and characteristics of </a:t>
            </a:r>
            <a:r>
              <a:rPr lang="en-US" sz="1600" dirty="0">
                <a:latin typeface="Times New Roman" panose="02020603050405020304" pitchFamily="18" charset="0"/>
                <a:cs typeface="Times New Roman" panose="02020603050405020304" pitchFamily="18" charset="0"/>
              </a:rPr>
              <a:t>HSA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robotic applications. </a:t>
            </a:r>
          </a:p>
          <a:p>
            <a:pPr lvl="0" algn="just" defTabSz="914400" eaLnBrk="0" fontAlgn="base" hangingPunct="0">
              <a:spcBef>
                <a:spcPct val="0"/>
              </a:spcBef>
              <a:spcAft>
                <a:spcPct val="0"/>
              </a:spcAft>
              <a:buClrTx/>
              <a:buFont typeface="+mj-lt"/>
              <a:buAutoNum type="arabi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single-DOF robotic elbow joint using a biceps-triceps type </a:t>
            </a:r>
            <a:r>
              <a:rPr lang="en-US" sz="1600" dirty="0">
                <a:latin typeface="Times New Roman" panose="02020603050405020304" pitchFamily="18" charset="0"/>
                <a:cs typeface="Times New Roman" panose="02020603050405020304" pitchFamily="18" charset="0"/>
              </a:rPr>
              <a:t>HSA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arrangement for a minimum 5 kg load.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the required joint torque, actuator force, pressure, and braided sheath parameters. </a:t>
            </a:r>
          </a:p>
        </p:txBody>
      </p:sp>
      <p:pic>
        <p:nvPicPr>
          <p:cNvPr id="8" name="Picture 7">
            <a:extLst>
              <a:ext uri="{FF2B5EF4-FFF2-40B4-BE49-F238E27FC236}">
                <a16:creationId xmlns:a16="http://schemas.microsoft.com/office/drawing/2014/main" id="{05F2152F-2FE7-7DC4-A638-D7E7EBD816A3}"/>
              </a:ext>
            </a:extLst>
          </p:cNvPr>
          <p:cNvPicPr>
            <a:picLocks noChangeAspect="1"/>
          </p:cNvPicPr>
          <p:nvPr/>
        </p:nvPicPr>
        <p:blipFill>
          <a:blip r:embed="rId2"/>
          <a:srcRect l="5818" t="23636" r="4542"/>
          <a:stretch/>
        </p:blipFill>
        <p:spPr>
          <a:xfrm>
            <a:off x="6674516" y="2108718"/>
            <a:ext cx="4994168" cy="3751082"/>
          </a:xfrm>
          <a:prstGeom prst="rect">
            <a:avLst/>
          </a:prstGeom>
        </p:spPr>
      </p:pic>
      <p:sp>
        <p:nvSpPr>
          <p:cNvPr id="7" name="TextBox 6">
            <a:extLst>
              <a:ext uri="{FF2B5EF4-FFF2-40B4-BE49-F238E27FC236}">
                <a16:creationId xmlns:a16="http://schemas.microsoft.com/office/drawing/2014/main" id="{308E8378-F12A-6B40-B27C-E941751764CE}"/>
              </a:ext>
            </a:extLst>
          </p:cNvPr>
          <p:cNvSpPr txBox="1"/>
          <p:nvPr/>
        </p:nvSpPr>
        <p:spPr>
          <a:xfrm>
            <a:off x="6986296" y="5814515"/>
            <a:ext cx="4518349" cy="461665"/>
          </a:xfrm>
          <a:prstGeom prst="rect">
            <a:avLst/>
          </a:prstGeom>
          <a:noFill/>
        </p:spPr>
        <p:txBody>
          <a:bodyPr wrap="square">
            <a:spAutoFit/>
          </a:bodyPr>
          <a:lstStyle/>
          <a:p>
            <a:pPr algn="ctr"/>
            <a:r>
              <a:rPr lang="en-US" sz="1200" dirty="0">
                <a:latin typeface="Times New Roman" panose="02020603050405020304" pitchFamily="18" charset="0"/>
                <a:cs typeface="Times New Roman" panose="02020603050405020304" pitchFamily="18" charset="0"/>
              </a:rPr>
              <a:t>Image Reference: Research on Key Technologies of Pneumatic Flexible Joints for Robot</a:t>
            </a:r>
          </a:p>
        </p:txBody>
      </p:sp>
    </p:spTree>
    <p:extLst>
      <p:ext uri="{BB962C8B-B14F-4D97-AF65-F5344CB8AC3E}">
        <p14:creationId xmlns:p14="http://schemas.microsoft.com/office/powerpoint/2010/main" val="10837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962" y="632422"/>
            <a:ext cx="8911687" cy="1280890"/>
          </a:xfrm>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00686" y="1282142"/>
            <a:ext cx="9028098" cy="3924344"/>
          </a:xfrm>
        </p:spPr>
        <p:txBody>
          <a:bodyPr>
            <a:normAutofit/>
          </a:body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Soft robotics has become an important area of robotics because compliant structures can deform continuously, adapt to irregular surfaces, and distribute contact forces during interaction. These properties are especially useful for handling delicate objects, operating in uncertain environments, and interacting safely with the human body, where compliance is a basic design requirement rather than an added feature.</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 these systems, the actuator is central to performance because it not only produces motion but also influences the load path, deformation mode, stiffness distribution, and contact behavior of the robot.</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First, we discuss about Pneumatic Soft Actuator (PAM), like PAM is a soft actuator which has great potential in the field of bio-inspired robotics.</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But PAM have lots of limitations such less loading capacity, losses, leakages, etc.</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So, for that we are going to discussed about Designing and Modeling of Hydraulic Soft Actuator.</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And we have to design for 5kg of lift.</a:t>
            </a:r>
          </a:p>
        </p:txBody>
      </p:sp>
    </p:spTree>
    <p:extLst>
      <p:ext uri="{BB962C8B-B14F-4D97-AF65-F5344CB8AC3E}">
        <p14:creationId xmlns:p14="http://schemas.microsoft.com/office/powerpoint/2010/main" val="1601548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52AD3-90CD-3C0F-7D87-D6AFC97AC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6E579-82A5-ED79-3EA7-F2734CD6E541}"/>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FF5DB57E-9F8E-FD7F-8886-11D671C62D87}"/>
              </a:ext>
            </a:extLst>
          </p:cNvPr>
          <p:cNvGraphicFramePr>
            <a:graphicFrameLocks noGrp="1"/>
          </p:cNvGraphicFramePr>
          <p:nvPr>
            <p:extLst>
              <p:ext uri="{D42A27DB-BD31-4B8C-83A1-F6EECF244321}">
                <p14:modId xmlns:p14="http://schemas.microsoft.com/office/powerpoint/2010/main" val="2613742959"/>
              </p:ext>
            </p:extLst>
          </p:nvPr>
        </p:nvGraphicFramePr>
        <p:xfrm>
          <a:off x="1418253" y="1280415"/>
          <a:ext cx="10058399" cy="5171086"/>
        </p:xfrm>
        <a:graphic>
          <a:graphicData uri="http://schemas.openxmlformats.org/drawingml/2006/table">
            <a:tbl>
              <a:tblPr>
                <a:tableStyleId>{793D81CF-94F2-401A-BA57-92F5A7B2D0C5}</a:tableStyleId>
              </a:tblPr>
              <a:tblGrid>
                <a:gridCol w="892255">
                  <a:extLst>
                    <a:ext uri="{9D8B030D-6E8A-4147-A177-3AD203B41FA5}">
                      <a16:colId xmlns:a16="http://schemas.microsoft.com/office/drawing/2014/main" val="2431795422"/>
                    </a:ext>
                  </a:extLst>
                </a:gridCol>
                <a:gridCol w="996261">
                  <a:extLst>
                    <a:ext uri="{9D8B030D-6E8A-4147-A177-3AD203B41FA5}">
                      <a16:colId xmlns:a16="http://schemas.microsoft.com/office/drawing/2014/main" val="941518000"/>
                    </a:ext>
                  </a:extLst>
                </a:gridCol>
                <a:gridCol w="1815736">
                  <a:extLst>
                    <a:ext uri="{9D8B030D-6E8A-4147-A177-3AD203B41FA5}">
                      <a16:colId xmlns:a16="http://schemas.microsoft.com/office/drawing/2014/main" val="863536606"/>
                    </a:ext>
                  </a:extLst>
                </a:gridCol>
                <a:gridCol w="1017039">
                  <a:extLst>
                    <a:ext uri="{9D8B030D-6E8A-4147-A177-3AD203B41FA5}">
                      <a16:colId xmlns:a16="http://schemas.microsoft.com/office/drawing/2014/main" val="4030343347"/>
                    </a:ext>
                  </a:extLst>
                </a:gridCol>
                <a:gridCol w="1847460">
                  <a:extLst>
                    <a:ext uri="{9D8B030D-6E8A-4147-A177-3AD203B41FA5}">
                      <a16:colId xmlns:a16="http://schemas.microsoft.com/office/drawing/2014/main" val="1616984434"/>
                    </a:ext>
                  </a:extLst>
                </a:gridCol>
                <a:gridCol w="1720875">
                  <a:extLst>
                    <a:ext uri="{9D8B030D-6E8A-4147-A177-3AD203B41FA5}">
                      <a16:colId xmlns:a16="http://schemas.microsoft.com/office/drawing/2014/main" val="196454467"/>
                    </a:ext>
                  </a:extLst>
                </a:gridCol>
                <a:gridCol w="1768773">
                  <a:extLst>
                    <a:ext uri="{9D8B030D-6E8A-4147-A177-3AD203B41FA5}">
                      <a16:colId xmlns:a16="http://schemas.microsoft.com/office/drawing/2014/main" val="4072652098"/>
                    </a:ext>
                  </a:extLst>
                </a:gridCol>
              </a:tblGrid>
              <a:tr h="128061">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Year</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Author(s)</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Research Paper / Topic</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Publication</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Key Finding</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Limitation</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dirty="0">
                          <a:effectLst/>
                          <a:latin typeface="Times New Roman" panose="02020603050405020304" pitchFamily="18" charset="0"/>
                          <a:cs typeface="Times New Roman" panose="02020603050405020304" pitchFamily="18" charset="0"/>
                        </a:rPr>
                        <a:t>Relevance</a:t>
                      </a:r>
                      <a:endParaRPr lang="en-US" sz="11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extLst>
                  <a:ext uri="{0D108BD9-81ED-4DB2-BD59-A6C34878D82A}">
                    <a16:rowId xmlns:a16="http://schemas.microsoft.com/office/drawing/2014/main" val="3869324659"/>
                  </a:ext>
                </a:extLst>
              </a:tr>
              <a:tr h="1075849">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2025</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A. Zhagiparova et al.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Recent Developments in Pneumatic Artificial Muscle Actuators</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Actuators - MDPI</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Identified friction between braided fibers and the bladder, elastic energy storage, and geometric nonlinearity as major sources of hysteresis and force deviation in McKibben actuators.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Primarily focused on pneumatic artificial muscles and reviewed multiple actuator designs rather than developing a dedicated hydraulic McKibben force model.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Highly relevant for estimating force losses, hysteresis, braid friction, and nonlinear behavior that should be considered when correcting the theoretical McKibben force equation.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extLst>
                  <a:ext uri="{0D108BD9-81ED-4DB2-BD59-A6C34878D82A}">
                    <a16:rowId xmlns:a16="http://schemas.microsoft.com/office/drawing/2014/main" val="4157890233"/>
                  </a:ext>
                </a:extLst>
              </a:tr>
              <a:tr h="847549">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2024</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Y. Zhang et al.</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Dynamic Modelling and Inverse Compensation for Coupled Hysteresis in Pneumatic Artificial Muscle Actuated Soft Manipulator with Variable Stiffness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ISA Transactions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 dynamic model to account for stiffness-dependent and rate-dependent hysteresis.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Focuses on a complete manipulator system rather than a single actuator force model.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Relevant for understanding hysteresis when your actuator operates under changing loads or in an antagonistic configuration.</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extLst>
                  <a:ext uri="{0D108BD9-81ED-4DB2-BD59-A6C34878D82A}">
                    <a16:rowId xmlns:a16="http://schemas.microsoft.com/office/drawing/2014/main" val="2146137745"/>
                  </a:ext>
                </a:extLst>
              </a:tr>
              <a:tr h="873041">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2022</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it-IT" sz="1100" kern="100">
                          <a:effectLst/>
                          <a:latin typeface="Times New Roman" panose="02020603050405020304" pitchFamily="18" charset="0"/>
                          <a:cs typeface="Times New Roman" panose="02020603050405020304" pitchFamily="18" charset="0"/>
                        </a:rPr>
                        <a:t>M. G. Antonelli et al.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Design and Characterization of a McKibben Pneumatic Muscle Prototype with an Embedded Capacitive Length Transducer</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Machines, MDPI</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an embedded capacitive sensor capable of measuring muscle-length changes below 1 mm.</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Requires a specialized embedded sensing arrangement.</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Useful for future actuator displacement measurement and feedback.</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extLst>
                  <a:ext uri="{0D108BD9-81ED-4DB2-BD59-A6C34878D82A}">
                    <a16:rowId xmlns:a16="http://schemas.microsoft.com/office/drawing/2014/main" val="325473627"/>
                  </a:ext>
                </a:extLst>
              </a:tr>
              <a:tr h="961699">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2022</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Hu Shi, Kun Tan, Boyang Zhang and Wenqiao Liu</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Review on Research of Hydraulic Powered Soft Actuators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Energies, MDPI</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Reviewed different hydraulic soft actuator designs-configurations and highlighted their high force, power density, flexibility, and potential for complex robotic applications.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Mainly focused on hydraulic actuators, which require pumps, valves, and fluid systems, increasing overall system complexity and limiting compactness.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Relevant to the study of fluid-powered soft actuators, providing insights into actuator design, materials, performance, and control challenges.</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4142" marR="54142" marT="27071" marB="27071" anchor="ctr"/>
                </a:tc>
                <a:extLst>
                  <a:ext uri="{0D108BD9-81ED-4DB2-BD59-A6C34878D82A}">
                    <a16:rowId xmlns:a16="http://schemas.microsoft.com/office/drawing/2014/main" val="387584058"/>
                  </a:ext>
                </a:extLst>
              </a:tr>
            </a:tbl>
          </a:graphicData>
        </a:graphic>
      </p:graphicFrame>
    </p:spTree>
    <p:extLst>
      <p:ext uri="{BB962C8B-B14F-4D97-AF65-F5344CB8AC3E}">
        <p14:creationId xmlns:p14="http://schemas.microsoft.com/office/powerpoint/2010/main" val="2607576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6B941-6DC8-90DF-7087-693DBF4C7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53CBA9-4971-7870-7890-021D0FE12773}"/>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4B229E4-FEC9-7E11-4864-060A941D4F6D}"/>
              </a:ext>
            </a:extLst>
          </p:cNvPr>
          <p:cNvGraphicFramePr>
            <a:graphicFrameLocks noGrp="1"/>
          </p:cNvGraphicFramePr>
          <p:nvPr>
            <p:extLst>
              <p:ext uri="{D42A27DB-BD31-4B8C-83A1-F6EECF244321}">
                <p14:modId xmlns:p14="http://schemas.microsoft.com/office/powerpoint/2010/main" val="3918553630"/>
              </p:ext>
            </p:extLst>
          </p:nvPr>
        </p:nvGraphicFramePr>
        <p:xfrm>
          <a:off x="1390261" y="1300370"/>
          <a:ext cx="10067733" cy="4590967"/>
        </p:xfrm>
        <a:graphic>
          <a:graphicData uri="http://schemas.openxmlformats.org/drawingml/2006/table">
            <a:tbl>
              <a:tblPr>
                <a:tableStyleId>{793D81CF-94F2-401A-BA57-92F5A7B2D0C5}</a:tableStyleId>
              </a:tblPr>
              <a:tblGrid>
                <a:gridCol w="893083">
                  <a:extLst>
                    <a:ext uri="{9D8B030D-6E8A-4147-A177-3AD203B41FA5}">
                      <a16:colId xmlns:a16="http://schemas.microsoft.com/office/drawing/2014/main" val="3954290181"/>
                    </a:ext>
                  </a:extLst>
                </a:gridCol>
                <a:gridCol w="997185">
                  <a:extLst>
                    <a:ext uri="{9D8B030D-6E8A-4147-A177-3AD203B41FA5}">
                      <a16:colId xmlns:a16="http://schemas.microsoft.com/office/drawing/2014/main" val="4216194146"/>
                    </a:ext>
                  </a:extLst>
                </a:gridCol>
                <a:gridCol w="1725898">
                  <a:extLst>
                    <a:ext uri="{9D8B030D-6E8A-4147-A177-3AD203B41FA5}">
                      <a16:colId xmlns:a16="http://schemas.microsoft.com/office/drawing/2014/main" val="2797899876"/>
                    </a:ext>
                  </a:extLst>
                </a:gridCol>
                <a:gridCol w="1109505">
                  <a:extLst>
                    <a:ext uri="{9D8B030D-6E8A-4147-A177-3AD203B41FA5}">
                      <a16:colId xmlns:a16="http://schemas.microsoft.com/office/drawing/2014/main" val="2217404469"/>
                    </a:ext>
                  </a:extLst>
                </a:gridCol>
                <a:gridCol w="1849175">
                  <a:extLst>
                    <a:ext uri="{9D8B030D-6E8A-4147-A177-3AD203B41FA5}">
                      <a16:colId xmlns:a16="http://schemas.microsoft.com/office/drawing/2014/main" val="2955850861"/>
                    </a:ext>
                  </a:extLst>
                </a:gridCol>
                <a:gridCol w="1722473">
                  <a:extLst>
                    <a:ext uri="{9D8B030D-6E8A-4147-A177-3AD203B41FA5}">
                      <a16:colId xmlns:a16="http://schemas.microsoft.com/office/drawing/2014/main" val="2919450774"/>
                    </a:ext>
                  </a:extLst>
                </a:gridCol>
                <a:gridCol w="1770414">
                  <a:extLst>
                    <a:ext uri="{9D8B030D-6E8A-4147-A177-3AD203B41FA5}">
                      <a16:colId xmlns:a16="http://schemas.microsoft.com/office/drawing/2014/main" val="2767973900"/>
                    </a:ext>
                  </a:extLst>
                </a:gridCol>
              </a:tblGrid>
              <a:tr h="295166">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Year</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Author(s)</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Research Paper / Topic</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Publication</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Key Finding</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Limitation</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dirty="0">
                          <a:effectLst/>
                          <a:latin typeface="Times New Roman" panose="02020603050405020304" pitchFamily="18" charset="0"/>
                          <a:cs typeface="Times New Roman" panose="02020603050405020304" pitchFamily="18" charset="0"/>
                        </a:rPr>
                        <a:t>Relevance</a:t>
                      </a:r>
                      <a:endParaRPr lang="en-US" sz="11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extLst>
                  <a:ext uri="{0D108BD9-81ED-4DB2-BD59-A6C34878D82A}">
                    <a16:rowId xmlns:a16="http://schemas.microsoft.com/office/drawing/2014/main" val="3277646203"/>
                  </a:ext>
                </a:extLst>
              </a:tr>
              <a:tr h="1182812">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2019</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A. Camp et al.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Modeling and Analysis of Hydraulic Piston Actuation of McKibben Fluidic Artificial Muscles for Hand Rehabilitation</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The International Journal of Robotics Research</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and experimentally validated a hydraulic McKibben muscle model. The study compared fixed-end and cylindrical models and included correction for strain prediction.</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Mainly focused on displacement and strain prediction for rehabilitation applications, not a complete force-loss model.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Highly relevant for hydraulic McKibben actuator geometry, volume change, strain prediction, and improving the accuracy of actuator calculations.</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extLst>
                  <a:ext uri="{0D108BD9-81ED-4DB2-BD59-A6C34878D82A}">
                    <a16:rowId xmlns:a16="http://schemas.microsoft.com/office/drawing/2014/main" val="463456454"/>
                  </a:ext>
                </a:extLst>
              </a:tr>
              <a:tr h="1060421">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2019</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T. Hassan et al.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Finite Element Modeling and Design of a Pneumatic Braided Muscle Actuator with Multifunctional Capabilities</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IEEE/ASME Transactions on Mechatronics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 bidirectional braided actuator with more than 40% stroke and demonstrated it in a 1-DOF variable-stiffness joint.</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More complex sheath configuration and pneumatic operation.</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Highly relevant to our 1-DOF robotic elbow and antagonistic actuator concept.</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extLst>
                  <a:ext uri="{0D108BD9-81ED-4DB2-BD59-A6C34878D82A}">
                    <a16:rowId xmlns:a16="http://schemas.microsoft.com/office/drawing/2014/main" val="1038844687"/>
                  </a:ext>
                </a:extLst>
              </a:tr>
              <a:tr h="890808">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2018</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it-IT" sz="1100" kern="100">
                          <a:effectLst/>
                          <a:latin typeface="Times New Roman" panose="02020603050405020304" pitchFamily="18" charset="0"/>
                          <a:cs typeface="Times New Roman" panose="02020603050405020304" pitchFamily="18" charset="0"/>
                        </a:rPr>
                        <a:t>M. G. Antonelli et al.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An Analytical Formula for Designing McKibben Pneumatic Muscles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International Journal of Mechanical Engineering and Technology</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an analytical force formula based on pressure, geometry, and contraction using FEM results.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Valid only within the investigated parameter ranges.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Useful for preliminary sizing of our actuator.</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extLst>
                  <a:ext uri="{0D108BD9-81ED-4DB2-BD59-A6C34878D82A}">
                    <a16:rowId xmlns:a16="http://schemas.microsoft.com/office/drawing/2014/main" val="1269563359"/>
                  </a:ext>
                </a:extLst>
              </a:tr>
              <a:tr h="752159">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2017</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it-IT" sz="1100" kern="100">
                          <a:effectLst/>
                          <a:latin typeface="Times New Roman" panose="02020603050405020304" pitchFamily="18" charset="0"/>
                          <a:cs typeface="Times New Roman" panose="02020603050405020304" pitchFamily="18" charset="0"/>
                        </a:rPr>
                        <a:t>M. G. Antonelli et al.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Numerical Modelling and Experimental Validation of a McKibben Pneumatic Muscle Actuator</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Journal of Intelligent Material Systems and Structures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nonlinear FEM considering hyperelastic tube behaviour and validated it experimentally.</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Thread friction and initial tube-braid gap were not modelled.</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Provides a basis for nonlinear FEM and experimental validation.</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5763" marR="65763" marT="32881" marB="32881" anchor="ctr"/>
                </a:tc>
                <a:extLst>
                  <a:ext uri="{0D108BD9-81ED-4DB2-BD59-A6C34878D82A}">
                    <a16:rowId xmlns:a16="http://schemas.microsoft.com/office/drawing/2014/main" val="3080427010"/>
                  </a:ext>
                </a:extLst>
              </a:tr>
            </a:tbl>
          </a:graphicData>
        </a:graphic>
      </p:graphicFrame>
    </p:spTree>
    <p:extLst>
      <p:ext uri="{BB962C8B-B14F-4D97-AF65-F5344CB8AC3E}">
        <p14:creationId xmlns:p14="http://schemas.microsoft.com/office/powerpoint/2010/main" val="328887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BB8D1-6A6C-4F46-CECE-28F753EDD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157E5-527E-F8B7-8B8D-A38654F80C83}"/>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5A5FFE9-2653-E558-87B9-085345D727AB}"/>
              </a:ext>
            </a:extLst>
          </p:cNvPr>
          <p:cNvGraphicFramePr>
            <a:graphicFrameLocks noGrp="1"/>
          </p:cNvGraphicFramePr>
          <p:nvPr>
            <p:extLst>
              <p:ext uri="{D42A27DB-BD31-4B8C-83A1-F6EECF244321}">
                <p14:modId xmlns:p14="http://schemas.microsoft.com/office/powerpoint/2010/main" val="3328317311"/>
              </p:ext>
            </p:extLst>
          </p:nvPr>
        </p:nvGraphicFramePr>
        <p:xfrm>
          <a:off x="1366528" y="1287799"/>
          <a:ext cx="10147447" cy="5004750"/>
        </p:xfrm>
        <a:graphic>
          <a:graphicData uri="http://schemas.openxmlformats.org/drawingml/2006/table">
            <a:tbl>
              <a:tblPr>
                <a:tableStyleId>{793D81CF-94F2-401A-BA57-92F5A7B2D0C5}</a:tableStyleId>
              </a:tblPr>
              <a:tblGrid>
                <a:gridCol w="900154">
                  <a:extLst>
                    <a:ext uri="{9D8B030D-6E8A-4147-A177-3AD203B41FA5}">
                      <a16:colId xmlns:a16="http://schemas.microsoft.com/office/drawing/2014/main" val="1996851378"/>
                    </a:ext>
                  </a:extLst>
                </a:gridCol>
                <a:gridCol w="1005081">
                  <a:extLst>
                    <a:ext uri="{9D8B030D-6E8A-4147-A177-3AD203B41FA5}">
                      <a16:colId xmlns:a16="http://schemas.microsoft.com/office/drawing/2014/main" val="3039833669"/>
                    </a:ext>
                  </a:extLst>
                </a:gridCol>
                <a:gridCol w="1739563">
                  <a:extLst>
                    <a:ext uri="{9D8B030D-6E8A-4147-A177-3AD203B41FA5}">
                      <a16:colId xmlns:a16="http://schemas.microsoft.com/office/drawing/2014/main" val="3412892954"/>
                    </a:ext>
                  </a:extLst>
                </a:gridCol>
                <a:gridCol w="1118289">
                  <a:extLst>
                    <a:ext uri="{9D8B030D-6E8A-4147-A177-3AD203B41FA5}">
                      <a16:colId xmlns:a16="http://schemas.microsoft.com/office/drawing/2014/main" val="4168893630"/>
                    </a:ext>
                  </a:extLst>
                </a:gridCol>
                <a:gridCol w="1863817">
                  <a:extLst>
                    <a:ext uri="{9D8B030D-6E8A-4147-A177-3AD203B41FA5}">
                      <a16:colId xmlns:a16="http://schemas.microsoft.com/office/drawing/2014/main" val="1640949141"/>
                    </a:ext>
                  </a:extLst>
                </a:gridCol>
                <a:gridCol w="1736111">
                  <a:extLst>
                    <a:ext uri="{9D8B030D-6E8A-4147-A177-3AD203B41FA5}">
                      <a16:colId xmlns:a16="http://schemas.microsoft.com/office/drawing/2014/main" val="1513873584"/>
                    </a:ext>
                  </a:extLst>
                </a:gridCol>
                <a:gridCol w="1784432">
                  <a:extLst>
                    <a:ext uri="{9D8B030D-6E8A-4147-A177-3AD203B41FA5}">
                      <a16:colId xmlns:a16="http://schemas.microsoft.com/office/drawing/2014/main" val="2678295168"/>
                    </a:ext>
                  </a:extLst>
                </a:gridCol>
              </a:tblGrid>
              <a:tr h="320351">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Year</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Author(s)</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Research Paper / Topic</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Publication</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Key Finding</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a:effectLst/>
                          <a:latin typeface="Times New Roman" panose="02020603050405020304" pitchFamily="18" charset="0"/>
                          <a:cs typeface="Times New Roman" panose="02020603050405020304" pitchFamily="18" charset="0"/>
                        </a:rPr>
                        <a:t>Limitation</a:t>
                      </a:r>
                      <a:endParaRPr lang="en-US" sz="110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tc>
                  <a:txBody>
                    <a:bodyPr/>
                    <a:lstStyle/>
                    <a:p>
                      <a:pPr marL="0" marR="0">
                        <a:lnSpc>
                          <a:spcPct val="115000"/>
                        </a:lnSpc>
                        <a:spcAft>
                          <a:spcPts val="800"/>
                        </a:spcAft>
                        <a:buNone/>
                      </a:pPr>
                      <a:r>
                        <a:rPr lang="en-IN" sz="1100" b="1" kern="100" dirty="0">
                          <a:effectLst/>
                          <a:latin typeface="Times New Roman" panose="02020603050405020304" pitchFamily="18" charset="0"/>
                          <a:cs typeface="Times New Roman" panose="02020603050405020304" pitchFamily="18" charset="0"/>
                        </a:rPr>
                        <a:t>Relevance</a:t>
                      </a:r>
                      <a:endParaRPr lang="en-US" sz="110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9551" marR="19551" marT="9776" marB="9776" anchor="ctr"/>
                </a:tc>
                <a:extLst>
                  <a:ext uri="{0D108BD9-81ED-4DB2-BD59-A6C34878D82A}">
                    <a16:rowId xmlns:a16="http://schemas.microsoft.com/office/drawing/2014/main" val="2466280901"/>
                  </a:ext>
                </a:extLst>
              </a:tr>
              <a:tr h="799302">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2017</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A. K. P. Ashwin, A. Ghosal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Mathematical Model for Pressure-Deformation Relationship of Miniaturized McKibben Actuators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iNaCoMM 2017</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 pressure-deformation model with less than 10% standard error and predicted the locking angle near 54.7°.</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Focused on miniaturized actuators and specific modelling assumptions.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Useful for understanding pressure, deformation, and braid-angle relationships.</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extLst>
                  <a:ext uri="{0D108BD9-81ED-4DB2-BD59-A6C34878D82A}">
                    <a16:rowId xmlns:a16="http://schemas.microsoft.com/office/drawing/2014/main" val="3990428490"/>
                  </a:ext>
                </a:extLst>
              </a:tr>
              <a:tr h="847409">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2014</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it-IT" sz="1100" kern="100" dirty="0">
                          <a:effectLst/>
                          <a:latin typeface="Times New Roman" panose="02020603050405020304" pitchFamily="18" charset="0"/>
                          <a:cs typeface="Times New Roman" panose="02020603050405020304" pitchFamily="18" charset="0"/>
                        </a:rPr>
                        <a:t>T. Nozaki, T. Noritsugu</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Motion Analysis of McKibben Type Pneumatic Rubber Artificial Muscle with Finite Element Method</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International Journal of Automation Technology</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 3D FEM model and investigated the influence of braid angle on actuator motion.</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Friction between tube, fibers, and fiber strands was not directly modelled.</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Useful for braid-angle analysis and FEA methodology.</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extLst>
                  <a:ext uri="{0D108BD9-81ED-4DB2-BD59-A6C34878D82A}">
                    <a16:rowId xmlns:a16="http://schemas.microsoft.com/office/drawing/2014/main" val="3194785062"/>
                  </a:ext>
                </a:extLst>
              </a:tr>
              <a:tr h="674895">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2013</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I. da Paz Lopes, W. Scaff, O. Horikawa</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Development A Nonconducting Manipulator, McKibben Pneumatic Artificial Muscle</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COBEM 2013</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and experimentally tested a nonconducting McKibben actuator for a robotic manipulator.</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Relatively low force and force reduction was observed, possibly due to leakage.</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Useful for actuator fabrication and robotic integration.</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extLst>
                  <a:ext uri="{0D108BD9-81ED-4DB2-BD59-A6C34878D82A}">
                    <a16:rowId xmlns:a16="http://schemas.microsoft.com/office/drawing/2014/main" val="2581350293"/>
                  </a:ext>
                </a:extLst>
              </a:tr>
              <a:tr h="923709">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2012</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it-IT" sz="1100" kern="100">
                          <a:effectLst/>
                          <a:latin typeface="Times New Roman" panose="02020603050405020304" pitchFamily="18" charset="0"/>
                          <a:cs typeface="Times New Roman" panose="02020603050405020304" pitchFamily="18" charset="0"/>
                        </a:rPr>
                        <a:t>K. Iwata, K. Suzumori, S. Wakimoto</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A Method of Designing and Fabricating McKibben Muscles Driven by 7 MPa Hydraulics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International Journal of Automation Technology</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Developed a hydraulic McKibben muscle and achieved about 8 kN contraction force at 7 MPa. FEM was used to optimize the sleeve angle.</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Focused on high-pressure hydraulic operation.</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The most directly relevant paper to our hydraulic McKibben actuator and sheath design.</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extLst>
                  <a:ext uri="{0D108BD9-81ED-4DB2-BD59-A6C34878D82A}">
                    <a16:rowId xmlns:a16="http://schemas.microsoft.com/office/drawing/2014/main" val="530725207"/>
                  </a:ext>
                </a:extLst>
              </a:tr>
              <a:tr h="640884">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2005</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it-IT" sz="1100" kern="100">
                          <a:effectLst/>
                          <a:latin typeface="Times New Roman" panose="02020603050405020304" pitchFamily="18" charset="0"/>
                          <a:cs typeface="Times New Roman" panose="02020603050405020304" pitchFamily="18" charset="0"/>
                        </a:rPr>
                        <a:t>R. Ramasamy et al.</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An Application of Finite Element Modelling to Pneumatic Artificial Muscle</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American Journal of Applied Sciences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Established FEM-based analysis for studying PAM deformation and force behaviour.</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a:effectLst/>
                          <a:latin typeface="Times New Roman" panose="02020603050405020304" pitchFamily="18" charset="0"/>
                          <a:cs typeface="Times New Roman" panose="02020603050405020304" pitchFamily="18" charset="0"/>
                        </a:rPr>
                        <a:t>General PAM modelling with limited detailed McKibben-specific nonlinear analysis.</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tc>
                  <a:txBody>
                    <a:bodyPr/>
                    <a:lstStyle/>
                    <a:p>
                      <a:pPr marL="0" marR="0">
                        <a:lnSpc>
                          <a:spcPct val="115000"/>
                        </a:lnSpc>
                        <a:spcAft>
                          <a:spcPts val="800"/>
                        </a:spcAft>
                        <a:buNone/>
                      </a:pPr>
                      <a:r>
                        <a:rPr lang="en-US" sz="1100" kern="100" dirty="0">
                          <a:effectLst/>
                          <a:latin typeface="Times New Roman" panose="02020603050405020304" pitchFamily="18" charset="0"/>
                          <a:cs typeface="Times New Roman" panose="02020603050405020304" pitchFamily="18" charset="0"/>
                        </a:rPr>
                        <a:t>Provides the basic FEM foundation for our actuator analysis.</a:t>
                      </a:r>
                      <a:endParaRPr lang="en-US" sz="1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9007" marR="59007" marT="29504" marB="29504" anchor="ctr"/>
                </a:tc>
                <a:extLst>
                  <a:ext uri="{0D108BD9-81ED-4DB2-BD59-A6C34878D82A}">
                    <a16:rowId xmlns:a16="http://schemas.microsoft.com/office/drawing/2014/main" val="1957129870"/>
                  </a:ext>
                </a:extLst>
              </a:tr>
            </a:tbl>
          </a:graphicData>
        </a:graphic>
      </p:graphicFrame>
    </p:spTree>
    <p:extLst>
      <p:ext uri="{BB962C8B-B14F-4D97-AF65-F5344CB8AC3E}">
        <p14:creationId xmlns:p14="http://schemas.microsoft.com/office/powerpoint/2010/main" val="231129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1721465" y="1237859"/>
            <a:ext cx="8990077" cy="4267200"/>
          </a:xfrm>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researchers have studied McKibben artificial muscles using mathematical models, FEM, and experiments. Early studies focused on understanding how pressure, braid angle, and material properties affect actuator force and deformation. Later studies developed nonlinear models and experimentally tested the actuators. However, some models did not consider friction between the fibers and the rubber tube, which can affect the actual actuator performance.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For hydraulic McKibben actuators, researchers have shown that they can produce high forces. Iwata et al. developed a hydraulic McKibben muscle and achieved about 8 </a:t>
            </a:r>
            <a:r>
              <a:rPr lang="en-US" dirty="0" err="1">
                <a:latin typeface="Times New Roman" panose="02020603050405020304" pitchFamily="18" charset="0"/>
                <a:cs typeface="Times New Roman" panose="02020603050405020304" pitchFamily="18" charset="0"/>
              </a:rPr>
              <a:t>kN</a:t>
            </a:r>
            <a:r>
              <a:rPr lang="en-US" dirty="0">
                <a:latin typeface="Times New Roman" panose="02020603050405020304" pitchFamily="18" charset="0"/>
                <a:cs typeface="Times New Roman" panose="02020603050405020304" pitchFamily="18" charset="0"/>
              </a:rPr>
              <a:t> force at 7 MPa pressure. Camp et al. developed and tested a hydraulic McKibben model to study actuator geometry, volume change, and strain. However, their work mainly focused on deformation and strain prediction, not on calculating the actual force losses. </a:t>
            </a:r>
          </a:p>
        </p:txBody>
      </p:sp>
    </p:spTree>
    <p:extLst>
      <p:ext uri="{BB962C8B-B14F-4D97-AF65-F5344CB8AC3E}">
        <p14:creationId xmlns:p14="http://schemas.microsoft.com/office/powerpoint/2010/main" val="302806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1749444" y="1275187"/>
            <a:ext cx="8990077" cy="4267200"/>
          </a:xfrm>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Recent studies have focused more on problems such as hysteresis, friction, and nonlinear behavior. Zhang et al. studied how changing stiffness and operating speed affect hysteresis. </a:t>
            </a:r>
            <a:r>
              <a:rPr lang="en-US" dirty="0" err="1">
                <a:latin typeface="Times New Roman" panose="02020603050405020304" pitchFamily="18" charset="0"/>
                <a:cs typeface="Times New Roman" panose="02020603050405020304" pitchFamily="18" charset="0"/>
              </a:rPr>
              <a:t>Zhagiparova</a:t>
            </a:r>
            <a:r>
              <a:rPr lang="en-US" dirty="0">
                <a:latin typeface="Times New Roman" panose="02020603050405020304" pitchFamily="18" charset="0"/>
                <a:cs typeface="Times New Roman" panose="02020603050405020304" pitchFamily="18" charset="0"/>
              </a:rPr>
              <a:t> et al. identified friction between the braided sleeve and bladder, elastic deformation, and actuator geometry as major reasons for force differences between theoretical and actual values. </a:t>
            </a: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Research Gap: </a:t>
            </a:r>
            <a:r>
              <a:rPr lang="en-US" dirty="0">
                <a:latin typeface="Times New Roman" panose="02020603050405020304" pitchFamily="18" charset="0"/>
                <a:cs typeface="Times New Roman" panose="02020603050405020304" pitchFamily="18" charset="0"/>
              </a:rPr>
              <a:t>Most existing studies focus either on actuator design, deformation, or ideal force prediction. Very few studies combine the main factors that reduce the actual force of a hydraulic McKibben actuator, such as braid friction, rubber deformation, hysteresis, and structural losses. Therefore, there is a need to develop and experimentally validate a force model that compares the theoretical force with the actual output force and identifies the major causes of force loss. </a:t>
            </a:r>
          </a:p>
        </p:txBody>
      </p:sp>
    </p:spTree>
    <p:extLst>
      <p:ext uri="{BB962C8B-B14F-4D97-AF65-F5344CB8AC3E}">
        <p14:creationId xmlns:p14="http://schemas.microsoft.com/office/powerpoint/2010/main" val="3882492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1280890"/>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454147" y="1377816"/>
            <a:ext cx="4867954" cy="4790757"/>
          </a:xfrm>
        </p:spPr>
        <p:txBody>
          <a:bodyPr>
            <a:normAutofit lnSpcReduction="10000"/>
          </a:body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By taking reference with the “Development A Nonconducting Manipulator, McKibben Pneumatic Artificial Muscle” this research paper I have to derive the formula whether it is mathematically correct or not?</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 a first approach toward the model of a McKibben type PAM, losses are not considered and thus, the gas enters the PAM and expands, generating a traction force and a work. To generate the volume increase, the gas performs a work input (Win) that can be described.</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P’dV</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Where, Pex = External Force,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Absolute Pressure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Relative Pressure</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96A2CF-ABC7-FE87-AD0E-A0AC0718E268}"/>
              </a:ext>
            </a:extLst>
          </p:cNvPr>
          <p:cNvPicPr>
            <a:picLocks noChangeAspect="1"/>
          </p:cNvPicPr>
          <p:nvPr/>
        </p:nvPicPr>
        <p:blipFill>
          <a:blip r:embed="rId2"/>
          <a:stretch>
            <a:fillRect/>
          </a:stretch>
        </p:blipFill>
        <p:spPr>
          <a:xfrm>
            <a:off x="1340531" y="1886338"/>
            <a:ext cx="4867954" cy="3810532"/>
          </a:xfrm>
          <a:prstGeom prst="rect">
            <a:avLst/>
          </a:prstGeom>
        </p:spPr>
      </p:pic>
    </p:spTree>
    <p:extLst>
      <p:ext uri="{BB962C8B-B14F-4D97-AF65-F5344CB8AC3E}">
        <p14:creationId xmlns:p14="http://schemas.microsoft.com/office/powerpoint/2010/main" val="903409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2846"/>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2056837" y="1480457"/>
            <a:ext cx="7656329" cy="4435151"/>
          </a:xfrm>
        </p:spPr>
        <p:txBody>
          <a:bodyPr>
            <a:normAutofit/>
          </a:body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As the pressure performs work by volume expansion and it is assumed that the system has no loss, all the work is converted into traction and can be expressed by W</a:t>
            </a:r>
            <a:r>
              <a:rPr lang="en-US" sz="1200" dirty="0">
                <a:latin typeface="Times New Roman" panose="02020603050405020304" pitchFamily="18" charset="0"/>
                <a:cs typeface="Times New Roman" panose="02020603050405020304" pitchFamily="18" charset="0"/>
              </a:rPr>
              <a:t>out</a:t>
            </a:r>
            <a:r>
              <a:rPr lang="en-US" sz="1600" dirty="0">
                <a:latin typeface="Times New Roman" panose="02020603050405020304" pitchFamily="18" charset="0"/>
                <a:cs typeface="Times New Roman" panose="02020603050405020304" pitchFamily="18" charset="0"/>
              </a:rPr>
              <a:t>, </a:t>
            </a:r>
          </a:p>
          <a:p>
            <a:pPr marL="0" indent="0">
              <a:buNone/>
            </a:pPr>
            <a:r>
              <a:rPr lang="it-IT" sz="1600" dirty="0">
                <a:latin typeface="Times New Roman" panose="02020603050405020304" pitchFamily="18" charset="0"/>
                <a:cs typeface="Times New Roman" panose="02020603050405020304" pitchFamily="18" charset="0"/>
              </a:rPr>
              <a:t>		dW</a:t>
            </a:r>
            <a:r>
              <a:rPr lang="it-IT" sz="1200" dirty="0">
                <a:latin typeface="Times New Roman" panose="02020603050405020304" pitchFamily="18" charset="0"/>
                <a:cs typeface="Times New Roman" panose="02020603050405020304" pitchFamily="18" charset="0"/>
              </a:rPr>
              <a:t>out</a:t>
            </a:r>
            <a:r>
              <a:rPr lang="it-IT" sz="1600" dirty="0">
                <a:latin typeface="Times New Roman" panose="02020603050405020304" pitchFamily="18" charset="0"/>
                <a:cs typeface="Times New Roman" panose="02020603050405020304" pitchFamily="18" charset="0"/>
              </a:rPr>
              <a:t>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Where, F is the axial tension and dL is the displacement.</a:t>
            </a:r>
          </a:p>
          <a:p>
            <a:pPr marL="800100" lvl="2" indent="0">
              <a:spcBef>
                <a:spcPts val="600"/>
              </a:spcBef>
              <a:buNone/>
            </a:pPr>
            <a:r>
              <a:rPr lang="en-US" sz="1600" dirty="0">
                <a:latin typeface="Times New Roman" panose="02020603050405020304" pitchFamily="18" charset="0"/>
                <a:cs typeface="Times New Roman" panose="02020603050405020304" pitchFamily="18" charset="0"/>
              </a:rPr>
              <a:t>The Conservation of Energy gives:</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dW</a:t>
            </a:r>
            <a:r>
              <a:rPr lang="it-IT" sz="900" dirty="0">
                <a:latin typeface="Times New Roman" panose="02020603050405020304" pitchFamily="18" charset="0"/>
                <a:cs typeface="Times New Roman" panose="02020603050405020304" pitchFamily="18" charset="0"/>
              </a:rPr>
              <a:t>in</a:t>
            </a:r>
            <a:r>
              <a:rPr lang="en-US" sz="16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it-IT" sz="1800" dirty="0">
                <a:latin typeface="Times New Roman" panose="02020603050405020304" pitchFamily="18" charset="0"/>
                <a:cs typeface="Times New Roman" panose="02020603050405020304" pitchFamily="18" charset="0"/>
              </a:rPr>
              <a:t>d</a:t>
            </a:r>
            <a:r>
              <a:rPr lang="it-IT" sz="1600" dirty="0">
                <a:latin typeface="Times New Roman" panose="02020603050405020304" pitchFamily="18" charset="0"/>
                <a:cs typeface="Times New Roman" panose="02020603050405020304" pitchFamily="18" charset="0"/>
              </a:rPr>
              <a:t>W</a:t>
            </a:r>
            <a:r>
              <a:rPr lang="it-IT" sz="1200" dirty="0">
                <a:latin typeface="Times New Roman" panose="02020603050405020304" pitchFamily="18" charset="0"/>
                <a:cs typeface="Times New Roman" panose="02020603050405020304" pitchFamily="18" charset="0"/>
              </a:rPr>
              <a:t>out</a:t>
            </a:r>
            <a:endParaRPr lang="en-US" dirty="0">
              <a:latin typeface="Times New Roman" panose="02020603050405020304" pitchFamily="18" charset="0"/>
              <a:cs typeface="Times New Roman" panose="02020603050405020304" pitchFamily="18" charset="0"/>
            </a:endParaRPr>
          </a:p>
          <a:p>
            <a:pPr marL="800100" lvl="2" indent="0">
              <a:spcBef>
                <a:spcPts val="600"/>
              </a:spcBef>
              <a:buNone/>
            </a:pPr>
            <a:r>
              <a:rPr lang="it-IT" sz="1600" dirty="0">
                <a:latin typeface="Times New Roman" panose="02020603050405020304" pitchFamily="18" charset="0"/>
                <a:cs typeface="Times New Roman" panose="02020603050405020304" pitchFamily="18" charset="0"/>
              </a:rPr>
              <a:t>P’dV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F = - (P’ dV)/dL ........................ (1)</a:t>
            </a:r>
            <a:endParaRPr lang="en-IN" sz="1600" dirty="0">
              <a:latin typeface="Times New Roman" panose="02020603050405020304" pitchFamily="18" charset="0"/>
              <a:cs typeface="Times New Roman" panose="02020603050405020304" pitchFamily="18" charset="0"/>
            </a:endParaRPr>
          </a:p>
          <a:p>
            <a:pPr marL="285750" algn="just">
              <a:spcBef>
                <a:spcPts val="600"/>
              </a:spcBef>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With the strength defined in terms of the volume change, just missing define the volume variation permitted by the mesh. The variation stops when volume reaches its maximum. At this moment, the muscle reaches the largest contraction.</a:t>
            </a:r>
            <a:endParaRPr lang="en-IN" sz="1600" dirty="0">
              <a:latin typeface="Times New Roman" panose="02020603050405020304" pitchFamily="18" charset="0"/>
              <a:cs typeface="Times New Roman" panose="02020603050405020304" pitchFamily="18" charset="0"/>
            </a:endParaRPr>
          </a:p>
          <a:p>
            <a:pPr marL="285750">
              <a:spcBef>
                <a:spcPts val="600"/>
              </a:spcBef>
            </a:pPr>
            <a:endParaRPr lang="it-IT"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05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5847657" y="1265842"/>
                <a:ext cx="4901208" cy="5321566"/>
              </a:xfrm>
            </p:spPr>
            <p:txBody>
              <a:bodyPr>
                <a:normAutofit lnSpcReduction="10000"/>
              </a:body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Observing Fig.3, it is possible to make the length (L) and diameter (D) as a function of the angle (θ). This angle is one formed between the mesh and the axial length of the muscle. The length of fiber can be named b and n is the number of turns of the fiber around the muscle. Using b and n, it is possible to set the length and the diameter of the muscle.</a:t>
                </a:r>
              </a:p>
              <a:p>
                <a:pPr marL="0" indent="0" algn="just">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(1)</a:t>
                </a:r>
              </a:p>
              <a:p>
                <a:pPr marL="800100" lvl="2" indent="0" algn="just">
                  <a:spcBef>
                    <a:spcPts val="600"/>
                  </a:spcBef>
                  <a:buNone/>
                </a:pP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	</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𝐿</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m:rPr>
                        <m:sty m:val="p"/>
                      </m:rPr>
                      <a:rPr lang="en-IN" sz="1600" i="1" dirty="0">
                        <a:latin typeface="Cambria Math" panose="02040503050406030204" pitchFamily="18" charset="0"/>
                        <a:cs typeface="Times New Roman" panose="02020603050405020304" pitchFamily="18" charset="0"/>
                      </a:rPr>
                      <m:t>cos</m:t>
                    </m:r>
                    <m:r>
                      <a:rPr lang="en-IN" sz="1600" i="1" dirty="0">
                        <a:latin typeface="Cambria Math" panose="02040503050406030204" pitchFamily="18" charset="0"/>
                        <a:cs typeface="Times New Roman" panose="02020603050405020304" pitchFamily="18" charset="0"/>
                        <a:sym typeface="Symbol" panose="05050102010706020507" pitchFamily="18" charset="2"/>
                      </a:rPr>
                      <m:t> </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(2)</a:t>
                </a:r>
              </a:p>
              <a:p>
                <a:pPr marL="800100" lvl="2" indent="0" algn="just">
                  <a:spcBef>
                    <a:spcPts val="600"/>
                  </a:spcBef>
                  <a:buNone/>
                </a:pPr>
                <a:r>
                  <a:rPr lang="en-IN" sz="1600" dirty="0">
                    <a:cs typeface="Times New Roman" panose="02020603050405020304" pitchFamily="18" charset="0"/>
                    <a:sym typeface="Symbol" panose="05050102010706020507" pitchFamily="18" charset="2"/>
                  </a:rPr>
                  <a:t>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sym typeface="Symbol" panose="05050102010706020507" pitchFamily="18" charset="2"/>
                      </a:rPr>
                      <m:t>s</m:t>
                    </m:r>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𝑖𝑛</m:t>
                    </m:r>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IN" sz="1600" i="1" dirty="0">
                        <a:latin typeface="Cambria Math" panose="02040503050406030204" pitchFamily="18" charset="0"/>
                        <a:cs typeface="Times New Roman" panose="02020603050405020304" pitchFamily="18" charset="0"/>
                        <a:sym typeface="Symbol" panose="05050102010706020507" pitchFamily="18" charset="2"/>
                      </a:rPr>
                      <m:t> =</m:t>
                    </m:r>
                    <m:f>
                      <m:fPr>
                        <m:ctrlPr>
                          <a:rPr lang="en-US" sz="1600" i="1" dirty="0">
                            <a:latin typeface="Cambria Math" panose="02040503050406030204" pitchFamily="18" charset="0"/>
                            <a:cs typeface="Times New Roman" panose="02020603050405020304" pitchFamily="18" charset="0"/>
                            <a:sym typeface="Symbol" panose="05050102010706020507" pitchFamily="18" charset="2"/>
                          </a:rPr>
                        </m:ctrlPr>
                      </m:fPr>
                      <m:num>
                        <m:r>
                          <a:rPr lang="en-US" sz="1600" i="1" dirty="0">
                            <a:latin typeface="Cambria Math" panose="02040503050406030204" pitchFamily="18" charset="0"/>
                            <a:cs typeface="Times New Roman" panose="02020603050405020304" pitchFamily="18" charset="0"/>
                            <a:sym typeface="Symbol" panose="05050102010706020507" pitchFamily="18" charset="2"/>
                          </a:rPr>
                          <m:t>𝐷𝑛</m:t>
                        </m:r>
                        <m:r>
                          <a:rPr lang="en-US" sz="1600"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800100" lvl="2" indent="0" algn="just">
                  <a:spcBef>
                    <a:spcPts val="600"/>
                  </a:spcBef>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(3)</a:t>
                </a:r>
              </a:p>
              <a:p>
                <a:pPr marL="0"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Making the Volume equation as function of the diameter and D &amp; length L.</a:t>
                </a:r>
              </a:p>
              <a:p>
                <a:pPr marL="400050" lvl="1" indent="0" algn="just">
                  <a:spcBef>
                    <a:spcPts val="600"/>
                  </a:spcBef>
                  <a:buNone/>
                </a:pPr>
                <a14:m>
                  <m:oMathPara xmlns:m="http://schemas.openxmlformats.org/officeDocument/2006/math">
                    <m:oMath>
                      <m:r>
                        <a:rPr lang="en-US" b="0" i="1" smtClean="0">
                          <a:latin typeface="Cambria Math" panose="02040503050406030204" pitchFamily="18" charset="0"/>
                          <a:cs typeface="Times New Roman" panose="02020603050405020304" pitchFamily="18" charset="0"/>
                          <a:sym typeface="Symbol" panose="05050102010706020507" pitchFamily="18" charset="2"/>
                        </a:rPr>
                        <m:t>𝑉</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1</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oMath>
                  </m:oMathPara>
                </a14:m>
                <a:endParaRPr lang="en-IN" dirty="0">
                  <a:latin typeface="Times New Roman" panose="02020603050405020304" pitchFamily="18" charset="0"/>
                  <a:cs typeface="Times New Roman" panose="02020603050405020304" pitchFamily="18" charset="0"/>
                  <a:sym typeface="Symbol" panose="05050102010706020507" pitchFamily="18" charset="2"/>
                </a:endParaRP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By substituting D &amp; L in </a:t>
                </a:r>
                <a:r>
                  <a:rPr lang="en-IN" dirty="0" err="1">
                    <a:latin typeface="Times New Roman" panose="02020603050405020304" pitchFamily="18" charset="0"/>
                    <a:cs typeface="Times New Roman" panose="02020603050405020304" pitchFamily="18" charset="0"/>
                    <a:sym typeface="Symbol" panose="05050102010706020507" pitchFamily="18" charset="2"/>
                  </a:rPr>
                  <a:t>eq</a:t>
                </a:r>
                <a:r>
                  <a:rPr lang="en-IN" dirty="0">
                    <a:latin typeface="Times New Roman" panose="02020603050405020304" pitchFamily="18" charset="0"/>
                    <a:cs typeface="Times New Roman" panose="02020603050405020304" pitchFamily="18" charset="0"/>
                    <a:sym typeface="Symbol" panose="05050102010706020507" pitchFamily="18" charset="2"/>
                  </a:rPr>
                  <a:t> 4</a:t>
                </a: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We get, 										</a:t>
                </a:r>
                <a14:m>
                  <m:oMath xmlns:m="http://schemas.openxmlformats.org/officeDocument/2006/math">
                    <m:r>
                      <a:rPr lang="en-US" sz="1800" b="0" i="1" smtClean="0">
                        <a:latin typeface="Cambria Math" panose="02040503050406030204" pitchFamily="18" charset="0"/>
                        <a:cs typeface="Times New Roman" panose="02020603050405020304" pitchFamily="18" charset="0"/>
                        <a:sym typeface="Symbol" panose="05050102010706020507" pitchFamily="18" charset="2"/>
                      </a:rPr>
                      <m:t>𝑉</m:t>
                    </m:r>
                    <m:r>
                      <a:rPr lang="en-US" sz="18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fPr>
                      <m:num>
                        <m:sSup>
                          <m:sSup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cs typeface="Times New Roman" panose="02020603050405020304" pitchFamily="18" charset="0"/>
                                <a:sym typeface="Symbol" panose="05050102010706020507" pitchFamily="18" charset="2"/>
                              </a:rPr>
                              <m:t>𝑏</m:t>
                            </m:r>
                          </m:e>
                          <m:sup>
                            <m:r>
                              <a:rPr lang="en-US" sz="1800" b="0" i="1" smtClean="0">
                                <a:latin typeface="Cambria Math" panose="02040503050406030204" pitchFamily="18" charset="0"/>
                                <a:cs typeface="Times New Roman" panose="02020603050405020304" pitchFamily="18" charset="0"/>
                                <a:sym typeface="Symbol" panose="05050102010706020507" pitchFamily="18" charset="2"/>
                              </a:rPr>
                              <m:t>3</m:t>
                            </m:r>
                          </m:sup>
                        </m:sSup>
                      </m:num>
                      <m:den>
                        <m:r>
                          <a:rPr lang="en-US" sz="1800" b="0" i="1" smtClean="0">
                            <a:latin typeface="Cambria Math" panose="02040503050406030204" pitchFamily="18" charset="0"/>
                            <a:cs typeface="Times New Roman" panose="02020603050405020304" pitchFamily="18" charset="0"/>
                            <a:sym typeface="Symbol" panose="05050102010706020507" pitchFamily="18" charset="2"/>
                          </a:rPr>
                          <m:t>4</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𝑛</m:t>
                            </m:r>
                          </m:e>
                          <m:sup>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den>
                    </m:f>
                    <m:r>
                      <a:rPr lang="en-US" sz="1800" b="0" i="1" smtClean="0">
                        <a:latin typeface="Cambria Math" panose="02040503050406030204" pitchFamily="18" charset="0"/>
                        <a:cs typeface="Times New Roman" panose="02020603050405020304" pitchFamily="18" charset="0"/>
                        <a:sym typeface="Symbol" panose="05050102010706020507" pitchFamily="18" charset="2"/>
                      </a:rPr>
                      <m:t> ∗</m:t>
                    </m:r>
                    <m:d>
                      <m:dPr>
                        <m:begChr m:val="["/>
                        <m:endChr m:val="]"/>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dPr>
                      <m:e>
                        <m:sSup>
                          <m:sSup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8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d>
                  </m:oMath>
                </a14:m>
                <a:r>
                  <a:rPr lang="en-IN" dirty="0">
                    <a:latin typeface="Times New Roman" panose="02020603050405020304" pitchFamily="18" charset="0"/>
                    <a:cs typeface="Times New Roman" panose="02020603050405020304" pitchFamily="18" charset="0"/>
                    <a:sym typeface="Symbol" panose="05050102010706020507" pitchFamily="18" charset="2"/>
                  </a:rPr>
                  <a:t>……... (5)</a:t>
                </a:r>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F78D876-251E-85C5-6A7D-BE0697549C31}"/>
                  </a:ext>
                </a:extLst>
              </p:cNvPr>
              <p:cNvSpPr>
                <a:spLocks noGrp="1" noRot="1" noChangeAspect="1" noMove="1" noResize="1" noEditPoints="1" noAdjustHandles="1" noChangeArrowheads="1" noChangeShapeType="1" noTextEdit="1"/>
              </p:cNvSpPr>
              <p:nvPr>
                <p:ph idx="1"/>
              </p:nvPr>
            </p:nvSpPr>
            <p:spPr>
              <a:xfrm>
                <a:off x="5847657" y="1265842"/>
                <a:ext cx="4901208" cy="5321566"/>
              </a:xfrm>
              <a:blipFill>
                <a:blip r:embed="rId2"/>
                <a:stretch>
                  <a:fillRect l="-622" t="-802" r="-74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8F6AF55C-D360-B5B1-F395-00C5DEB2A5E5}"/>
              </a:ext>
            </a:extLst>
          </p:cNvPr>
          <p:cNvPicPr>
            <a:picLocks noChangeAspect="1"/>
          </p:cNvPicPr>
          <p:nvPr/>
        </p:nvPicPr>
        <p:blipFill>
          <a:blip r:embed="rId3"/>
          <a:stretch>
            <a:fillRect/>
          </a:stretch>
        </p:blipFill>
        <p:spPr>
          <a:xfrm>
            <a:off x="1052059" y="1461794"/>
            <a:ext cx="4572129" cy="3138197"/>
          </a:xfrm>
          <a:prstGeom prst="rect">
            <a:avLst/>
          </a:prstGeom>
        </p:spPr>
      </p:pic>
    </p:spTree>
    <p:extLst>
      <p:ext uri="{BB962C8B-B14F-4D97-AF65-F5344CB8AC3E}">
        <p14:creationId xmlns:p14="http://schemas.microsoft.com/office/powerpoint/2010/main" val="332727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373281" y="1393475"/>
                <a:ext cx="5433054" cy="5106956"/>
              </a:xfrm>
            </p:spPr>
            <p:txBody>
              <a:bodyPr>
                <a:normAutofit fontScale="92500" lnSpcReduction="10000"/>
              </a:bodyPr>
              <a:lstStyle/>
              <a:p>
                <a:pPr marL="0" indent="0" algn="just">
                  <a:buNone/>
                </a:pPr>
                <a:r>
                  <a:rPr lang="en-US" sz="1600" dirty="0">
                    <a:latin typeface="Times New Roman" panose="02020603050405020304" pitchFamily="18" charset="0"/>
                    <a:cs typeface="Times New Roman" panose="02020603050405020304" pitchFamily="18" charset="0"/>
                  </a:rPr>
                  <a:t>Adopting contraction (ε) and applying Eq.9, it is possible to reach to required formulation (</a:t>
                </a:r>
                <a:r>
                  <a:rPr lang="en-US" sz="1600" dirty="0" err="1">
                    <a:latin typeface="Times New Roman" panose="02020603050405020304" pitchFamily="18" charset="0"/>
                    <a:cs typeface="Times New Roman" panose="02020603050405020304" pitchFamily="18" charset="0"/>
                  </a:rPr>
                  <a:t>Daerden</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Lefeber</a:t>
                </a:r>
                <a:r>
                  <a:rPr lang="en-US" sz="1600" dirty="0">
                    <a:latin typeface="Times New Roman" panose="02020603050405020304" pitchFamily="18" charset="0"/>
                    <a:cs typeface="Times New Roman" panose="02020603050405020304" pitchFamily="18" charset="0"/>
                  </a:rPr>
                  <a:t>, 2000).</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(After applying pressure)</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(Before applying pressure)</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𝐷</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sSub>
                      <m:sSubPr>
                        <m:ctrlPr>
                          <a:rPr lang="en-US" sz="1600" b="0"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𝐷</m:t>
                        </m:r>
                      </m:e>
                      <m:sub>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0</m:t>
                        </m:r>
                      </m:sub>
                    </m:sSub>
                    <m:r>
                      <a:rPr lang="en-IN" sz="1050" i="1" dirty="0">
                        <a:latin typeface="Cambria Math" panose="02040503050406030204" pitchFamily="18" charset="0"/>
                        <a:cs typeface="Times New Roman" panose="02020603050405020304" pitchFamily="18" charset="0"/>
                        <a:sym typeface="Symbol" panose="05050102010706020507" pitchFamily="18" charset="2"/>
                      </a:rPr>
                      <m:t> </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Basic Interpretation</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So, we can replace D &amp; sin with D</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(9) </a:t>
                </a:r>
              </a:p>
              <a:p>
                <a:pPr marL="800100" lvl="2" indent="0" algn="just">
                  <a:spcBef>
                    <a:spcPts val="600"/>
                  </a:spcBef>
                  <a:buNone/>
                </a:pP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pPr marL="800100" lvl="2" indent="0" algn="just">
                  <a:spcBef>
                    <a:spcPts val="600"/>
                  </a:spcBef>
                  <a:buNone/>
                </a:pPr>
                <a:r>
                  <a:rPr lang="en-IN" sz="1600" dirty="0">
                    <a:cs typeface="Times New Roman" panose="02020603050405020304" pitchFamily="18" charset="0"/>
                    <a:sym typeface="Symbol" panose="05050102010706020507" pitchFamily="18" charset="2"/>
                  </a:rPr>
                  <a:t>	</a:t>
                </a: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𝐿</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a:rPr lang="en-US" sz="1600" b="0" i="1" dirty="0" smtClean="0">
                        <a:latin typeface="Cambria Math" panose="02040503050406030204" pitchFamily="18" charset="0"/>
                        <a:cs typeface="Times New Roman" panose="02020603050405020304" pitchFamily="18" charset="0"/>
                      </a:rPr>
                      <m:t>𝑐𝑜𝑠</m:t>
                    </m:r>
                    <m:r>
                      <a:rPr lang="en-IN" sz="1600"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cs typeface="Times New Roman" panose="02020603050405020304" pitchFamily="18" charset="0"/>
                    <a:sym typeface="Symbol" panose="05050102010706020507" pitchFamily="18" charset="2"/>
                  </a:rPr>
                  <a:t>		</a:t>
                </a:r>
                <a14:m>
                  <m:oMath xmlns:m="http://schemas.openxmlformats.org/officeDocument/2006/math">
                    <m:sSub>
                      <m:sSubPr>
                        <m:ctrlPr>
                          <a:rPr lang="en-US" sz="1600" b="0"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0</m:t>
                        </m:r>
                      </m:sub>
                    </m:sSub>
                    <m:r>
                      <a:rPr lang="en-IN" sz="1600" i="1" dirty="0" smtClean="0">
                        <a:latin typeface="Cambria Math" panose="02040503050406030204" pitchFamily="18" charset="0"/>
                        <a:cs typeface="Times New Roman" panose="02020603050405020304" pitchFamily="18" charset="0"/>
                        <a:sym typeface="Symbol" panose="05050102010706020507" pitchFamily="18" charset="2"/>
                      </a:rPr>
                      <m:t>=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a:rPr lang="en-US" sz="1600" b="0" i="1" dirty="0" smtClean="0">
                        <a:latin typeface="Cambria Math" panose="02040503050406030204" pitchFamily="18" charset="0"/>
                        <a:cs typeface="Times New Roman" panose="02020603050405020304" pitchFamily="18" charset="0"/>
                      </a:rPr>
                      <m:t>𝑐𝑜𝑠</m:t>
                    </m:r>
                    <m:sSub>
                      <m:sSubPr>
                        <m:ctrlPr>
                          <a:rPr lang="en-US" sz="1600" b="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rPr>
                          <m:t>𝜃</m:t>
                        </m:r>
                      </m:e>
                      <m:sub>
                        <m:r>
                          <a:rPr lang="en-US" sz="1600" b="0" i="1" dirty="0" smtClean="0">
                            <a:latin typeface="Cambria Math" panose="02040503050406030204" pitchFamily="18" charset="0"/>
                            <a:cs typeface="Times New Roman" panose="02020603050405020304" pitchFamily="18" charset="0"/>
                          </a:rPr>
                          <m:t>0</m:t>
                        </m:r>
                      </m:sub>
                    </m:sSub>
                  </m:oMath>
                </a14:m>
                <a:endParaRPr lang="en-US" sz="1600" b="0" i="1" dirty="0">
                  <a:latin typeface="Cambria Math" panose="02040503050406030204" pitchFamily="18" charset="0"/>
                  <a:cs typeface="Times New Roman" panose="02020603050405020304" pitchFamily="18" charset="0"/>
                </a:endParaRPr>
              </a:p>
              <a:p>
                <a:pPr marL="0" indent="0" algn="just">
                  <a:buNone/>
                </a:pPr>
                <a:r>
                  <a:rPr lang="en-IN" sz="1600" dirty="0">
                    <a:cs typeface="Times New Roman" panose="02020603050405020304" pitchFamily="18" charset="0"/>
                    <a:sym typeface="Symbol" panose="05050102010706020507" pitchFamily="18" charset="2"/>
                  </a:rPr>
                  <a:t>		</a:t>
                </a:r>
                <a14:m>
                  <m:oMath xmlns:m="http://schemas.openxmlformats.org/officeDocument/2006/math">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By Rearranging,</a:t>
                </a:r>
              </a:p>
              <a:p>
                <a:pPr marL="0" indent="0" algn="just">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(10)	</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Where, Contraction Factor ()</a:t>
                </a:r>
              </a:p>
              <a:p>
                <a:pPr marL="0" indent="0" algn="just">
                  <a:buNone/>
                </a:pPr>
                <a14:m>
                  <m:oMathPara xmlns:m="http://schemas.openxmlformats.org/officeDocument/2006/math">
                    <m:oMath>
                      <m:r>
                        <a:rPr lang="en-IN"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=1 −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oMath>
                  </m:oMathPara>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2F78D876-251E-85C5-6A7D-BE0697549C31}"/>
                  </a:ext>
                </a:extLst>
              </p:cNvPr>
              <p:cNvSpPr>
                <a:spLocks noGrp="1" noRot="1" noChangeAspect="1" noMove="1" noResize="1" noEditPoints="1" noAdjustHandles="1" noChangeArrowheads="1" noChangeShapeType="1" noTextEdit="1"/>
              </p:cNvSpPr>
              <p:nvPr>
                <p:ph idx="1"/>
              </p:nvPr>
            </p:nvSpPr>
            <p:spPr>
              <a:xfrm>
                <a:off x="6373281" y="1393475"/>
                <a:ext cx="5433054" cy="5106956"/>
              </a:xfrm>
              <a:blipFill>
                <a:blip r:embed="rId2"/>
                <a:stretch>
                  <a:fillRect l="-448" t="-836" r="-3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178E7A-19B5-2D3B-5C12-C52417669B35}"/>
                  </a:ext>
                </a:extLst>
              </p:cNvPr>
              <p:cNvSpPr txBox="1"/>
              <p:nvPr/>
            </p:nvSpPr>
            <p:spPr>
              <a:xfrm>
                <a:off x="1663900" y="1410165"/>
                <a:ext cx="4746232" cy="413049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Diff. eq (2) &amp; eq (5) w. r. t. </a:t>
                </a:r>
                <a:r>
                  <a:rPr lang="en-IN" sz="1400" dirty="0">
                    <a:latin typeface="Times New Roman" panose="02020603050405020304" pitchFamily="18" charset="0"/>
                    <a:cs typeface="Times New Roman" panose="02020603050405020304" pitchFamily="18" charset="0"/>
                    <a:sym typeface="Symbol" panose="05050102010706020507" pitchFamily="18" charset="2"/>
                  </a:rPr>
                  <a:t> </a:t>
                </a:r>
              </a:p>
              <a:p>
                <a:r>
                  <a:rPr lang="en-IN" sz="1400" dirty="0">
                    <a:cs typeface="Times New Roman" panose="02020603050405020304" pitchFamily="18" charset="0"/>
                    <a:sym typeface="Symbol" panose="05050102010706020507" pitchFamily="18" charset="2"/>
                  </a:rPr>
                  <a:t>	</a:t>
                </a:r>
                <a14:m>
                  <m:oMath xmlns:m="http://schemas.openxmlformats.org/officeDocument/2006/math">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𝑑𝐿</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𝑑</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oMath>
                </a14:m>
                <a:r>
                  <a:rPr lang="en-IN" sz="1400" dirty="0">
                    <a:latin typeface="Times New Roman" panose="02020603050405020304" pitchFamily="18" charset="0"/>
                    <a:cs typeface="Times New Roman" panose="02020603050405020304" pitchFamily="18" charset="0"/>
                    <a:sym typeface="Symbol" panose="05050102010706020507" pitchFamily="18" charset="2"/>
                  </a:rPr>
                  <a:t> …….…..……………………. (6)</a:t>
                </a:r>
              </a:p>
              <a:p>
                <a:r>
                  <a:rPr lang="en-IN" sz="14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𝑑</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𝑏</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3</m:t>
                            </m:r>
                          </m:sup>
                        </m:sSup>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4</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𝑛</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∗[3</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−1]</m:t>
                    </m:r>
                  </m:oMath>
                </a14:m>
                <a:r>
                  <a:rPr lang="en-IN" sz="1400" dirty="0">
                    <a:latin typeface="Times New Roman" panose="02020603050405020304" pitchFamily="18" charset="0"/>
                    <a:cs typeface="Times New Roman" panose="02020603050405020304" pitchFamily="18" charset="0"/>
                    <a:sym typeface="Symbol" panose="05050102010706020507" pitchFamily="18" charset="2"/>
                  </a:rPr>
                  <a:t> …….………. (7)</a:t>
                </a:r>
              </a:p>
              <a:p>
                <a:r>
                  <a:rPr lang="en-IN" sz="1400" dirty="0">
                    <a:latin typeface="Times New Roman" panose="02020603050405020304" pitchFamily="18" charset="0"/>
                    <a:cs typeface="Times New Roman" panose="02020603050405020304" pitchFamily="18" charset="0"/>
                    <a:sym typeface="Symbol" panose="05050102010706020507" pitchFamily="18" charset="2"/>
                  </a:rPr>
                  <a:t>Substitute the value of </a:t>
                </a:r>
                <a:r>
                  <a:rPr lang="en-IN" sz="1400" dirty="0" err="1">
                    <a:latin typeface="Times New Roman" panose="02020603050405020304" pitchFamily="18" charset="0"/>
                    <a:cs typeface="Times New Roman" panose="02020603050405020304" pitchFamily="18" charset="0"/>
                    <a:sym typeface="Symbol" panose="05050102010706020507" pitchFamily="18" charset="2"/>
                  </a:rPr>
                  <a:t>eq</a:t>
                </a:r>
                <a:r>
                  <a:rPr lang="en-IN" sz="1400" dirty="0">
                    <a:latin typeface="Times New Roman" panose="02020603050405020304" pitchFamily="18" charset="0"/>
                    <a:cs typeface="Times New Roman" panose="02020603050405020304" pitchFamily="18" charset="0"/>
                    <a:sym typeface="Symbol" panose="05050102010706020507" pitchFamily="18" charset="2"/>
                  </a:rPr>
                  <a:t> (6) &amp; </a:t>
                </a:r>
                <a:r>
                  <a:rPr lang="en-IN" sz="1400" dirty="0" err="1">
                    <a:latin typeface="Times New Roman" panose="02020603050405020304" pitchFamily="18" charset="0"/>
                    <a:cs typeface="Times New Roman" panose="02020603050405020304" pitchFamily="18" charset="0"/>
                    <a:sym typeface="Symbol" panose="05050102010706020507" pitchFamily="18" charset="2"/>
                  </a:rPr>
                  <a:t>eq</a:t>
                </a:r>
                <a:r>
                  <a:rPr lang="en-IN" sz="1400" dirty="0">
                    <a:latin typeface="Times New Roman" panose="02020603050405020304" pitchFamily="18" charset="0"/>
                    <a:cs typeface="Times New Roman" panose="02020603050405020304" pitchFamily="18" charset="0"/>
                    <a:sym typeface="Symbol" panose="05050102010706020507" pitchFamily="18" charset="2"/>
                  </a:rPr>
                  <a:t> (7) in </a:t>
                </a:r>
                <a:r>
                  <a:rPr lang="en-IN" sz="1400" dirty="0" err="1">
                    <a:latin typeface="Times New Roman" panose="02020603050405020304" pitchFamily="18" charset="0"/>
                    <a:cs typeface="Times New Roman" panose="02020603050405020304" pitchFamily="18" charset="0"/>
                    <a:sym typeface="Symbol" panose="05050102010706020507" pitchFamily="18" charset="2"/>
                  </a:rPr>
                  <a:t>eq</a:t>
                </a:r>
                <a:r>
                  <a:rPr lang="en-IN" sz="1400" dirty="0">
                    <a:latin typeface="Times New Roman" panose="02020603050405020304" pitchFamily="18" charset="0"/>
                    <a:cs typeface="Times New Roman" panose="02020603050405020304" pitchFamily="18" charset="0"/>
                    <a:sym typeface="Symbol" panose="05050102010706020507" pitchFamily="18" charset="2"/>
                  </a:rPr>
                  <a:t> (1)</a:t>
                </a:r>
              </a:p>
              <a:p>
                <a:r>
                  <a:rPr lang="en-IN" sz="14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𝑑𝐿</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𝑑</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num>
                      <m:den>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𝑑𝐿</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𝑑</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den>
                    </m:f>
                  </m:oMath>
                </a14:m>
                <a:r>
                  <a:rPr lang="en-IN" sz="1400" dirty="0">
                    <a:latin typeface="Times New Roman" panose="02020603050405020304" pitchFamily="18" charset="0"/>
                    <a:cs typeface="Times New Roman" panose="02020603050405020304" pitchFamily="18" charset="0"/>
                    <a:sym typeface="Symbol" panose="05050102010706020507" pitchFamily="18" charset="2"/>
                  </a:rPr>
                  <a:t>		       </a:t>
                </a:r>
              </a:p>
              <a:p>
                <a:r>
                  <a:rPr lang="en-IN" sz="1400" dirty="0">
                    <a:latin typeface="Times New Roman" panose="02020603050405020304" pitchFamily="18" charset="0"/>
                    <a:cs typeface="Times New Roman" panose="02020603050405020304" pitchFamily="18" charset="0"/>
                  </a:rPr>
                  <a:t>After substituting and rearranging, we get:</a:t>
                </a:r>
              </a:p>
              <a:p>
                <a:r>
                  <a:rPr lang="en-IN" sz="1400" dirty="0">
                    <a:latin typeface="Times New Roman" panose="02020603050405020304" pitchFamily="18" charset="0"/>
                    <a:cs typeface="Times New Roman" panose="02020603050405020304" pitchFamily="18" charset="0"/>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rPr>
                      <m:t>𝐹</m:t>
                    </m:r>
                    <m:r>
                      <a:rPr lang="en-US" sz="1600" b="0" i="1" smtClean="0">
                        <a:latin typeface="Cambria Math" panose="02040503050406030204" pitchFamily="18" charset="0"/>
                        <a:cs typeface="Times New Roman" panose="02020603050405020304" pitchFamily="18" charset="0"/>
                      </a:rPr>
                      <m:t>= </m:t>
                    </m:r>
                    <m:f>
                      <m:fPr>
                        <m:ctrlPr>
                          <a:rPr lang="en-US" sz="1600" b="0" i="1" smtClean="0">
                            <a:latin typeface="Cambria Math" panose="02040503050406030204" pitchFamily="18" charset="0"/>
                            <a:cs typeface="Times New Roman" panose="02020603050405020304" pitchFamily="18" charset="0"/>
                          </a:rPr>
                        </m:ctrlPr>
                      </m:fPr>
                      <m:num>
                        <m:sSup>
                          <m:sSupPr>
                            <m:ctrlPr>
                              <a:rPr lang="en-US" sz="1600" b="0" i="1" smtClean="0">
                                <a:latin typeface="Cambria Math" panose="02040503050406030204" pitchFamily="18" charset="0"/>
                                <a:cs typeface="Times New Roman" panose="02020603050405020304" pitchFamily="18" charset="0"/>
                              </a:rPr>
                            </m:ctrlPr>
                          </m:sSupPr>
                          <m:e>
                            <m:r>
                              <a:rPr lang="en-US" sz="1600" b="0" i="1" smtClean="0">
                                <a:latin typeface="Cambria Math" panose="02040503050406030204" pitchFamily="18" charset="0"/>
                                <a:cs typeface="Times New Roman" panose="02020603050405020304" pitchFamily="18" charset="0"/>
                              </a:rPr>
                              <m:t>𝑃</m:t>
                            </m:r>
                          </m:e>
                          <m:sup>
                            <m:r>
                              <a:rPr lang="en-US" sz="1600" b="0" i="1" smtClean="0">
                                <a:latin typeface="Cambria Math" panose="02040503050406030204" pitchFamily="18" charset="0"/>
                                <a:cs typeface="Times New Roman" panose="02020603050405020304" pitchFamily="18" charset="0"/>
                              </a:rPr>
                              <m:t>′</m:t>
                            </m:r>
                          </m:sup>
                        </m:sSup>
                        <m:sSup>
                          <m:sSupPr>
                            <m:ctrlPr>
                              <a:rPr lang="en-US" sz="1600" b="0" i="1" smtClean="0">
                                <a:latin typeface="Cambria Math" panose="02040503050406030204" pitchFamily="18" charset="0"/>
                                <a:cs typeface="Times New Roman" panose="02020603050405020304" pitchFamily="18" charset="0"/>
                              </a:rPr>
                            </m:ctrlPr>
                          </m:sSupPr>
                          <m:e>
                            <m:r>
                              <a:rPr lang="en-US" sz="1600" b="0" i="1" smtClean="0">
                                <a:latin typeface="Cambria Math" panose="02040503050406030204" pitchFamily="18" charset="0"/>
                                <a:cs typeface="Times New Roman" panose="02020603050405020304" pitchFamily="18" charset="0"/>
                              </a:rPr>
                              <m:t>𝐷</m:t>
                            </m:r>
                          </m:e>
                          <m:sup>
                            <m:r>
                              <a:rPr lang="en-US" sz="1600" b="0" i="1" smtClean="0">
                                <a:latin typeface="Cambria Math" panose="02040503050406030204" pitchFamily="18" charset="0"/>
                                <a:cs typeface="Times New Roman" panose="02020603050405020304" pitchFamily="18" charset="0"/>
                              </a:rPr>
                              <m:t>2</m:t>
                            </m:r>
                          </m:sup>
                        </m:sSup>
                        <m:r>
                          <a:rPr lang="en-US" sz="1600" b="0" i="1" smtClean="0">
                            <a:latin typeface="Cambria Math" panose="02040503050406030204" pitchFamily="18" charset="0"/>
                            <a:cs typeface="Times New Roman" panose="02020603050405020304" pitchFamily="18" charset="0"/>
                          </a:rPr>
                          <m:t> (3</m:t>
                        </m:r>
                        <m:sSup>
                          <m:sSupPr>
                            <m:ctrlPr>
                              <a:rPr lang="en-US" sz="1600" b="0" i="1" smtClean="0">
                                <a:latin typeface="Cambria Math" panose="02040503050406030204" pitchFamily="18" charset="0"/>
                                <a:cs typeface="Times New Roman" panose="02020603050405020304" pitchFamily="18" charset="0"/>
                              </a:rPr>
                            </m:ctrlPr>
                          </m:sSupPr>
                          <m:e>
                            <m:r>
                              <a:rPr lang="en-US" sz="1600" b="0" i="1" smtClean="0">
                                <a:latin typeface="Cambria Math" panose="02040503050406030204" pitchFamily="18" charset="0"/>
                                <a:cs typeface="Times New Roman" panose="02020603050405020304" pitchFamily="18" charset="0"/>
                              </a:rPr>
                              <m:t>𝑐𝑜𝑠</m:t>
                            </m:r>
                          </m:e>
                          <m:sup>
                            <m:r>
                              <a:rPr lang="en-US" sz="1600" b="0" i="1" smtClean="0">
                                <a:latin typeface="Cambria Math" panose="02040503050406030204" pitchFamily="18" charset="0"/>
                                <a:cs typeface="Times New Roman" panose="02020603050405020304" pitchFamily="18" charset="0"/>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rPr>
                          <m:t> −1)</m:t>
                        </m:r>
                      </m:num>
                      <m:den>
                        <m:r>
                          <a:rPr lang="en-US" sz="1600" b="0" i="1" smtClean="0">
                            <a:latin typeface="Cambria Math" panose="02040503050406030204" pitchFamily="18" charset="0"/>
                            <a:cs typeface="Times New Roman" panose="02020603050405020304" pitchFamily="18" charset="0"/>
                          </a:rPr>
                          <m:t>4</m:t>
                        </m:r>
                        <m:r>
                          <a:rPr lang="en-US" sz="1600" b="0" i="1" smtClean="0">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rPr>
                              <m:t>𝑛</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en-IN" sz="1400" dirty="0">
                    <a:latin typeface="Times New Roman" panose="02020603050405020304" pitchFamily="18" charset="0"/>
                    <a:cs typeface="Times New Roman" panose="02020603050405020304" pitchFamily="18" charset="0"/>
                  </a:rPr>
                  <a:t> ……………………... (8)</a:t>
                </a:r>
              </a:p>
              <a:p>
                <a:r>
                  <a:rPr lang="en-IN" sz="14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a:t>
                </a:r>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r>
                  <a:rPr lang="en-US" sz="1400" dirty="0">
                    <a:cs typeface="Times New Roman" panose="02020603050405020304" pitchFamily="18" charset="0"/>
                    <a:sym typeface="Symbol" panose="05050102010706020507" pitchFamily="18" charset="2"/>
                  </a:rPr>
                  <a:t>	</a:t>
                </a:r>
                <a14:m>
                  <m:oMath xmlns:m="http://schemas.openxmlformats.org/officeDocument/2006/math">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endParaRPr lang="en-US" sz="1600" b="0" dirty="0">
                  <a:ea typeface="Cambria Math" panose="02040503050406030204" pitchFamily="18" charset="0"/>
                  <a:cs typeface="Times New Roman" panose="02020603050405020304" pitchFamily="18" charset="0"/>
                  <a:sym typeface="Symbol" panose="05050102010706020507" pitchFamily="18" charset="2"/>
                </a:endParaRPr>
              </a:p>
              <a:p>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400" dirty="0">
                    <a:latin typeface="Times New Roman" panose="02020603050405020304" pitchFamily="18" charset="0"/>
                    <a:cs typeface="Times New Roman" panose="02020603050405020304" pitchFamily="18" charset="0"/>
                    <a:sym typeface="Symbol" panose="05050102010706020507" pitchFamily="18" charset="2"/>
                  </a:rPr>
                  <a:t>By substituting the value of D &amp; trigonometric relation in </a:t>
                </a:r>
                <a:r>
                  <a:rPr lang="en-IN" sz="1400" dirty="0" err="1">
                    <a:latin typeface="Times New Roman" panose="02020603050405020304" pitchFamily="18" charset="0"/>
                    <a:cs typeface="Times New Roman" panose="02020603050405020304" pitchFamily="18" charset="0"/>
                    <a:sym typeface="Symbol" panose="05050102010706020507" pitchFamily="18" charset="2"/>
                  </a:rPr>
                  <a:t>eq</a:t>
                </a:r>
                <a:r>
                  <a:rPr lang="en-IN" sz="1400" dirty="0">
                    <a:latin typeface="Times New Roman" panose="02020603050405020304" pitchFamily="18" charset="0"/>
                    <a:cs typeface="Times New Roman" panose="02020603050405020304" pitchFamily="18" charset="0"/>
                    <a:sym typeface="Symbol" panose="05050102010706020507" pitchFamily="18" charset="2"/>
                  </a:rPr>
                  <a:t> (8)</a:t>
                </a:r>
              </a:p>
              <a:p>
                <a:pPr marL="0" indent="0" algn="just">
                  <a:buNone/>
                </a:pPr>
                <a:r>
                  <a:rPr lang="en-IN" sz="14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4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4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−1)</m:t>
                        </m:r>
                      </m:num>
                      <m:den>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oMath>
                </a14:m>
                <a:r>
                  <a:rPr lang="en-IN" sz="1400" dirty="0">
                    <a:latin typeface="Times New Roman" panose="02020603050405020304" pitchFamily="18" charset="0"/>
                    <a:cs typeface="Times New Roman" panose="02020603050405020304" pitchFamily="18" charset="0"/>
                    <a:sym typeface="Symbol" panose="05050102010706020507" pitchFamily="18" charset="2"/>
                  </a:rPr>
                  <a:t> ……………….. (9)</a:t>
                </a:r>
              </a:p>
            </p:txBody>
          </p:sp>
        </mc:Choice>
        <mc:Fallback xmlns="">
          <p:sp>
            <p:nvSpPr>
              <p:cNvPr id="4" name="TextBox 3">
                <a:extLst>
                  <a:ext uri="{FF2B5EF4-FFF2-40B4-BE49-F238E27FC236}">
                    <a16:creationId xmlns:a16="http://schemas.microsoft.com/office/drawing/2014/main" id="{C9178E7A-19B5-2D3B-5C12-C52417669B35}"/>
                  </a:ext>
                </a:extLst>
              </p:cNvPr>
              <p:cNvSpPr txBox="1">
                <a:spLocks noRot="1" noChangeAspect="1" noMove="1" noResize="1" noEditPoints="1" noAdjustHandles="1" noChangeArrowheads="1" noChangeShapeType="1" noTextEdit="1"/>
              </p:cNvSpPr>
              <p:nvPr/>
            </p:nvSpPr>
            <p:spPr>
              <a:xfrm>
                <a:off x="1663900" y="1410165"/>
                <a:ext cx="4746232" cy="4130490"/>
              </a:xfrm>
              <a:prstGeom prst="rect">
                <a:avLst/>
              </a:prstGeom>
              <a:blipFill>
                <a:blip r:embed="rId3"/>
                <a:stretch>
                  <a:fillRect l="-385" t="-295" r="-257"/>
                </a:stretch>
              </a:blipFill>
            </p:spPr>
            <p:txBody>
              <a:bodyPr/>
              <a:lstStyle/>
              <a:p>
                <a:r>
                  <a:rPr lang="en-US">
                    <a:noFill/>
                  </a:rPr>
                  <a:t> </a:t>
                </a:r>
              </a:p>
            </p:txBody>
          </p:sp>
        </mc:Fallback>
      </mc:AlternateContent>
    </p:spTree>
    <p:extLst>
      <p:ext uri="{BB962C8B-B14F-4D97-AF65-F5344CB8AC3E}">
        <p14:creationId xmlns:p14="http://schemas.microsoft.com/office/powerpoint/2010/main" val="1186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33AA-4472-5B45-A46D-F4421A1F16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FDA5C2-7FDB-F59D-7DFA-3BFE3A76C49D}"/>
                  </a:ext>
                </a:extLst>
              </p:cNvPr>
              <p:cNvSpPr txBox="1"/>
              <p:nvPr/>
            </p:nvSpPr>
            <p:spPr>
              <a:xfrm>
                <a:off x="1663899" y="1466151"/>
                <a:ext cx="5977871" cy="4358373"/>
              </a:xfrm>
              <a:prstGeom prst="rect">
                <a:avLst/>
              </a:prstGeom>
              <a:noFill/>
            </p:spPr>
            <p:txBody>
              <a:bodyPr wrap="square" rtlCol="0">
                <a:spAutoFit/>
              </a:bodyPr>
              <a:lstStyle/>
              <a:p>
                <a:pPr algn="just"/>
                <a:r>
                  <a:rPr lang="en-US" sz="1600" b="0" dirty="0">
                    <a:ea typeface="Cambria Math" panose="020405030504060302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IN"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algn="just"/>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600" dirty="0">
                    <a:latin typeface="Times New Roman" panose="02020603050405020304" pitchFamily="18" charset="0"/>
                    <a:cs typeface="Times New Roman" panose="02020603050405020304" pitchFamily="18" charset="0"/>
                    <a:sym typeface="Symbol" panose="05050102010706020507" pitchFamily="18" charset="2"/>
                  </a:rPr>
                  <a:t>Put this value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(10)</a:t>
                </a:r>
              </a:p>
              <a:p>
                <a:pPr algn="just"/>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b>
                      <m:sSub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b="0" i="1" smtClean="0">
                            <a:latin typeface="Cambria Math" panose="02040503050406030204" pitchFamily="18" charset="0"/>
                            <a:cs typeface="Times New Roman" panose="02020603050405020304" pitchFamily="18" charset="0"/>
                            <a:sym typeface="Symbol" panose="05050102010706020507" pitchFamily="18" charset="2"/>
                          </a:rPr>
                          <m:t> ∗ </m:t>
                        </m:r>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b="0" i="1" smtClean="0">
                            <a:latin typeface="Cambria Math" panose="02040503050406030204" pitchFamily="18" charset="0"/>
                            <a:cs typeface="Times New Roman" panose="02020603050405020304" pitchFamily="18" charset="0"/>
                            <a:sym typeface="Symbol" panose="05050102010706020507" pitchFamily="18" charset="2"/>
                          </a:rPr>
                          <m:t>0</m:t>
                        </m:r>
                      </m:sub>
                    </m:sSub>
                  </m:oMath>
                </a14:m>
                <a:r>
                  <a:rPr lang="en-IN" dirty="0">
                    <a:latin typeface="Times New Roman" panose="02020603050405020304" pitchFamily="18" charset="0"/>
                    <a:cs typeface="Times New Roman" panose="02020603050405020304" pitchFamily="18" charset="0"/>
                    <a:sym typeface="Symbol" panose="05050102010706020507" pitchFamily="18" charset="2"/>
                  </a:rPr>
                  <a:t>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algn="just"/>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600" dirty="0">
                    <a:latin typeface="Times New Roman" panose="02020603050405020304" pitchFamily="18" charset="0"/>
                    <a:cs typeface="Times New Roman" panose="02020603050405020304" pitchFamily="18" charset="0"/>
                  </a:rPr>
                  <a:t>Substitute cos</a:t>
                </a:r>
                <a:r>
                  <a:rPr lang="en-IN" sz="1600" dirty="0">
                    <a:latin typeface="Times New Roman" panose="02020603050405020304" pitchFamily="18" charset="0"/>
                    <a:cs typeface="Times New Roman" panose="02020603050405020304" pitchFamily="18" charset="0"/>
                    <a:sym typeface="Symbol" panose="05050102010706020507" pitchFamily="18" charset="2"/>
                  </a:rPr>
                  <a:t>, D = D</a:t>
                </a:r>
                <a:r>
                  <a:rPr lang="en-IN" sz="9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 = sin</a:t>
                </a:r>
                <a:r>
                  <a:rPr lang="en-IN" sz="900" dirty="0">
                    <a:latin typeface="Times New Roman" panose="02020603050405020304" pitchFamily="18" charset="0"/>
                    <a:cs typeface="Times New Roman" panose="02020603050405020304" pitchFamily="18" charset="0"/>
                    <a:sym typeface="Symbol" panose="05050102010706020507" pitchFamily="18" charset="2"/>
                  </a:rPr>
                  <a:t>0</a:t>
                </a:r>
                <a:r>
                  <a:rPr lang="en-IN" sz="1000" dirty="0">
                    <a:latin typeface="Times New Roman" panose="02020603050405020304" pitchFamily="18" charset="0"/>
                    <a:cs typeface="Times New Roman" panose="02020603050405020304" pitchFamily="18" charset="0"/>
                    <a:sym typeface="Symbol" panose="05050102010706020507" pitchFamily="18" charset="2"/>
                  </a:rPr>
                  <a:t> </a:t>
                </a:r>
                <a:r>
                  <a:rPr lang="en-IN" sz="1600" dirty="0">
                    <a:latin typeface="Times New Roman" panose="02020603050405020304" pitchFamily="18" charset="0"/>
                    <a:cs typeface="Times New Roman" panose="02020603050405020304" pitchFamily="18" charset="0"/>
                    <a:sym typeface="Symbol" panose="05050102010706020507" pitchFamily="18" charset="2"/>
                  </a:rPr>
                  <a:t>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(9)</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𝐹</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i="1">
                                <a:latin typeface="Cambria Math" panose="02040503050406030204" pitchFamily="18" charset="0"/>
                                <a:cs typeface="Times New Roman" panose="02020603050405020304" pitchFamily="18" charset="0"/>
                                <a:sym typeface="Symbol" panose="05050102010706020507" pitchFamily="18" charset="2"/>
                              </a:rPr>
                            </m:ctrlPr>
                          </m:sSubPr>
                          <m:e>
                            <m:r>
                              <a:rPr lang="en-US"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i="1">
                                <a:latin typeface="Cambria Math" panose="02040503050406030204" pitchFamily="18" charset="0"/>
                                <a:cs typeface="Times New Roman" panose="02020603050405020304" pitchFamily="18" charset="0"/>
                                <a:sym typeface="Symbol" panose="05050102010706020507" pitchFamily="18" charset="2"/>
                              </a:rPr>
                              <m:t>0</m:t>
                            </m:r>
                          </m:sub>
                        </m:sSub>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dirty="0">
                  <a:latin typeface="Times New Roman" panose="02020603050405020304" pitchFamily="18" charset="0"/>
                  <a:cs typeface="Times New Roman" panose="02020603050405020304" pitchFamily="18" charset="0"/>
                  <a:sym typeface="Symbol" panose="05050102010706020507" pitchFamily="18" charset="2"/>
                </a:endParaRPr>
              </a:p>
              <a:p>
                <a:pPr algn="just"/>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600" dirty="0">
                    <a:latin typeface="Times New Roman" panose="02020603050405020304" pitchFamily="18" charset="0"/>
                    <a:cs typeface="Times New Roman" panose="02020603050405020304" pitchFamily="18" charset="0"/>
                    <a:sym typeface="Symbol" panose="05050102010706020507" pitchFamily="18" charset="2"/>
                  </a:rPr>
                  <a:t>This Calculations for Static Conditions </a:t>
                </a:r>
              </a:p>
              <a:p>
                <a:pPr algn="just"/>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600" dirty="0">
                    <a:latin typeface="Times New Roman" panose="02020603050405020304" pitchFamily="18" charset="0"/>
                    <a:cs typeface="Times New Roman" panose="02020603050405020304" pitchFamily="18" charset="0"/>
                    <a:sym typeface="Symbol" panose="05050102010706020507" pitchFamily="18" charset="2"/>
                  </a:rPr>
                  <a:t>Formula for Pressure by rearranging,</a:t>
                </a:r>
              </a:p>
              <a:p>
                <a:pPr lvl="1" algn="just"/>
                <a14:m>
                  <m:oMathPara xmlns:m="http://schemas.openxmlformats.org/officeDocument/2006/math">
                    <m:oMathParaPr>
                      <m:jc m:val="left"/>
                    </m:oMathParaPr>
                    <m:oMath>
                      <m:sSup>
                        <m:sSupPr>
                          <m:ctrlPr>
                            <a:rPr lang="en-US" sz="1400" i="1">
                              <a:latin typeface="Cambria Math" panose="02040503050406030204" pitchFamily="18" charset="0"/>
                              <a:cs typeface="Times New Roman" panose="02020603050405020304" pitchFamily="18" charset="0"/>
                              <a:sym typeface="Symbol" panose="05050102010706020507" pitchFamily="18" charset="2"/>
                            </a:rPr>
                          </m:ctrlPr>
                        </m:sSupPr>
                        <m:e>
                          <m:r>
                            <a:rPr lang="en-US" sz="1400" i="1">
                              <a:latin typeface="Cambria Math" panose="02040503050406030204" pitchFamily="18" charset="0"/>
                              <a:cs typeface="Times New Roman" panose="02020603050405020304" pitchFamily="18" charset="0"/>
                              <a:sym typeface="Symbol" panose="05050102010706020507" pitchFamily="18" charset="2"/>
                            </a:rPr>
                            <m:t>𝑃</m:t>
                          </m:r>
                        </m:e>
                        <m:sup>
                          <m:r>
                            <a:rPr lang="en-US" sz="1400" i="1">
                              <a:latin typeface="Cambria Math" panose="02040503050406030204" pitchFamily="18" charset="0"/>
                              <a:cs typeface="Times New Roman" panose="02020603050405020304" pitchFamily="18" charset="0"/>
                              <a:sym typeface="Symbol" panose="05050102010706020507" pitchFamily="18" charset="2"/>
                            </a:rPr>
                            <m:t>′</m:t>
                          </m:r>
                        </m:sup>
                      </m:sSup>
                      <m:r>
                        <a:rPr lang="en-US" sz="1600" i="1">
                          <a:latin typeface="Cambria Math" panose="02040503050406030204" pitchFamily="18" charset="0"/>
                          <a:cs typeface="Times New Roman" panose="02020603050405020304" pitchFamily="18" charset="0"/>
                          <a:sym typeface="Symbol" panose="05050102010706020507" pitchFamily="18" charset="2"/>
                        </a:rPr>
                        <m:t>= </m:t>
                      </m:r>
                      <m:f>
                        <m:f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𝐹</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∗4∗</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𝑠𝑖𝑛</m:t>
                              </m:r>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num>
                        <m:den>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d>
                            <m:d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3</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d>
                                    <m:d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𝜖</m:t>
                                      </m:r>
                                    </m:e>
                                  </m:d>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e>
                          </m:d>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10</m:t>
                              </m:r>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5</m:t>
                              </m:r>
                            </m:sup>
                          </m:sSup>
                        </m:den>
                      </m:f>
                    </m:oMath>
                  </m:oMathPara>
                </a14:m>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600" u="sng" dirty="0">
                    <a:latin typeface="Times New Roman" panose="02020603050405020304" pitchFamily="18" charset="0"/>
                    <a:cs typeface="Times New Roman" panose="02020603050405020304" pitchFamily="18" charset="0"/>
                    <a:sym typeface="Symbol" panose="05050102010706020507" pitchFamily="18" charset="2"/>
                  </a:rPr>
                  <a:t>Keep this in mind this Formulation is for Ideal Case only.</a:t>
                </a:r>
              </a:p>
            </p:txBody>
          </p:sp>
        </mc:Choice>
        <mc:Fallback xmlns="">
          <p:sp>
            <p:nvSpPr>
              <p:cNvPr id="4" name="TextBox 3">
                <a:extLst>
                  <a:ext uri="{FF2B5EF4-FFF2-40B4-BE49-F238E27FC236}">
                    <a16:creationId xmlns:a16="http://schemas.microsoft.com/office/drawing/2014/main" id="{ADFDA5C2-7FDB-F59D-7DFA-3BFE3A76C49D}"/>
                  </a:ext>
                </a:extLst>
              </p:cNvPr>
              <p:cNvSpPr txBox="1">
                <a:spLocks noRot="1" noChangeAspect="1" noMove="1" noResize="1" noEditPoints="1" noAdjustHandles="1" noChangeArrowheads="1" noChangeShapeType="1" noTextEdit="1"/>
              </p:cNvSpPr>
              <p:nvPr/>
            </p:nvSpPr>
            <p:spPr>
              <a:xfrm>
                <a:off x="1663899" y="1466151"/>
                <a:ext cx="5977871" cy="4358373"/>
              </a:xfrm>
              <a:prstGeom prst="rect">
                <a:avLst/>
              </a:prstGeom>
              <a:blipFill>
                <a:blip r:embed="rId2"/>
                <a:stretch>
                  <a:fillRect l="-612" b="-1681"/>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9D77E9AE-9871-6B83-F520-829F3936D0E9}"/>
              </a:ext>
            </a:extLst>
          </p:cNvPr>
          <p:cNvSpPr txBox="1">
            <a:spLocks/>
          </p:cNvSpPr>
          <p:nvPr/>
        </p:nvSpPr>
        <p:spPr>
          <a:xfrm>
            <a:off x="1738594" y="608555"/>
            <a:ext cx="10002384" cy="67905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146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178E7A-19B5-2D3B-5C12-C52417669B35}"/>
                  </a:ext>
                </a:extLst>
              </p:cNvPr>
              <p:cNvSpPr txBox="1"/>
              <p:nvPr/>
            </p:nvSpPr>
            <p:spPr>
              <a:xfrm>
                <a:off x="1822492" y="1204897"/>
                <a:ext cx="4652953" cy="5379421"/>
              </a:xfrm>
              <a:prstGeom prst="rect">
                <a:avLst/>
              </a:prstGeom>
              <a:noFill/>
            </p:spPr>
            <p:txBody>
              <a:bodyPr wrap="square" rtlCol="0">
                <a:spAutoFit/>
              </a:bodyPr>
              <a:lstStyle/>
              <a:p>
                <a:pPr algn="just"/>
                <a:r>
                  <a:rPr lang="en-US" sz="14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By using this Formula</a:t>
                </a:r>
                <a:r>
                  <a:rPr lang="en-US" sz="12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t>
                </a:r>
                <a:endParaRPr lang="en-IN" sz="1200" dirty="0">
                  <a:latin typeface="Times New Roman" panose="02020603050405020304" pitchFamily="18" charset="0"/>
                  <a:cs typeface="Times New Roman" panose="02020603050405020304" pitchFamily="18" charset="0"/>
                </a:endParaRPr>
              </a:p>
              <a:p>
                <a:pPr algn="just"/>
                <a:r>
                  <a:rPr lang="en-IN" sz="1200" dirty="0">
                    <a:latin typeface="Times New Roman" panose="02020603050405020304" pitchFamily="18" charset="0"/>
                    <a:cs typeface="Times New Roman" panose="02020603050405020304" pitchFamily="18" charset="0"/>
                  </a:rPr>
                  <a:t>	</a:t>
                </a:r>
                <a:r>
                  <a:rPr lang="en-US" sz="1200" b="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4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4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sz="14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i="1">
                                <a:latin typeface="Cambria Math" panose="02040503050406030204" pitchFamily="18" charset="0"/>
                                <a:cs typeface="Times New Roman" panose="02020603050405020304" pitchFamily="18" charset="0"/>
                                <a:sym typeface="Symbol" panose="05050102010706020507" pitchFamily="18" charset="2"/>
                              </a:rPr>
                            </m:ctrlPr>
                          </m:sSubPr>
                          <m:e>
                            <m:r>
                              <a:rPr lang="en-US" sz="1400"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i="1">
                                <a:latin typeface="Cambria Math" panose="02040503050406030204" pitchFamily="18" charset="0"/>
                                <a:cs typeface="Times New Roman" panose="02020603050405020304" pitchFamily="18" charset="0"/>
                                <a:sym typeface="Symbol" panose="05050102010706020507" pitchFamily="18" charset="2"/>
                              </a:rPr>
                              <m:t>0</m:t>
                            </m:r>
                          </m:sub>
                        </m:sSub>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We can get the Force and Pressure relation.</a:t>
                </a:r>
              </a:p>
              <a:p>
                <a:pPr algn="just"/>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US" sz="1400" b="1" dirty="0">
                    <a:latin typeface="Times New Roman" panose="02020603050405020304" pitchFamily="18" charset="0"/>
                    <a:cs typeface="Times New Roman" panose="02020603050405020304" pitchFamily="18" charset="0"/>
                  </a:rPr>
                  <a:t>Actuator Parameters For test trial 1:</a:t>
                </a:r>
                <a:endParaRPr lang="en-US" sz="14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Length of bladder: 300mm (complete length), 250mm (active length) (we can take any length as the calculation for 0 to infinity)</a:t>
                </a:r>
              </a:p>
              <a:p>
                <a:pPr lvl="0" algn="just"/>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L = 300mm = 0.3m</a:t>
                </a:r>
              </a:p>
              <a:p>
                <a:pPr marL="28575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Diameter of bladder: by calculation go </a:t>
                </a:r>
                <a:r>
                  <a:rPr lang="en-US" sz="1400" dirty="0" err="1">
                    <a:latin typeface="Times New Roman" panose="02020603050405020304" pitchFamily="18" charset="0"/>
                    <a:cs typeface="Times New Roman" panose="02020603050405020304" pitchFamily="18" charset="0"/>
                  </a:rPr>
                  <a:t>upto</a:t>
                </a:r>
                <a:r>
                  <a:rPr lang="en-US" sz="1400" dirty="0">
                    <a:latin typeface="Times New Roman" panose="02020603050405020304" pitchFamily="18" charset="0"/>
                    <a:cs typeface="Times New Roman" panose="02020603050405020304" pitchFamily="18" charset="0"/>
                  </a:rPr>
                  <a:t> 60mm diameter, for trial we will go for 40mm</a:t>
                </a:r>
              </a:p>
              <a:p>
                <a:pPr algn="just"/>
                <a:r>
                  <a:rPr lang="en-US" sz="1400" dirty="0">
                    <a:latin typeface="Times New Roman" panose="02020603050405020304" pitchFamily="18" charset="0"/>
                    <a:cs typeface="Times New Roman" panose="02020603050405020304" pitchFamily="18" charset="0"/>
                    <a:sym typeface="Symbol" panose="05050102010706020507" pitchFamily="18" charset="2"/>
                  </a:rPr>
                  <a:t>	</a:t>
                </a:r>
                <a:r>
                  <a:rPr lang="en-US" sz="1400" b="1" dirty="0">
                    <a:latin typeface="Times New Roman" panose="02020603050405020304" pitchFamily="18" charset="0"/>
                    <a:cs typeface="Times New Roman" panose="02020603050405020304" pitchFamily="18" charset="0"/>
                    <a:sym typeface="Symbol" panose="05050102010706020507" pitchFamily="18" charset="2"/>
                  </a:rPr>
                  <a:t>D = 40mm = 0.04m</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Contraction factor: </a:t>
                </a:r>
                <a14:m>
                  <m:oMath xmlns:m="http://schemas.openxmlformats.org/officeDocument/2006/math">
                    <m:r>
                      <a:rPr lang="en-US" sz="1400" b="1"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𝜺</m:t>
                    </m:r>
                    <m:r>
                      <a:rPr lang="en-US" sz="14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m:rPr>
                        <m:nor/>
                      </m:rPr>
                      <a:rPr lang="en-IN" sz="1400" b="1" i="1" dirty="0">
                        <a:latin typeface="Times New Roman" panose="02020603050405020304" pitchFamily="18" charset="0"/>
                        <a:cs typeface="Times New Roman" panose="02020603050405020304" pitchFamily="18" charset="0"/>
                        <a:sym typeface="Symbol" panose="05050102010706020507" pitchFamily="18" charset="2"/>
                      </a:rPr>
                      <m:t>0.2 to 0.25</m:t>
                    </m:r>
                  </m:oMath>
                </a14:m>
                <a:endParaRPr lang="en-IN" sz="1400" b="1" i="1" dirty="0">
                  <a:latin typeface="Times New Roman" panose="02020603050405020304" pitchFamily="18" charset="0"/>
                  <a:cs typeface="Times New Roman" panose="02020603050405020304" pitchFamily="18" charset="0"/>
                  <a:sym typeface="Symbol" panose="05050102010706020507" pitchFamily="18" charset="2"/>
                </a:endParaRP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Operating Pressure: 0 to 6 bar</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Force That required to lift the minimum of 5kg of payload</a:t>
                </a: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	</a:t>
                </a:r>
                <a:r>
                  <a:rPr lang="en-IN" sz="1400" b="1" dirty="0">
                    <a:latin typeface="Times New Roman" panose="02020603050405020304" pitchFamily="18" charset="0"/>
                    <a:cs typeface="Times New Roman" panose="02020603050405020304" pitchFamily="18" charset="0"/>
                    <a:sym typeface="Symbol" panose="05050102010706020507" pitchFamily="18" charset="2"/>
                  </a:rPr>
                  <a:t>F = 5*9.81 = 49.05 N</a:t>
                </a:r>
              </a:p>
              <a:p>
                <a:pPr lvl="1" algn="just"/>
                <a:r>
                  <a:rPr lang="en-IN" sz="1400" dirty="0">
                    <a:latin typeface="Times New Roman" panose="02020603050405020304" pitchFamily="18" charset="0"/>
                    <a:cs typeface="Times New Roman" panose="02020603050405020304" pitchFamily="18" charset="0"/>
                    <a:sym typeface="Symbol" panose="05050102010706020507" pitchFamily="18" charset="2"/>
                  </a:rPr>
                  <a:t>So, considering the required force is 10 times of payload,</a:t>
                </a:r>
              </a:p>
              <a:p>
                <a:pPr lvl="1" algn="just"/>
                <a:r>
                  <a:rPr lang="en-IN" sz="1400" b="1" dirty="0">
                    <a:latin typeface="Times New Roman" panose="02020603050405020304" pitchFamily="18" charset="0"/>
                    <a:cs typeface="Times New Roman" panose="02020603050405020304" pitchFamily="18" charset="0"/>
                    <a:sym typeface="Symbol" panose="05050102010706020507" pitchFamily="18" charset="2"/>
                  </a:rPr>
                  <a:t>F = 10*5*9.81 = 490.5 N</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Initial Braid Angle: </a:t>
                </a:r>
                <a:r>
                  <a:rPr lang="en-IN" sz="1400" b="1" dirty="0">
                    <a:latin typeface="Times New Roman" panose="02020603050405020304" pitchFamily="18" charset="0"/>
                    <a:cs typeface="Times New Roman" panose="02020603050405020304" pitchFamily="18" charset="0"/>
                    <a:sym typeface="Symbol" panose="05050102010706020507" pitchFamily="18" charset="2"/>
                  </a:rPr>
                  <a:t></a:t>
                </a:r>
                <a:r>
                  <a:rPr lang="en-IN" sz="1000" b="1" dirty="0">
                    <a:latin typeface="Times New Roman" panose="02020603050405020304" pitchFamily="18" charset="0"/>
                    <a:cs typeface="Times New Roman" panose="02020603050405020304" pitchFamily="18" charset="0"/>
                    <a:sym typeface="Symbol" panose="05050102010706020507" pitchFamily="18" charset="2"/>
                  </a:rPr>
                  <a:t>o </a:t>
                </a:r>
                <a:r>
                  <a:rPr lang="en-IN" sz="1400" b="1" dirty="0">
                    <a:latin typeface="Times New Roman" panose="02020603050405020304" pitchFamily="18" charset="0"/>
                    <a:cs typeface="Times New Roman" panose="02020603050405020304" pitchFamily="18" charset="0"/>
                    <a:sym typeface="Symbol" panose="05050102010706020507" pitchFamily="18" charset="2"/>
                  </a:rPr>
                  <a:t>= 20 to 25 </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As we dealing with the bar and Newton dimensions we need to Divide the Force with 1 * 10^5 for getting the pressure value in bar.</a:t>
                </a:r>
              </a:p>
              <a:p>
                <a:pPr algn="just"/>
                <a:endParaRPr lang="en-IN" sz="12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4" name="TextBox 3">
                <a:extLst>
                  <a:ext uri="{FF2B5EF4-FFF2-40B4-BE49-F238E27FC236}">
                    <a16:creationId xmlns:a16="http://schemas.microsoft.com/office/drawing/2014/main" id="{C9178E7A-19B5-2D3B-5C12-C52417669B35}"/>
                  </a:ext>
                </a:extLst>
              </p:cNvPr>
              <p:cNvSpPr txBox="1">
                <a:spLocks noRot="1" noChangeAspect="1" noMove="1" noResize="1" noEditPoints="1" noAdjustHandles="1" noChangeArrowheads="1" noChangeShapeType="1" noTextEdit="1"/>
              </p:cNvSpPr>
              <p:nvPr/>
            </p:nvSpPr>
            <p:spPr>
              <a:xfrm>
                <a:off x="1822492" y="1204897"/>
                <a:ext cx="4652953" cy="5379421"/>
              </a:xfrm>
              <a:prstGeom prst="rect">
                <a:avLst/>
              </a:prstGeom>
              <a:blipFill>
                <a:blip r:embed="rId2"/>
                <a:stretch>
                  <a:fillRect l="-393" t="-227" r="-393"/>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CB370054-6784-27CE-35D5-5E917C527548}"/>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Calculation and Dimensions for HSA:</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9B35CC-EDBB-27E7-EB5F-3055576940E8}"/>
                  </a:ext>
                </a:extLst>
              </p:cNvPr>
              <p:cNvSpPr txBox="1"/>
              <p:nvPr/>
            </p:nvSpPr>
            <p:spPr>
              <a:xfrm>
                <a:off x="6658880" y="1242221"/>
                <a:ext cx="4746232" cy="4681282"/>
              </a:xfrm>
              <a:prstGeom prst="rect">
                <a:avLst/>
              </a:prstGeom>
              <a:noFill/>
            </p:spPr>
            <p:txBody>
              <a:bodyPr wrap="square" rtlCol="0">
                <a:spAutoFit/>
              </a:bodyPr>
              <a:lstStyle/>
              <a:p>
                <a:pPr algn="just"/>
                <a:r>
                  <a:rPr lang="en-US" sz="140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After</a:t>
                </a:r>
                <a:r>
                  <a:rPr lang="en-US" sz="14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 using this Formula:</a:t>
                </a:r>
                <a:endParaRPr lang="en-IN" sz="1400" dirty="0">
                  <a:latin typeface="Times New Roman" panose="02020603050405020304" pitchFamily="18" charset="0"/>
                  <a:cs typeface="Times New Roman" panose="02020603050405020304" pitchFamily="18" charset="0"/>
                </a:endParaRPr>
              </a:p>
              <a:p>
                <a:pPr algn="just"/>
                <a:r>
                  <a:rPr lang="en-IN" sz="1200" dirty="0">
                    <a:latin typeface="Times New Roman" panose="02020603050405020304" pitchFamily="18" charset="0"/>
                    <a:cs typeface="Times New Roman" panose="02020603050405020304" pitchFamily="18" charset="0"/>
                  </a:rPr>
                  <a:t>	</a:t>
                </a:r>
                <a:r>
                  <a:rPr lang="en-US" sz="1200" b="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4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4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10</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5</m:t>
                        </m:r>
                      </m:sup>
                    </m:sSup>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sz="14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i="1">
                                <a:latin typeface="Cambria Math" panose="02040503050406030204" pitchFamily="18" charset="0"/>
                                <a:cs typeface="Times New Roman" panose="02020603050405020304" pitchFamily="18" charset="0"/>
                                <a:sym typeface="Symbol" panose="05050102010706020507" pitchFamily="18" charset="2"/>
                              </a:rPr>
                            </m:ctrlPr>
                          </m:sSubPr>
                          <m:e>
                            <m:r>
                              <a:rPr lang="en-US" sz="1400"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i="1">
                                <a:latin typeface="Cambria Math" panose="02040503050406030204" pitchFamily="18" charset="0"/>
                                <a:cs typeface="Times New Roman" panose="02020603050405020304" pitchFamily="18" charset="0"/>
                                <a:sym typeface="Symbol" panose="05050102010706020507" pitchFamily="18" charset="2"/>
                              </a:rPr>
                              <m:t>0</m:t>
                            </m:r>
                          </m:sub>
                        </m:sSub>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We can determine the pressure value:</a:t>
                </a:r>
              </a:p>
              <a:p>
                <a:pPr algn="just"/>
                <a:r>
                  <a:rPr lang="en-US" sz="12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sSup>
                      <m:sSupPr>
                        <m:ctrlPr>
                          <a:rPr lang="en-US" sz="1200" i="1">
                            <a:latin typeface="Cambria Math" panose="02040503050406030204" pitchFamily="18" charset="0"/>
                            <a:cs typeface="Times New Roman" panose="02020603050405020304" pitchFamily="18" charset="0"/>
                            <a:sym typeface="Symbol" panose="05050102010706020507" pitchFamily="18" charset="2"/>
                          </a:rPr>
                        </m:ctrlPr>
                      </m:sSupPr>
                      <m:e>
                        <m:r>
                          <a:rPr lang="en-US" sz="1200" i="1">
                            <a:latin typeface="Cambria Math" panose="02040503050406030204" pitchFamily="18" charset="0"/>
                            <a:cs typeface="Times New Roman" panose="02020603050405020304" pitchFamily="18" charset="0"/>
                            <a:sym typeface="Symbol" panose="05050102010706020507" pitchFamily="18" charset="2"/>
                          </a:rPr>
                          <m:t>𝑃</m:t>
                        </m:r>
                      </m:e>
                      <m:sup>
                        <m:r>
                          <a:rPr lang="en-US" sz="1200" i="1">
                            <a:latin typeface="Cambria Math" panose="02040503050406030204" pitchFamily="18" charset="0"/>
                            <a:cs typeface="Times New Roman" panose="02020603050405020304" pitchFamily="18" charset="0"/>
                            <a:sym typeface="Symbol" panose="05050102010706020507" pitchFamily="18" charset="2"/>
                          </a:rPr>
                          <m:t>′</m:t>
                        </m:r>
                      </m:sup>
                    </m:sSup>
                    <m:r>
                      <a:rPr lang="en-US" sz="1400" i="1">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𝐹</m:t>
                        </m:r>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∗4∗</m:t>
                        </m:r>
                        <m:sSup>
                          <m:sSup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𝑠𝑖𝑛</m:t>
                            </m:r>
                          </m:e>
                          <m: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num>
                      <m:den>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d>
                          <m:d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3</m:t>
                            </m:r>
                            <m:sSup>
                              <m:sSup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d>
                                  <m:d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𝜖</m:t>
                                    </m:r>
                                  </m:e>
                                </m:d>
                              </m:e>
                              <m: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e>
                              <m: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e>
                        </m:d>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10</m:t>
                            </m:r>
                          </m:e>
                          <m:sup>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5</m:t>
                            </m:r>
                          </m:sup>
                        </m:sSup>
                      </m:den>
                    </m:f>
                  </m:oMath>
                </a14:m>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00" dirty="0">
                    <a:latin typeface="Times New Roman" panose="02020603050405020304" pitchFamily="18" charset="0"/>
                    <a:cs typeface="Times New Roman" panose="02020603050405020304" pitchFamily="18" charset="0"/>
                    <a:sym typeface="Symbol" panose="05050102010706020507" pitchFamily="18" charset="2"/>
                  </a:rPr>
                  <a:t>o </a:t>
                </a:r>
                <a:r>
                  <a:rPr lang="en-IN" sz="1400" dirty="0">
                    <a:latin typeface="Times New Roman" panose="02020603050405020304" pitchFamily="18" charset="0"/>
                    <a:cs typeface="Times New Roman" panose="02020603050405020304" pitchFamily="18" charset="0"/>
                    <a:sym typeface="Symbol" panose="05050102010706020507" pitchFamily="18" charset="2"/>
                  </a:rPr>
                  <a:t>= 20 ,  = 0.2 and F = 490.5 N </a:t>
                </a:r>
              </a:p>
              <a:p>
                <a:pPr lvl="1" algn="just"/>
                <a:r>
                  <a:rPr lang="en-IN" sz="1400" b="1" u="sng" dirty="0">
                    <a:latin typeface="Times New Roman" panose="02020603050405020304" pitchFamily="18" charset="0"/>
                    <a:cs typeface="Times New Roman" panose="02020603050405020304" pitchFamily="18" charset="0"/>
                    <a:sym typeface="Symbol" panose="05050102010706020507" pitchFamily="18" charset="2"/>
                  </a:rPr>
                  <a:t>P’ = 0.656 bar</a:t>
                </a:r>
              </a:p>
              <a:p>
                <a:pPr lvl="1" algn="just"/>
                <a:endParaRPr lang="en-IN" sz="1400" b="1" u="sng"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00" dirty="0">
                    <a:latin typeface="Times New Roman" panose="02020603050405020304" pitchFamily="18" charset="0"/>
                    <a:cs typeface="Times New Roman" panose="02020603050405020304" pitchFamily="18" charset="0"/>
                    <a:sym typeface="Symbol" panose="05050102010706020507" pitchFamily="18" charset="2"/>
                  </a:rPr>
                  <a:t>o </a:t>
                </a:r>
                <a:r>
                  <a:rPr lang="en-IN" sz="1400" dirty="0">
                    <a:latin typeface="Times New Roman" panose="02020603050405020304" pitchFamily="18" charset="0"/>
                    <a:cs typeface="Times New Roman" panose="02020603050405020304" pitchFamily="18" charset="0"/>
                    <a:sym typeface="Symbol" panose="05050102010706020507" pitchFamily="18" charset="2"/>
                  </a:rPr>
                  <a:t>= 20 ,  = 0.25 and F = 490.5N</a:t>
                </a:r>
              </a:p>
              <a:p>
                <a:pPr lvl="1" algn="just"/>
                <a:r>
                  <a:rPr lang="en-IN" sz="1400" b="1" u="sng" dirty="0">
                    <a:latin typeface="Times New Roman" panose="02020603050405020304" pitchFamily="18" charset="0"/>
                    <a:cs typeface="Times New Roman" panose="02020603050405020304" pitchFamily="18" charset="0"/>
                    <a:sym typeface="Symbol" panose="05050102010706020507" pitchFamily="18" charset="2"/>
                  </a:rPr>
                  <a:t>P’ = 0.932 bar</a:t>
                </a:r>
              </a:p>
              <a:p>
                <a:pPr lvl="1" algn="just"/>
                <a:endParaRPr lang="en-IN" sz="1400" b="1" u="sng"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00" dirty="0">
                    <a:latin typeface="Times New Roman" panose="02020603050405020304" pitchFamily="18" charset="0"/>
                    <a:cs typeface="Times New Roman" panose="02020603050405020304" pitchFamily="18" charset="0"/>
                    <a:sym typeface="Symbol" panose="05050102010706020507" pitchFamily="18" charset="2"/>
                  </a:rPr>
                  <a:t>o </a:t>
                </a:r>
                <a:r>
                  <a:rPr lang="en-IN" sz="1400" dirty="0">
                    <a:latin typeface="Times New Roman" panose="02020603050405020304" pitchFamily="18" charset="0"/>
                    <a:cs typeface="Times New Roman" panose="02020603050405020304" pitchFamily="18" charset="0"/>
                    <a:sym typeface="Symbol" panose="05050102010706020507" pitchFamily="18" charset="2"/>
                  </a:rPr>
                  <a:t>= 25 ,  = 0.2 and F = 490.5N</a:t>
                </a:r>
              </a:p>
              <a:p>
                <a:pPr lvl="1" algn="just"/>
                <a:r>
                  <a:rPr lang="en-IN" sz="1400" b="1" u="sng" dirty="0">
                    <a:latin typeface="Times New Roman" panose="02020603050405020304" pitchFamily="18" charset="0"/>
                    <a:cs typeface="Times New Roman" panose="02020603050405020304" pitchFamily="18" charset="0"/>
                    <a:sym typeface="Symbol" panose="05050102010706020507" pitchFamily="18" charset="2"/>
                  </a:rPr>
                  <a:t>P’ = 1.208 bar</a:t>
                </a:r>
              </a:p>
              <a:p>
                <a:pPr lvl="1" algn="just"/>
                <a:endParaRPr lang="en-IN" sz="1400" b="1" u="sng"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00" dirty="0">
                    <a:latin typeface="Times New Roman" panose="02020603050405020304" pitchFamily="18" charset="0"/>
                    <a:cs typeface="Times New Roman" panose="02020603050405020304" pitchFamily="18" charset="0"/>
                    <a:sym typeface="Symbol" panose="05050102010706020507" pitchFamily="18" charset="2"/>
                  </a:rPr>
                  <a:t>o </a:t>
                </a:r>
                <a:r>
                  <a:rPr lang="en-IN" sz="1400" dirty="0">
                    <a:latin typeface="Times New Roman" panose="02020603050405020304" pitchFamily="18" charset="0"/>
                    <a:cs typeface="Times New Roman" panose="02020603050405020304" pitchFamily="18" charset="0"/>
                    <a:sym typeface="Symbol" panose="05050102010706020507" pitchFamily="18" charset="2"/>
                  </a:rPr>
                  <a:t>= 25 ,  = 0.25 and F = 490.5N</a:t>
                </a:r>
              </a:p>
              <a:p>
                <a:pPr lvl="1" algn="just"/>
                <a:r>
                  <a:rPr lang="en-IN" sz="1400" b="1" u="sng" dirty="0">
                    <a:latin typeface="Times New Roman" panose="02020603050405020304" pitchFamily="18" charset="0"/>
                    <a:cs typeface="Times New Roman" panose="02020603050405020304" pitchFamily="18" charset="0"/>
                    <a:sym typeface="Symbol" panose="05050102010706020507" pitchFamily="18" charset="2"/>
                  </a:rPr>
                  <a:t>P’ = 1.805 bar</a:t>
                </a:r>
              </a:p>
              <a:p>
                <a:pPr lvl="1" algn="just"/>
                <a:endParaRPr lang="en-IN" sz="1400" b="1" u="sng"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Considering efficiency of 30% of maximum obtained value,</a:t>
                </a: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	</a:t>
                </a:r>
                <a:r>
                  <a:rPr lang="en-IN" sz="1400" b="1" u="sng" dirty="0" err="1">
                    <a:latin typeface="Times New Roman" panose="02020603050405020304" pitchFamily="18" charset="0"/>
                    <a:cs typeface="Times New Roman" panose="02020603050405020304" pitchFamily="18" charset="0"/>
                    <a:sym typeface="Symbol" panose="05050102010706020507" pitchFamily="18" charset="2"/>
                  </a:rPr>
                  <a:t>P’</a:t>
                </a:r>
                <a:r>
                  <a:rPr lang="en-IN" sz="1100" b="1" u="sng" dirty="0" err="1">
                    <a:latin typeface="Times New Roman" panose="02020603050405020304" pitchFamily="18" charset="0"/>
                    <a:cs typeface="Times New Roman" panose="02020603050405020304" pitchFamily="18" charset="0"/>
                    <a:sym typeface="Symbol" panose="05050102010706020507" pitchFamily="18" charset="2"/>
                  </a:rPr>
                  <a:t>max</a:t>
                </a:r>
                <a:r>
                  <a:rPr lang="en-IN" sz="1400" b="1" u="sng" dirty="0">
                    <a:latin typeface="Times New Roman" panose="02020603050405020304" pitchFamily="18" charset="0"/>
                    <a:cs typeface="Times New Roman" panose="02020603050405020304" pitchFamily="18" charset="0"/>
                    <a:sym typeface="Symbol" panose="05050102010706020507" pitchFamily="18" charset="2"/>
                  </a:rPr>
                  <a:t> = 2.34 bar</a:t>
                </a:r>
              </a:p>
            </p:txBody>
          </p:sp>
        </mc:Choice>
        <mc:Fallback xmlns="">
          <p:sp>
            <p:nvSpPr>
              <p:cNvPr id="8" name="TextBox 7">
                <a:extLst>
                  <a:ext uri="{FF2B5EF4-FFF2-40B4-BE49-F238E27FC236}">
                    <a16:creationId xmlns:a16="http://schemas.microsoft.com/office/drawing/2014/main" id="{D09B35CC-EDBB-27E7-EB5F-3055576940E8}"/>
                  </a:ext>
                </a:extLst>
              </p:cNvPr>
              <p:cNvSpPr txBox="1">
                <a:spLocks noRot="1" noChangeAspect="1" noMove="1" noResize="1" noEditPoints="1" noAdjustHandles="1" noChangeArrowheads="1" noChangeShapeType="1" noTextEdit="1"/>
              </p:cNvSpPr>
              <p:nvPr/>
            </p:nvSpPr>
            <p:spPr>
              <a:xfrm>
                <a:off x="6658880" y="1242221"/>
                <a:ext cx="4746232" cy="4681282"/>
              </a:xfrm>
              <a:prstGeom prst="rect">
                <a:avLst/>
              </a:prstGeom>
              <a:blipFill>
                <a:blip r:embed="rId3"/>
                <a:stretch>
                  <a:fillRect l="-385" t="-260" b="-391"/>
                </a:stretch>
              </a:blipFill>
            </p:spPr>
            <p:txBody>
              <a:bodyPr/>
              <a:lstStyle/>
              <a:p>
                <a:r>
                  <a:rPr lang="en-US">
                    <a:noFill/>
                  </a:rPr>
                  <a:t> </a:t>
                </a:r>
              </a:p>
            </p:txBody>
          </p:sp>
        </mc:Fallback>
      </mc:AlternateContent>
    </p:spTree>
    <p:extLst>
      <p:ext uri="{BB962C8B-B14F-4D97-AF65-F5344CB8AC3E}">
        <p14:creationId xmlns:p14="http://schemas.microsoft.com/office/powerpoint/2010/main" val="166743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44D54-7685-F7F0-324B-53E488134DF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0B6600A-8BCE-51FE-D952-64F9D5E71055}"/>
                  </a:ext>
                </a:extLst>
              </p:cNvPr>
              <p:cNvSpPr txBox="1"/>
              <p:nvPr/>
            </p:nvSpPr>
            <p:spPr>
              <a:xfrm>
                <a:off x="1841154" y="1186235"/>
                <a:ext cx="4335711" cy="4733091"/>
              </a:xfrm>
              <a:prstGeom prst="rect">
                <a:avLst/>
              </a:prstGeom>
              <a:noFill/>
            </p:spPr>
            <p:txBody>
              <a:bodyPr wrap="square" rtlCol="0">
                <a:spAutoFit/>
              </a:bodyPr>
              <a:lstStyle/>
              <a:p>
                <a:pPr algn="just"/>
                <a:r>
                  <a:rPr lang="en-US" sz="14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By using this Formula</a:t>
                </a:r>
                <a:r>
                  <a:rPr lang="en-US" sz="12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t>
                </a:r>
                <a:endParaRPr lang="en-IN" sz="1200" dirty="0">
                  <a:latin typeface="Times New Roman" panose="02020603050405020304" pitchFamily="18" charset="0"/>
                  <a:cs typeface="Times New Roman" panose="02020603050405020304" pitchFamily="18" charset="0"/>
                </a:endParaRPr>
              </a:p>
              <a:p>
                <a:pPr algn="just"/>
                <a:r>
                  <a:rPr lang="en-IN" sz="1200" dirty="0">
                    <a:latin typeface="Times New Roman" panose="02020603050405020304" pitchFamily="18" charset="0"/>
                    <a:cs typeface="Times New Roman" panose="02020603050405020304" pitchFamily="18" charset="0"/>
                  </a:rPr>
                  <a:t>	</a:t>
                </a:r>
                <a:r>
                  <a:rPr lang="en-US" sz="1200" b="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4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4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sz="14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i="1">
                                <a:latin typeface="Cambria Math" panose="02040503050406030204" pitchFamily="18" charset="0"/>
                                <a:cs typeface="Times New Roman" panose="02020603050405020304" pitchFamily="18" charset="0"/>
                                <a:sym typeface="Symbol" panose="05050102010706020507" pitchFamily="18" charset="2"/>
                              </a:rPr>
                            </m:ctrlPr>
                          </m:sSubPr>
                          <m:e>
                            <m:r>
                              <a:rPr lang="en-US" sz="1400"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i="1">
                                <a:latin typeface="Cambria Math" panose="02040503050406030204" pitchFamily="18" charset="0"/>
                                <a:cs typeface="Times New Roman" panose="02020603050405020304" pitchFamily="18" charset="0"/>
                                <a:sym typeface="Symbol" panose="05050102010706020507" pitchFamily="18" charset="2"/>
                              </a:rPr>
                              <m:t>0</m:t>
                            </m:r>
                          </m:sub>
                        </m:sSub>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We can get the Force and Pressure relation.</a:t>
                </a:r>
              </a:p>
              <a:p>
                <a:pPr algn="just"/>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US" sz="1400" b="1" dirty="0">
                    <a:latin typeface="Times New Roman" panose="02020603050405020304" pitchFamily="18" charset="0"/>
                    <a:cs typeface="Times New Roman" panose="02020603050405020304" pitchFamily="18" charset="0"/>
                  </a:rPr>
                  <a:t>Actuator Parameters For test trial 1:</a:t>
                </a:r>
                <a:endParaRPr lang="en-US" sz="14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Length of bladder: 300mm (complete length), 250mm (active length) (we can take any length as the calculation for 0 to infinity)</a:t>
                </a:r>
              </a:p>
              <a:p>
                <a:pPr lvl="0" algn="just"/>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L = 300mm = 0.3m</a:t>
                </a:r>
              </a:p>
              <a:p>
                <a:pPr marL="28575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Diameter of bladder: by calculation go </a:t>
                </a:r>
                <a:r>
                  <a:rPr lang="en-US" sz="1400" dirty="0" err="1">
                    <a:latin typeface="Times New Roman" panose="02020603050405020304" pitchFamily="18" charset="0"/>
                    <a:cs typeface="Times New Roman" panose="02020603050405020304" pitchFamily="18" charset="0"/>
                  </a:rPr>
                  <a:t>upto</a:t>
                </a:r>
                <a:r>
                  <a:rPr lang="en-US" sz="1400" dirty="0">
                    <a:latin typeface="Times New Roman" panose="02020603050405020304" pitchFamily="18" charset="0"/>
                    <a:cs typeface="Times New Roman" panose="02020603050405020304" pitchFamily="18" charset="0"/>
                  </a:rPr>
                  <a:t> 60mm diameter, for trial we will go for 40mm</a:t>
                </a:r>
              </a:p>
              <a:p>
                <a:pPr algn="just"/>
                <a:r>
                  <a:rPr lang="en-US" sz="1400" dirty="0">
                    <a:latin typeface="Times New Roman" panose="02020603050405020304" pitchFamily="18" charset="0"/>
                    <a:cs typeface="Times New Roman" panose="02020603050405020304" pitchFamily="18" charset="0"/>
                    <a:sym typeface="Symbol" panose="05050102010706020507" pitchFamily="18" charset="2"/>
                  </a:rPr>
                  <a:t>	</a:t>
                </a:r>
                <a:r>
                  <a:rPr lang="en-US" sz="1400" b="1" dirty="0">
                    <a:latin typeface="Times New Roman" panose="02020603050405020304" pitchFamily="18" charset="0"/>
                    <a:cs typeface="Times New Roman" panose="02020603050405020304" pitchFamily="18" charset="0"/>
                    <a:sym typeface="Symbol" panose="05050102010706020507" pitchFamily="18" charset="2"/>
                  </a:rPr>
                  <a:t>D = 40mm = 0.04m</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Contraction factor: </a:t>
                </a:r>
                <a14:m>
                  <m:oMath xmlns:m="http://schemas.openxmlformats.org/officeDocument/2006/math">
                    <m:r>
                      <a:rPr lang="en-US" sz="1400" b="1"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𝜺</m:t>
                    </m:r>
                    <m:r>
                      <a:rPr lang="en-US" sz="14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m:rPr>
                        <m:nor/>
                      </m:rPr>
                      <a:rPr lang="en-IN" sz="1400" b="1" i="1" dirty="0">
                        <a:latin typeface="Times New Roman" panose="02020603050405020304" pitchFamily="18" charset="0"/>
                        <a:cs typeface="Times New Roman" panose="02020603050405020304" pitchFamily="18" charset="0"/>
                        <a:sym typeface="Symbol" panose="05050102010706020507" pitchFamily="18" charset="2"/>
                      </a:rPr>
                      <m:t>0.2 to 0.25</m:t>
                    </m:r>
                  </m:oMath>
                </a14:m>
                <a:endParaRPr lang="en-IN" sz="1400" b="1" i="1" dirty="0">
                  <a:latin typeface="Times New Roman" panose="02020603050405020304" pitchFamily="18" charset="0"/>
                  <a:cs typeface="Times New Roman" panose="02020603050405020304" pitchFamily="18" charset="0"/>
                  <a:sym typeface="Symbol" panose="05050102010706020507" pitchFamily="18" charset="2"/>
                </a:endParaRP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Operating Pressure: 0 to 6 bar</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As Calculated P</a:t>
                </a:r>
                <a:r>
                  <a:rPr lang="en-IN" sz="1100" dirty="0">
                    <a:latin typeface="Times New Roman" panose="02020603050405020304" pitchFamily="18" charset="0"/>
                    <a:cs typeface="Times New Roman" panose="02020603050405020304" pitchFamily="18" charset="0"/>
                    <a:sym typeface="Symbol" panose="05050102010706020507" pitchFamily="18" charset="2"/>
                  </a:rPr>
                  <a:t>max</a:t>
                </a:r>
                <a:r>
                  <a:rPr lang="en-IN" sz="1400" dirty="0">
                    <a:latin typeface="Times New Roman" panose="02020603050405020304" pitchFamily="18" charset="0"/>
                    <a:cs typeface="Times New Roman" panose="02020603050405020304" pitchFamily="18" charset="0"/>
                    <a:sym typeface="Symbol" panose="05050102010706020507" pitchFamily="18" charset="2"/>
                  </a:rPr>
                  <a:t> = 2.34 bar</a:t>
                </a:r>
              </a:p>
              <a:p>
                <a:pPr lvl="1" algn="just"/>
                <a:r>
                  <a:rPr lang="en-IN" sz="1400" dirty="0">
                    <a:latin typeface="Times New Roman" panose="02020603050405020304" pitchFamily="18" charset="0"/>
                    <a:cs typeface="Times New Roman" panose="02020603050405020304" pitchFamily="18" charset="0"/>
                    <a:sym typeface="Symbol" panose="05050102010706020507" pitchFamily="18" charset="2"/>
                  </a:rPr>
                  <a:t>We will take,</a:t>
                </a:r>
                <a:r>
                  <a:rPr lang="en-IN" sz="1400" b="1" dirty="0">
                    <a:latin typeface="Times New Roman" panose="02020603050405020304" pitchFamily="18" charset="0"/>
                    <a:cs typeface="Times New Roman" panose="02020603050405020304" pitchFamily="18" charset="0"/>
                    <a:sym typeface="Symbol" panose="05050102010706020507" pitchFamily="18" charset="2"/>
                  </a:rPr>
                  <a:t> P</a:t>
                </a:r>
                <a:r>
                  <a:rPr lang="en-IN" sz="1100" b="1" dirty="0">
                    <a:latin typeface="Times New Roman" panose="02020603050405020304" pitchFamily="18" charset="0"/>
                    <a:cs typeface="Times New Roman" panose="02020603050405020304" pitchFamily="18" charset="0"/>
                    <a:sym typeface="Symbol" panose="05050102010706020507" pitchFamily="18" charset="2"/>
                  </a:rPr>
                  <a:t>max</a:t>
                </a:r>
                <a:r>
                  <a:rPr lang="en-IN" sz="1400" b="1" dirty="0">
                    <a:latin typeface="Times New Roman" panose="02020603050405020304" pitchFamily="18" charset="0"/>
                    <a:cs typeface="Times New Roman" panose="02020603050405020304" pitchFamily="18" charset="0"/>
                    <a:sym typeface="Symbol" panose="05050102010706020507" pitchFamily="18" charset="2"/>
                  </a:rPr>
                  <a:t> = 3 bar </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Initial Braid Angle: </a:t>
                </a:r>
                <a:r>
                  <a:rPr lang="en-IN" sz="1400" b="1" dirty="0">
                    <a:latin typeface="Times New Roman" panose="02020603050405020304" pitchFamily="18" charset="0"/>
                    <a:cs typeface="Times New Roman" panose="02020603050405020304" pitchFamily="18" charset="0"/>
                    <a:sym typeface="Symbol" panose="05050102010706020507" pitchFamily="18" charset="2"/>
                  </a:rPr>
                  <a:t></a:t>
                </a:r>
                <a:r>
                  <a:rPr lang="en-IN" sz="1000" b="1" dirty="0">
                    <a:latin typeface="Times New Roman" panose="02020603050405020304" pitchFamily="18" charset="0"/>
                    <a:cs typeface="Times New Roman" panose="02020603050405020304" pitchFamily="18" charset="0"/>
                    <a:sym typeface="Symbol" panose="05050102010706020507" pitchFamily="18" charset="2"/>
                  </a:rPr>
                  <a:t>o </a:t>
                </a:r>
                <a:r>
                  <a:rPr lang="en-IN" sz="1400" b="1" dirty="0">
                    <a:latin typeface="Times New Roman" panose="02020603050405020304" pitchFamily="18" charset="0"/>
                    <a:cs typeface="Times New Roman" panose="02020603050405020304" pitchFamily="18" charset="0"/>
                    <a:sym typeface="Symbol" panose="05050102010706020507" pitchFamily="18" charset="2"/>
                  </a:rPr>
                  <a:t>= 20 to 25 </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sym typeface="Symbol" panose="05050102010706020507" pitchFamily="18" charset="2"/>
                  </a:rPr>
                  <a:t>As we dealing with the bar and Newton dimensions we need to multiply the pressure with 1 * 10^5 for getting the force value in Newton.</a:t>
                </a:r>
              </a:p>
              <a:p>
                <a:pPr algn="just"/>
                <a:endParaRPr lang="en-IN" sz="12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4" name="TextBox 3">
                <a:extLst>
                  <a:ext uri="{FF2B5EF4-FFF2-40B4-BE49-F238E27FC236}">
                    <a16:creationId xmlns:a16="http://schemas.microsoft.com/office/drawing/2014/main" id="{40B6600A-8BCE-51FE-D952-64F9D5E71055}"/>
                  </a:ext>
                </a:extLst>
              </p:cNvPr>
              <p:cNvSpPr txBox="1">
                <a:spLocks noRot="1" noChangeAspect="1" noMove="1" noResize="1" noEditPoints="1" noAdjustHandles="1" noChangeArrowheads="1" noChangeShapeType="1" noTextEdit="1"/>
              </p:cNvSpPr>
              <p:nvPr/>
            </p:nvSpPr>
            <p:spPr>
              <a:xfrm>
                <a:off x="1841154" y="1186235"/>
                <a:ext cx="4335711" cy="4733091"/>
              </a:xfrm>
              <a:prstGeom prst="rect">
                <a:avLst/>
              </a:prstGeom>
              <a:blipFill>
                <a:blip r:embed="rId2"/>
                <a:stretch>
                  <a:fillRect l="-422" t="-258" r="-422"/>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A6CED8B8-14ED-1BF2-1034-D68935FDB2BC}"/>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Calculation and Dimensions for HSA:</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2F872C-1EF2-95A7-F757-C14615A16949}"/>
                  </a:ext>
                </a:extLst>
              </p:cNvPr>
              <p:cNvSpPr txBox="1"/>
              <p:nvPr/>
            </p:nvSpPr>
            <p:spPr>
              <a:xfrm>
                <a:off x="6425617" y="1204897"/>
                <a:ext cx="4746232" cy="4979312"/>
              </a:xfrm>
              <a:prstGeom prst="rect">
                <a:avLst/>
              </a:prstGeom>
              <a:noFill/>
            </p:spPr>
            <p:txBody>
              <a:bodyPr wrap="square" rtlCol="0">
                <a:spAutoFit/>
              </a:bodyPr>
              <a:lstStyle/>
              <a:p>
                <a:pPr algn="just"/>
                <a:r>
                  <a:rPr lang="en-US" sz="140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After</a:t>
                </a:r>
                <a:r>
                  <a:rPr lang="en-US" sz="14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 using this Formula:</a:t>
                </a:r>
                <a:endParaRPr lang="en-IN" sz="1400" dirty="0">
                  <a:latin typeface="Times New Roman" panose="02020603050405020304" pitchFamily="18" charset="0"/>
                  <a:cs typeface="Times New Roman" panose="02020603050405020304" pitchFamily="18" charset="0"/>
                </a:endParaRPr>
              </a:p>
              <a:p>
                <a:pPr algn="just"/>
                <a:r>
                  <a:rPr lang="en-IN" sz="1200" dirty="0">
                    <a:latin typeface="Times New Roman" panose="02020603050405020304" pitchFamily="18" charset="0"/>
                    <a:cs typeface="Times New Roman" panose="02020603050405020304" pitchFamily="18" charset="0"/>
                  </a:rPr>
                  <a:t>	</a:t>
                </a:r>
                <a:r>
                  <a:rPr lang="en-US" sz="1200" b="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4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4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10</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5</m:t>
                            </m:r>
                          </m:sup>
                        </m:sSup>
                        <m:r>
                          <a:rPr lang="en-US" sz="1400" b="0" i="1" smtClean="0">
                            <a:latin typeface="Cambria Math" panose="02040503050406030204" pitchFamily="18" charset="0"/>
                            <a:cs typeface="Times New Roman" panose="02020603050405020304" pitchFamily="18" charset="0"/>
                            <a:sym typeface="Symbol" panose="05050102010706020507" pitchFamily="18" charset="2"/>
                          </a:rPr>
                          <m:t>∗</m:t>
                        </m:r>
                        <m:r>
                          <a:rPr lang="en-US" sz="14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4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sz="14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i="1">
                                <a:latin typeface="Cambria Math" panose="02040503050406030204" pitchFamily="18" charset="0"/>
                                <a:cs typeface="Times New Roman" panose="02020603050405020304" pitchFamily="18" charset="0"/>
                                <a:sym typeface="Symbol" panose="05050102010706020507" pitchFamily="18" charset="2"/>
                              </a:rPr>
                            </m:ctrlPr>
                          </m:sSubPr>
                          <m:e>
                            <m:r>
                              <a:rPr lang="en-US" sz="1400"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4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i="1">
                                <a:latin typeface="Cambria Math" panose="02040503050406030204" pitchFamily="18" charset="0"/>
                                <a:cs typeface="Times New Roman" panose="02020603050405020304" pitchFamily="18" charset="0"/>
                                <a:sym typeface="Symbol" panose="05050102010706020507" pitchFamily="18" charset="2"/>
                              </a:rPr>
                              <m:t>0</m:t>
                            </m:r>
                          </m:sub>
                        </m:sSub>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sz="14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4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400"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4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4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00" dirty="0">
                    <a:latin typeface="Times New Roman" panose="02020603050405020304" pitchFamily="18" charset="0"/>
                    <a:cs typeface="Times New Roman" panose="02020603050405020304" pitchFamily="18" charset="0"/>
                    <a:sym typeface="Symbol" panose="05050102010706020507" pitchFamily="18" charset="2"/>
                  </a:rPr>
                  <a:t>o </a:t>
                </a:r>
                <a:r>
                  <a:rPr lang="en-IN" sz="1400" dirty="0">
                    <a:latin typeface="Times New Roman" panose="02020603050405020304" pitchFamily="18" charset="0"/>
                    <a:cs typeface="Times New Roman" panose="02020603050405020304" pitchFamily="18" charset="0"/>
                    <a:sym typeface="Symbol" panose="05050102010706020507" pitchFamily="18" charset="2"/>
                  </a:rPr>
                  <a:t>= 20 ,  = 0.2 and P</a:t>
                </a:r>
                <a:r>
                  <a:rPr lang="en-IN" sz="1100" dirty="0">
                    <a:latin typeface="Times New Roman" panose="02020603050405020304" pitchFamily="18" charset="0"/>
                    <a:cs typeface="Times New Roman" panose="02020603050405020304" pitchFamily="18" charset="0"/>
                    <a:sym typeface="Symbol" panose="05050102010706020507" pitchFamily="18" charset="2"/>
                  </a:rPr>
                  <a:t>max</a:t>
                </a:r>
                <a:r>
                  <a:rPr lang="en-IN" sz="1400" dirty="0">
                    <a:latin typeface="Times New Roman" panose="02020603050405020304" pitchFamily="18" charset="0"/>
                    <a:cs typeface="Times New Roman" panose="02020603050405020304" pitchFamily="18" charset="0"/>
                    <a:sym typeface="Symbol" panose="05050102010706020507" pitchFamily="18" charset="2"/>
                  </a:rPr>
                  <a:t> = 3bar </a:t>
                </a:r>
              </a:p>
              <a:p>
                <a:pPr lvl="1" algn="just"/>
                <a:r>
                  <a:rPr lang="en-IN" sz="1400" b="1" u="sng" dirty="0">
                    <a:latin typeface="Times New Roman" panose="02020603050405020304" pitchFamily="18" charset="0"/>
                    <a:cs typeface="Times New Roman" panose="02020603050405020304" pitchFamily="18" charset="0"/>
                    <a:sym typeface="Symbol" panose="05050102010706020507" pitchFamily="18" charset="2"/>
                  </a:rPr>
                  <a:t>F = 2241.12 N</a:t>
                </a:r>
              </a:p>
              <a:p>
                <a:pPr lvl="1" algn="just"/>
                <a:r>
                  <a:rPr lang="en-IN" sz="1400" dirty="0">
                    <a:latin typeface="Times New Roman" panose="02020603050405020304" pitchFamily="18" charset="0"/>
                    <a:cs typeface="Times New Roman" panose="02020603050405020304" pitchFamily="18" charset="0"/>
                    <a:sym typeface="Symbol" panose="05050102010706020507" pitchFamily="18" charset="2"/>
                  </a:rPr>
                  <a:t>Loss of 30% </a:t>
                </a:r>
                <a:r>
                  <a:rPr lang="en-IN" sz="1400" b="1" dirty="0">
                    <a:latin typeface="Times New Roman" panose="02020603050405020304" pitchFamily="18" charset="0"/>
                    <a:cs typeface="Times New Roman" panose="02020603050405020304" pitchFamily="18" charset="0"/>
                    <a:sym typeface="Symbol" panose="05050102010706020507" pitchFamily="18" charset="2"/>
                  </a:rPr>
                  <a:t>F = 1568.78 N</a:t>
                </a:r>
              </a:p>
              <a:p>
                <a:pPr lvl="1" algn="just"/>
                <a:endParaRPr lang="en-IN" sz="1400" b="1"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00" dirty="0">
                    <a:latin typeface="Times New Roman" panose="02020603050405020304" pitchFamily="18" charset="0"/>
                    <a:cs typeface="Times New Roman" panose="02020603050405020304" pitchFamily="18" charset="0"/>
                    <a:sym typeface="Symbol" panose="05050102010706020507" pitchFamily="18" charset="2"/>
                  </a:rPr>
                  <a:t>o </a:t>
                </a:r>
                <a:r>
                  <a:rPr lang="en-IN" sz="1400" dirty="0">
                    <a:latin typeface="Times New Roman" panose="02020603050405020304" pitchFamily="18" charset="0"/>
                    <a:cs typeface="Times New Roman" panose="02020603050405020304" pitchFamily="18" charset="0"/>
                    <a:sym typeface="Symbol" panose="05050102010706020507" pitchFamily="18" charset="2"/>
                  </a:rPr>
                  <a:t>= 20 ,  = 0.25 and P</a:t>
                </a:r>
                <a:r>
                  <a:rPr lang="en-IN" sz="1100" dirty="0">
                    <a:latin typeface="Times New Roman" panose="02020603050405020304" pitchFamily="18" charset="0"/>
                    <a:cs typeface="Times New Roman" panose="02020603050405020304" pitchFamily="18" charset="0"/>
                    <a:sym typeface="Symbol" panose="05050102010706020507" pitchFamily="18" charset="2"/>
                  </a:rPr>
                  <a:t>max</a:t>
                </a:r>
                <a:r>
                  <a:rPr lang="en-IN" sz="1400" dirty="0">
                    <a:latin typeface="Times New Roman" panose="02020603050405020304" pitchFamily="18" charset="0"/>
                    <a:cs typeface="Times New Roman" panose="02020603050405020304" pitchFamily="18" charset="0"/>
                    <a:sym typeface="Symbol" panose="05050102010706020507" pitchFamily="18" charset="2"/>
                  </a:rPr>
                  <a:t> = 3bar </a:t>
                </a:r>
              </a:p>
              <a:p>
                <a:pPr lvl="1" algn="just"/>
                <a:r>
                  <a:rPr lang="en-IN" sz="1400" b="1" u="sng" dirty="0">
                    <a:latin typeface="Times New Roman" panose="02020603050405020304" pitchFamily="18" charset="0"/>
                    <a:cs typeface="Times New Roman" panose="02020603050405020304" pitchFamily="18" charset="0"/>
                    <a:sym typeface="Symbol" panose="05050102010706020507" pitchFamily="18" charset="2"/>
                  </a:rPr>
                  <a:t>F = 1579.47 N</a:t>
                </a:r>
              </a:p>
              <a:p>
                <a:pPr lvl="1" algn="just"/>
                <a:r>
                  <a:rPr lang="en-IN" sz="1400" dirty="0">
                    <a:latin typeface="Times New Roman" panose="02020603050405020304" pitchFamily="18" charset="0"/>
                    <a:cs typeface="Times New Roman" panose="02020603050405020304" pitchFamily="18" charset="0"/>
                    <a:sym typeface="Symbol" panose="05050102010706020507" pitchFamily="18" charset="2"/>
                  </a:rPr>
                  <a:t>Loss of 30% </a:t>
                </a:r>
                <a:r>
                  <a:rPr lang="en-IN" sz="1400" b="1" dirty="0">
                    <a:latin typeface="Times New Roman" panose="02020603050405020304" pitchFamily="18" charset="0"/>
                    <a:cs typeface="Times New Roman" panose="02020603050405020304" pitchFamily="18" charset="0"/>
                    <a:sym typeface="Symbol" panose="05050102010706020507" pitchFamily="18" charset="2"/>
                  </a:rPr>
                  <a:t>F = 1105.63 N</a:t>
                </a:r>
              </a:p>
              <a:p>
                <a:pPr lvl="1" algn="just"/>
                <a:endParaRPr lang="en-IN" sz="1400" b="1" u="sng"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00" dirty="0">
                    <a:latin typeface="Times New Roman" panose="02020603050405020304" pitchFamily="18" charset="0"/>
                    <a:cs typeface="Times New Roman" panose="02020603050405020304" pitchFamily="18" charset="0"/>
                    <a:sym typeface="Symbol" panose="05050102010706020507" pitchFamily="18" charset="2"/>
                  </a:rPr>
                  <a:t>o </a:t>
                </a:r>
                <a:r>
                  <a:rPr lang="en-IN" sz="1400" dirty="0">
                    <a:latin typeface="Times New Roman" panose="02020603050405020304" pitchFamily="18" charset="0"/>
                    <a:cs typeface="Times New Roman" panose="02020603050405020304" pitchFamily="18" charset="0"/>
                    <a:sym typeface="Symbol" panose="05050102010706020507" pitchFamily="18" charset="2"/>
                  </a:rPr>
                  <a:t>= 25 ,  = 0.2 and P</a:t>
                </a:r>
                <a:r>
                  <a:rPr lang="en-IN" sz="1100" dirty="0">
                    <a:latin typeface="Times New Roman" panose="02020603050405020304" pitchFamily="18" charset="0"/>
                    <a:cs typeface="Times New Roman" panose="02020603050405020304" pitchFamily="18" charset="0"/>
                    <a:sym typeface="Symbol" panose="05050102010706020507" pitchFamily="18" charset="2"/>
                  </a:rPr>
                  <a:t>max</a:t>
                </a:r>
                <a:r>
                  <a:rPr lang="en-IN" sz="1400" dirty="0">
                    <a:latin typeface="Times New Roman" panose="02020603050405020304" pitchFamily="18" charset="0"/>
                    <a:cs typeface="Times New Roman" panose="02020603050405020304" pitchFamily="18" charset="0"/>
                    <a:sym typeface="Symbol" panose="05050102010706020507" pitchFamily="18" charset="2"/>
                  </a:rPr>
                  <a:t> = 3bar </a:t>
                </a:r>
              </a:p>
              <a:p>
                <a:pPr lvl="1" algn="just"/>
                <a:r>
                  <a:rPr lang="en-IN" sz="1400" b="1" u="sng" dirty="0">
                    <a:latin typeface="Times New Roman" panose="02020603050405020304" pitchFamily="18" charset="0"/>
                    <a:cs typeface="Times New Roman" panose="02020603050405020304" pitchFamily="18" charset="0"/>
                    <a:sym typeface="Symbol" panose="05050102010706020507" pitchFamily="18" charset="2"/>
                  </a:rPr>
                  <a:t>F = 1218.06 N</a:t>
                </a:r>
              </a:p>
              <a:p>
                <a:pPr lvl="1" algn="just"/>
                <a:r>
                  <a:rPr lang="en-IN" sz="1400" dirty="0">
                    <a:latin typeface="Times New Roman" panose="02020603050405020304" pitchFamily="18" charset="0"/>
                    <a:cs typeface="Times New Roman" panose="02020603050405020304" pitchFamily="18" charset="0"/>
                    <a:sym typeface="Symbol" panose="05050102010706020507" pitchFamily="18" charset="2"/>
                  </a:rPr>
                  <a:t>Loss of 30% </a:t>
                </a:r>
                <a:r>
                  <a:rPr lang="en-IN" sz="1400" b="1" dirty="0">
                    <a:latin typeface="Times New Roman" panose="02020603050405020304" pitchFamily="18" charset="0"/>
                    <a:cs typeface="Times New Roman" panose="02020603050405020304" pitchFamily="18" charset="0"/>
                    <a:sym typeface="Symbol" panose="05050102010706020507" pitchFamily="18" charset="2"/>
                  </a:rPr>
                  <a:t>F = 852.64 N</a:t>
                </a:r>
              </a:p>
              <a:p>
                <a:pPr lvl="1" algn="just"/>
                <a:endParaRPr lang="en-IN" sz="1400" b="1" u="sng"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00" dirty="0">
                    <a:latin typeface="Times New Roman" panose="02020603050405020304" pitchFamily="18" charset="0"/>
                    <a:cs typeface="Times New Roman" panose="02020603050405020304" pitchFamily="18" charset="0"/>
                    <a:sym typeface="Symbol" panose="05050102010706020507" pitchFamily="18" charset="2"/>
                  </a:rPr>
                  <a:t>o </a:t>
                </a:r>
                <a:r>
                  <a:rPr lang="en-IN" sz="1400" dirty="0">
                    <a:latin typeface="Times New Roman" panose="02020603050405020304" pitchFamily="18" charset="0"/>
                    <a:cs typeface="Times New Roman" panose="02020603050405020304" pitchFamily="18" charset="0"/>
                    <a:sym typeface="Symbol" panose="05050102010706020507" pitchFamily="18" charset="2"/>
                  </a:rPr>
                  <a:t>= 25 ,  = 0.25 and P</a:t>
                </a:r>
                <a:r>
                  <a:rPr lang="en-IN" sz="1100" dirty="0">
                    <a:latin typeface="Times New Roman" panose="02020603050405020304" pitchFamily="18" charset="0"/>
                    <a:cs typeface="Times New Roman" panose="02020603050405020304" pitchFamily="18" charset="0"/>
                    <a:sym typeface="Symbol" panose="05050102010706020507" pitchFamily="18" charset="2"/>
                  </a:rPr>
                  <a:t>max</a:t>
                </a:r>
                <a:r>
                  <a:rPr lang="en-IN" sz="1400" dirty="0">
                    <a:latin typeface="Times New Roman" panose="02020603050405020304" pitchFamily="18" charset="0"/>
                    <a:cs typeface="Times New Roman" panose="02020603050405020304" pitchFamily="18" charset="0"/>
                    <a:sym typeface="Symbol" panose="05050102010706020507" pitchFamily="18" charset="2"/>
                  </a:rPr>
                  <a:t> = 3bar </a:t>
                </a:r>
              </a:p>
              <a:p>
                <a:pPr lvl="1" algn="just"/>
                <a:r>
                  <a:rPr lang="en-IN" sz="1400" b="1" u="sng" dirty="0">
                    <a:latin typeface="Times New Roman" panose="02020603050405020304" pitchFamily="18" charset="0"/>
                    <a:cs typeface="Times New Roman" panose="02020603050405020304" pitchFamily="18" charset="0"/>
                    <a:sym typeface="Symbol" panose="05050102010706020507" pitchFamily="18" charset="2"/>
                  </a:rPr>
                  <a:t>F = 814.96 N</a:t>
                </a:r>
              </a:p>
              <a:p>
                <a:pPr lvl="1" algn="just"/>
                <a:r>
                  <a:rPr lang="en-IN" sz="1400" dirty="0">
                    <a:latin typeface="Times New Roman" panose="02020603050405020304" pitchFamily="18" charset="0"/>
                    <a:cs typeface="Times New Roman" panose="02020603050405020304" pitchFamily="18" charset="0"/>
                    <a:sym typeface="Symbol" panose="05050102010706020507" pitchFamily="18" charset="2"/>
                  </a:rPr>
                  <a:t>Loss of 30% </a:t>
                </a:r>
                <a:r>
                  <a:rPr lang="en-IN" sz="1400" b="1" dirty="0">
                    <a:latin typeface="Times New Roman" panose="02020603050405020304" pitchFamily="18" charset="0"/>
                    <a:cs typeface="Times New Roman" panose="02020603050405020304" pitchFamily="18" charset="0"/>
                    <a:sym typeface="Symbol" panose="05050102010706020507" pitchFamily="18" charset="2"/>
                  </a:rPr>
                  <a:t>F = 570.5 N</a:t>
                </a:r>
                <a:endParaRPr lang="en-IN" sz="1400" b="1" u="sng" dirty="0">
                  <a:latin typeface="Times New Roman" panose="02020603050405020304" pitchFamily="18" charset="0"/>
                  <a:cs typeface="Times New Roman" panose="02020603050405020304" pitchFamily="18" charset="0"/>
                  <a:sym typeface="Symbol" panose="05050102010706020507" pitchFamily="18" charset="2"/>
                </a:endParaRPr>
              </a:p>
              <a:p>
                <a:pPr lvl="1" algn="just"/>
                <a:endParaRPr lang="en-IN" sz="1400" b="1" u="sng" dirty="0">
                  <a:latin typeface="Times New Roman" panose="02020603050405020304" pitchFamily="18" charset="0"/>
                  <a:cs typeface="Times New Roman" panose="02020603050405020304" pitchFamily="18" charset="0"/>
                  <a:sym typeface="Symbol" panose="05050102010706020507" pitchFamily="18" charset="2"/>
                </a:endParaRPr>
              </a:p>
              <a:p>
                <a:pPr algn="just"/>
                <a:r>
                  <a:rPr lang="en-IN" sz="1400" dirty="0">
                    <a:latin typeface="Times New Roman" panose="02020603050405020304" pitchFamily="18" charset="0"/>
                    <a:cs typeface="Times New Roman" panose="02020603050405020304" pitchFamily="18" charset="0"/>
                    <a:sym typeface="Symbol" panose="05050102010706020507" pitchFamily="18" charset="2"/>
                  </a:rPr>
                  <a:t>Considering efficiency of 30% of maximum obtained value,</a:t>
                </a:r>
                <a:r>
                  <a:rPr lang="en-IN" sz="1400" b="1" u="sng" dirty="0">
                    <a:latin typeface="Times New Roman" panose="02020603050405020304" pitchFamily="18" charset="0"/>
                    <a:cs typeface="Times New Roman" panose="02020603050405020304" pitchFamily="18" charset="0"/>
                    <a:sym typeface="Symbol" panose="05050102010706020507" pitchFamily="18" charset="2"/>
                  </a:rPr>
                  <a:t> Force Value = 1568.78N</a:t>
                </a:r>
                <a:r>
                  <a:rPr lang="en-IN" sz="1400" dirty="0">
                    <a:latin typeface="Times New Roman" panose="02020603050405020304" pitchFamily="18" charset="0"/>
                    <a:cs typeface="Times New Roman" panose="02020603050405020304" pitchFamily="18" charset="0"/>
                    <a:sym typeface="Symbol" panose="05050102010706020507" pitchFamily="18" charset="2"/>
                  </a:rPr>
                  <a:t>, So by that we can go with the 3 bar pressure.</a:t>
                </a:r>
              </a:p>
            </p:txBody>
          </p:sp>
        </mc:Choice>
        <mc:Fallback xmlns="">
          <p:sp>
            <p:nvSpPr>
              <p:cNvPr id="8" name="TextBox 7">
                <a:extLst>
                  <a:ext uri="{FF2B5EF4-FFF2-40B4-BE49-F238E27FC236}">
                    <a16:creationId xmlns:a16="http://schemas.microsoft.com/office/drawing/2014/main" id="{792F872C-1EF2-95A7-F757-C14615A16949}"/>
                  </a:ext>
                </a:extLst>
              </p:cNvPr>
              <p:cNvSpPr txBox="1">
                <a:spLocks noRot="1" noChangeAspect="1" noMove="1" noResize="1" noEditPoints="1" noAdjustHandles="1" noChangeArrowheads="1" noChangeShapeType="1" noTextEdit="1"/>
              </p:cNvSpPr>
              <p:nvPr/>
            </p:nvSpPr>
            <p:spPr>
              <a:xfrm>
                <a:off x="6425617" y="1204897"/>
                <a:ext cx="4746232" cy="4979312"/>
              </a:xfrm>
              <a:prstGeom prst="rect">
                <a:avLst/>
              </a:prstGeom>
              <a:blipFill>
                <a:blip r:embed="rId3"/>
                <a:stretch>
                  <a:fillRect l="-385" t="-245" r="-257" b="-368"/>
                </a:stretch>
              </a:blipFill>
            </p:spPr>
            <p:txBody>
              <a:bodyPr/>
              <a:lstStyle/>
              <a:p>
                <a:r>
                  <a:rPr lang="en-US">
                    <a:noFill/>
                  </a:rPr>
                  <a:t> </a:t>
                </a:r>
              </a:p>
            </p:txBody>
          </p:sp>
        </mc:Fallback>
      </mc:AlternateContent>
    </p:spTree>
    <p:extLst>
      <p:ext uri="{BB962C8B-B14F-4D97-AF65-F5344CB8AC3E}">
        <p14:creationId xmlns:p14="http://schemas.microsoft.com/office/powerpoint/2010/main" val="1467257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D9840-3334-3B6C-DC1F-CFD61BF8D44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E6AEEBD-F451-725C-1E5B-9B1019186886}"/>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HSA:</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12752C3-F17C-5A25-9BC9-B6A6B329F866}"/>
              </a:ext>
            </a:extLst>
          </p:cNvPr>
          <p:cNvPicPr>
            <a:picLocks noChangeAspect="1"/>
          </p:cNvPicPr>
          <p:nvPr/>
        </p:nvPicPr>
        <p:blipFill>
          <a:blip r:embed="rId2"/>
          <a:stretch>
            <a:fillRect/>
          </a:stretch>
        </p:blipFill>
        <p:spPr>
          <a:xfrm>
            <a:off x="2151270" y="1349822"/>
            <a:ext cx="8872232" cy="4457676"/>
          </a:xfrm>
          <a:prstGeom prst="rect">
            <a:avLst/>
          </a:prstGeom>
        </p:spPr>
      </p:pic>
      <p:sp>
        <p:nvSpPr>
          <p:cNvPr id="13" name="TextBox 12">
            <a:extLst>
              <a:ext uri="{FF2B5EF4-FFF2-40B4-BE49-F238E27FC236}">
                <a16:creationId xmlns:a16="http://schemas.microsoft.com/office/drawing/2014/main" id="{F74884D1-25E5-00D8-84C4-8CA6A98AEAE9}"/>
              </a:ext>
            </a:extLst>
          </p:cNvPr>
          <p:cNvSpPr txBox="1"/>
          <p:nvPr/>
        </p:nvSpPr>
        <p:spPr>
          <a:xfrm>
            <a:off x="4683971" y="5807498"/>
            <a:ext cx="379756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SolidWorks: McKibben Muscle Sheath</a:t>
            </a:r>
          </a:p>
        </p:txBody>
      </p:sp>
    </p:spTree>
    <p:extLst>
      <p:ext uri="{BB962C8B-B14F-4D97-AF65-F5344CB8AC3E}">
        <p14:creationId xmlns:p14="http://schemas.microsoft.com/office/powerpoint/2010/main" val="1721476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8DC0E-4220-BD3A-5A6B-C459CB0ACF7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45DDD29-685C-BFC0-9E0D-00C69B62DC76}"/>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HSA:</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A7D2687-53D4-408A-BD0D-042F1A4DBBC8}"/>
              </a:ext>
            </a:extLst>
          </p:cNvPr>
          <p:cNvSpPr txBox="1"/>
          <p:nvPr/>
        </p:nvSpPr>
        <p:spPr>
          <a:xfrm>
            <a:off x="4581338" y="5807498"/>
            <a:ext cx="399350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SolidWorks: McKibben Muscle Sheath</a:t>
            </a:r>
          </a:p>
        </p:txBody>
      </p:sp>
      <p:pic>
        <p:nvPicPr>
          <p:cNvPr id="3" name="Picture 2">
            <a:extLst>
              <a:ext uri="{FF2B5EF4-FFF2-40B4-BE49-F238E27FC236}">
                <a16:creationId xmlns:a16="http://schemas.microsoft.com/office/drawing/2014/main" id="{1BD623F4-931D-A2A0-E142-EBC47B24387E}"/>
              </a:ext>
            </a:extLst>
          </p:cNvPr>
          <p:cNvPicPr>
            <a:picLocks noChangeAspect="1"/>
          </p:cNvPicPr>
          <p:nvPr/>
        </p:nvPicPr>
        <p:blipFill>
          <a:blip r:embed="rId2"/>
          <a:stretch>
            <a:fillRect/>
          </a:stretch>
        </p:blipFill>
        <p:spPr>
          <a:xfrm>
            <a:off x="2130438" y="1309910"/>
            <a:ext cx="8913896" cy="4497588"/>
          </a:xfrm>
          <a:prstGeom prst="rect">
            <a:avLst/>
          </a:prstGeom>
        </p:spPr>
      </p:pic>
    </p:spTree>
    <p:extLst>
      <p:ext uri="{BB962C8B-B14F-4D97-AF65-F5344CB8AC3E}">
        <p14:creationId xmlns:p14="http://schemas.microsoft.com/office/powerpoint/2010/main" val="598415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A781D-7A70-6D3E-C9E3-ECA0D7A451B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16F29FA-99C8-2094-4689-ECE1B8F590F3}"/>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HSA:</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AC011DE-92AA-ACCC-3AEB-0B957ADB4714}"/>
              </a:ext>
            </a:extLst>
          </p:cNvPr>
          <p:cNvSpPr txBox="1"/>
          <p:nvPr/>
        </p:nvSpPr>
        <p:spPr>
          <a:xfrm>
            <a:off x="4851918" y="5807498"/>
            <a:ext cx="384421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SolidWorks: McKibben Muscle Sheath</a:t>
            </a:r>
          </a:p>
        </p:txBody>
      </p:sp>
      <p:pic>
        <p:nvPicPr>
          <p:cNvPr id="4" name="Picture 3">
            <a:extLst>
              <a:ext uri="{FF2B5EF4-FFF2-40B4-BE49-F238E27FC236}">
                <a16:creationId xmlns:a16="http://schemas.microsoft.com/office/drawing/2014/main" id="{B48825CB-B6D2-0B2D-4E4E-324FCDEF6F37}"/>
              </a:ext>
            </a:extLst>
          </p:cNvPr>
          <p:cNvPicPr>
            <a:picLocks noChangeAspect="1"/>
          </p:cNvPicPr>
          <p:nvPr/>
        </p:nvPicPr>
        <p:blipFill>
          <a:blip r:embed="rId2"/>
          <a:stretch>
            <a:fillRect/>
          </a:stretch>
        </p:blipFill>
        <p:spPr>
          <a:xfrm>
            <a:off x="2155371" y="1284507"/>
            <a:ext cx="9227976" cy="4512792"/>
          </a:xfrm>
          <a:prstGeom prst="rect">
            <a:avLst/>
          </a:prstGeom>
        </p:spPr>
      </p:pic>
    </p:spTree>
    <p:extLst>
      <p:ext uri="{BB962C8B-B14F-4D97-AF65-F5344CB8AC3E}">
        <p14:creationId xmlns:p14="http://schemas.microsoft.com/office/powerpoint/2010/main" val="2694485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C13A-4896-7353-675E-B4E9BB8D625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D4FB184-81D2-8061-ECDD-5D70B6AC564D}"/>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HSA:</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C30EAA7-706C-4666-7C79-74F5FB4A527A}"/>
              </a:ext>
            </a:extLst>
          </p:cNvPr>
          <p:cNvSpPr txBox="1"/>
          <p:nvPr/>
        </p:nvSpPr>
        <p:spPr>
          <a:xfrm>
            <a:off x="6989306" y="1284507"/>
            <a:ext cx="4963218"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Kind of assembly we have to make:</a:t>
            </a:r>
          </a:p>
          <a:p>
            <a:pPr lvl="1"/>
            <a:r>
              <a:rPr lang="en-US" dirty="0">
                <a:latin typeface="Times New Roman" panose="02020603050405020304" pitchFamily="18" charset="0"/>
                <a:cs typeface="Times New Roman" panose="02020603050405020304" pitchFamily="18" charset="0"/>
              </a:rPr>
              <a:t>Like mostly of Biceps and triceps, using hydraulic (Water/Oil) as a working fluid for actuate the muscle.</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Hence forth the mechanism and hydraulic power pack we have to design requiring for this actuator.</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And enabling it’s SDOF lifting.</a:t>
            </a:r>
          </a:p>
        </p:txBody>
      </p:sp>
      <p:pic>
        <p:nvPicPr>
          <p:cNvPr id="3" name="Picture 2">
            <a:extLst>
              <a:ext uri="{FF2B5EF4-FFF2-40B4-BE49-F238E27FC236}">
                <a16:creationId xmlns:a16="http://schemas.microsoft.com/office/drawing/2014/main" id="{A3A9A107-C815-5EEE-08DC-8A0284912B7A}"/>
              </a:ext>
            </a:extLst>
          </p:cNvPr>
          <p:cNvPicPr>
            <a:picLocks noChangeAspect="1"/>
          </p:cNvPicPr>
          <p:nvPr/>
        </p:nvPicPr>
        <p:blipFill>
          <a:blip r:embed="rId2"/>
          <a:stretch>
            <a:fillRect/>
          </a:stretch>
        </p:blipFill>
        <p:spPr>
          <a:xfrm>
            <a:off x="1806141" y="1284507"/>
            <a:ext cx="4963218" cy="3562847"/>
          </a:xfrm>
          <a:prstGeom prst="rect">
            <a:avLst/>
          </a:prstGeom>
        </p:spPr>
      </p:pic>
      <p:sp>
        <p:nvSpPr>
          <p:cNvPr id="4" name="TextBox 3">
            <a:extLst>
              <a:ext uri="{FF2B5EF4-FFF2-40B4-BE49-F238E27FC236}">
                <a16:creationId xmlns:a16="http://schemas.microsoft.com/office/drawing/2014/main" id="{96370F56-132A-805E-F5BE-A4E7DE2956FA}"/>
              </a:ext>
            </a:extLst>
          </p:cNvPr>
          <p:cNvSpPr txBox="1"/>
          <p:nvPr/>
        </p:nvSpPr>
        <p:spPr>
          <a:xfrm>
            <a:off x="2115712" y="4808671"/>
            <a:ext cx="4415714" cy="461665"/>
          </a:xfrm>
          <a:prstGeom prst="rect">
            <a:avLst/>
          </a:prstGeom>
          <a:noFill/>
        </p:spPr>
        <p:txBody>
          <a:bodyPr wrap="square">
            <a:spAutoFit/>
          </a:bodyPr>
          <a:lstStyle/>
          <a:p>
            <a:pPr algn="ctr"/>
            <a:r>
              <a:rPr lang="en-US" sz="1200" dirty="0">
                <a:latin typeface="Times New Roman" panose="02020603050405020304" pitchFamily="18" charset="0"/>
                <a:cs typeface="Times New Roman" panose="02020603050405020304" pitchFamily="18" charset="0"/>
              </a:rPr>
              <a:t>Reference Image: Research on Key Technologies of Pneumatic Flexible Joints for Robot</a:t>
            </a:r>
          </a:p>
        </p:txBody>
      </p:sp>
    </p:spTree>
    <p:extLst>
      <p:ext uri="{BB962C8B-B14F-4D97-AF65-F5344CB8AC3E}">
        <p14:creationId xmlns:p14="http://schemas.microsoft.com/office/powerpoint/2010/main" val="124818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DEEA-1C9C-E047-7B42-BEF089823EB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Further Updates are to be done: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03B988-4A13-C509-0063-63CEE1D585FC}"/>
              </a:ext>
            </a:extLst>
          </p:cNvPr>
          <p:cNvSpPr>
            <a:spLocks noGrp="1"/>
          </p:cNvSpPr>
          <p:nvPr>
            <p:ph idx="1"/>
          </p:nvPr>
        </p:nvSpPr>
        <p:spPr>
          <a:xfrm>
            <a:off x="1848433" y="2689190"/>
            <a:ext cx="8915400" cy="1280890"/>
          </a:xfrm>
        </p:spPr>
        <p:txBody>
          <a:bodyPr>
            <a:normAutofit/>
          </a:bodyPr>
          <a:lstStyle/>
          <a:p>
            <a:pPr marL="0" indent="0" algn="ctr">
              <a:buNone/>
            </a:pPr>
            <a:r>
              <a:rPr lang="en-US" sz="7200" dirty="0">
                <a:latin typeface="Times New Roman" panose="02020603050405020304" pitchFamily="18" charset="0"/>
                <a:cs typeface="Times New Roman" panose="02020603050405020304" pitchFamily="18" charset="0"/>
              </a:rPr>
              <a:t>Thank You </a:t>
            </a:r>
            <a:endParaRPr lang="en-IN"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1765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1199</TotalTime>
  <Words>3300</Words>
  <Application>Microsoft Office PowerPoint</Application>
  <PresentationFormat>Widescreen</PresentationFormat>
  <Paragraphs>323</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Wisp</vt:lpstr>
      <vt:lpstr>Design And Development Of Hydraulic Soft Actuator For SDOF</vt:lpstr>
      <vt:lpstr>Assigned work in internship Period:</vt:lpstr>
      <vt:lpstr>The Work That I did Recently:</vt:lpstr>
      <vt:lpstr>Problem Statement:</vt:lpstr>
      <vt:lpstr>Introduction:</vt:lpstr>
      <vt:lpstr>Literature Survey:</vt:lpstr>
      <vt:lpstr>Literature Survey:</vt:lpstr>
      <vt:lpstr>Literature Survey:</vt:lpstr>
      <vt:lpstr>Literature Survey:</vt:lpstr>
      <vt:lpstr>Literature Survey:</vt:lpstr>
      <vt:lpstr>Derivation For Pressure and Force Relation:</vt:lpstr>
      <vt:lpstr>Derivation For Pressure and Force Relation:</vt:lpstr>
      <vt:lpstr>Derivation For Pressure and Force Relation:</vt:lpstr>
      <vt:lpstr>Derivation For Pressure and Force Relation:</vt:lpstr>
      <vt:lpstr>PowerPoint Presentation</vt:lpstr>
      <vt:lpstr>Calculation and Dimensions for HSA:</vt:lpstr>
      <vt:lpstr>Calculation and Dimensions for HSA:</vt:lpstr>
      <vt:lpstr>CAD Model of HSA:</vt:lpstr>
      <vt:lpstr>CAD Model of HSA:</vt:lpstr>
      <vt:lpstr>CAD Model of HSA:</vt:lpstr>
      <vt:lpstr>CAD Model of HSA:</vt:lpstr>
      <vt:lpstr>Further Updates are to be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HYDRAULIC SOFT ACTUATOR</dc:title>
  <dc:creator>SHIVDAS PRASAD SHANKAR</dc:creator>
  <cp:lastModifiedBy>Suraj Varma</cp:lastModifiedBy>
  <cp:revision>54</cp:revision>
  <dcterms:created xsi:type="dcterms:W3CDTF">2026-08-07T06:11:39Z</dcterms:created>
  <dcterms:modified xsi:type="dcterms:W3CDTF">2026-08-26T18:28:11Z</dcterms:modified>
</cp:coreProperties>
</file>